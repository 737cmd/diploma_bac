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45" dirty="0">
                <a:latin typeface="Arial" panose="020B0604020202020204" pitchFamily="34" charset="0"/>
                <a:cs typeface="Arial" panose="020B0604020202020204" pitchFamily="34" charset="0"/>
              </a:rPr>
              <a:t>Оптимизация аэродинамической формы летательного аппарата на основе решения уравнений Рейнольдса</a:t>
            </a:r>
            <a:endParaRPr lang="en-US" altLang="en-US" sz="444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Черных В. В. </a:t>
            </a:r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Научный руководитель: Судаков В. Г. </a:t>
            </a:r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ru-RU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Введение</a:t>
            </a:r>
            <a:endParaRPr lang="ru-RU" altLang="ru-RU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712460" cy="4351655"/>
          </a:xfrm>
        </p:spPr>
        <p:txBody>
          <a:bodyPr/>
          <a:p>
            <a:pPr marL="0" indent="0">
              <a:buNone/>
            </a:pPr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Актуальные проблемы оптимизации в инженерных задачах: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Высокоуровневая и многокритериальная оптимизация 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Работа с ограничениями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Эффективная параметризация 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Вечные проблемы: 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Дороговизна вычислений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Мультимодальность и шум целевой функции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ru-RU" altLang="en-US" sz="1800">
                <a:solidFill>
                  <a:schemeClr val="tx1"/>
                </a:solidFill>
                <a:uFillTx/>
                <a:latin typeface="Arial" panose="020B0604020202020204" pitchFamily="34" charset="0"/>
              </a:rPr>
              <a:t>Задача: создание платформы для оптимизации и изучения обозначенных проблем. </a:t>
            </a: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ru-RU" altLang="en-US" sz="1800">
              <a:solidFill>
                <a:schemeClr val="tx1"/>
              </a:solidFill>
              <a:uFillTx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>
                <a:uFillTx/>
                <a:latin typeface="Arial" panose="020B0604020202020204" pitchFamily="34" charset="0"/>
              </a:rPr>
              <a:t>Методология</a:t>
            </a:r>
            <a:endParaRPr lang="ru-RU">
              <a:uFillTx/>
              <a:latin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40630" cy="4351655"/>
          </a:xfrm>
        </p:spPr>
        <p:txBody>
          <a:bodyPr/>
          <a:p>
            <a:pPr marL="342900" indent="-342900">
              <a:buAutoNum type="arabicPeriod"/>
            </a:pP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Изучение существующих результатов 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Построение программы-платформы на языке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AutoNum type="arabicPeriod"/>
            </a:pP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Параметризация и создание геометрии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AutoNum type="arabicPeriod"/>
            </a:pP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Генерация структурированной сетки 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AutoNum type="arabicPeriod"/>
            </a:pP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Расчет с использованием </a:t>
            </a:r>
            <a:r>
              <a:rPr lang="en-US" altLang="en-US" sz="1540">
                <a:latin typeface="Arial" panose="020B0604020202020204" pitchFamily="34" charset="0"/>
                <a:cs typeface="Arial" panose="020B0604020202020204" pitchFamily="34" charset="0"/>
              </a:rPr>
              <a:t>RANS-SA </a:t>
            </a: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решателя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AutoNum type="arabicPeriod"/>
            </a:pP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Блок оптимизации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Получение результатов оптимизации с использованием различных методов и их анализ 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868160" y="522605"/>
            <a:ext cx="4697095" cy="555371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</a:rPr>
              <a:t>Параметризация геометрии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537075" cy="4351655"/>
          </a:xfrm>
        </p:spPr>
        <p:txBody>
          <a:bodyPr>
            <a:normAutofit lnSpcReduction="10000"/>
          </a:bodyPr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Верхняя и нижняя поверхность задаются кривыми Безье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Точки равномерно распределены по оси абсцисс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Жестко задается угол заклинения задней кромки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Всего </a:t>
            </a:r>
            <a:r>
              <a:rPr lang="en-US" altLang="ru-RU" sz="1800">
                <a:latin typeface="Arial" panose="020B0604020202020204" pitchFamily="34" charset="0"/>
                <a:cs typeface="Arial" panose="020B0604020202020204" pitchFamily="34" charset="0"/>
              </a:rPr>
              <a:t>2N-6 </a:t>
            </a:r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параметров, </a:t>
            </a:r>
            <a:r>
              <a:rPr lang="en-US" altLang="ru-RU" sz="1800">
                <a:latin typeface="Arial" panose="020B0604020202020204" pitchFamily="34" charset="0"/>
                <a:cs typeface="Arial" panose="020B0604020202020204" pitchFamily="34" charset="0"/>
              </a:rPr>
              <a:t>N - </a:t>
            </a:r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число точек каждой кривой. 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Геометрия тем вариативнее, чем больше точек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Проблемы: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Корректное соблюдение толщины 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Эффективная борьба с абсурдными геометриями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9950" y="1282700"/>
            <a:ext cx="4414520" cy="26746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950" y="3971290"/>
            <a:ext cx="441452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</a:rPr>
              <a:t>Создание сетки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384675" cy="4351655"/>
          </a:xfrm>
        </p:spPr>
        <p:txBody>
          <a:bodyPr/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Автоматическое перестроение на каждой итерации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Алгоритм на языке </a:t>
            </a:r>
            <a:r>
              <a:rPr lang="en-US" altLang="ru-RU" sz="1800">
                <a:latin typeface="Arial" panose="020B0604020202020204" pitchFamily="34" charset="0"/>
                <a:cs typeface="Arial" panose="020B0604020202020204" pitchFamily="34" charset="0"/>
              </a:rPr>
              <a:t>tlcm</a:t>
            </a:r>
            <a:endParaRPr lang="en-US" altLang="ru-RU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Используется</a:t>
            </a:r>
            <a:r>
              <a:rPr lang="en-US" altLang="ru-RU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структурированная </a:t>
            </a:r>
            <a:r>
              <a:rPr lang="en-US" altLang="ru-RU" sz="1800">
                <a:latin typeface="Arial" panose="020B0604020202020204" pitchFamily="34" charset="0"/>
                <a:cs typeface="Arial" panose="020B0604020202020204" pitchFamily="34" charset="0"/>
              </a:rPr>
              <a:t>C-</a:t>
            </a: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сетка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Параметризуются: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AutoNum type="arabicPeriod"/>
            </a:pP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Густота сетки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AutoNum type="arabicPeriod"/>
            </a:pP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Размер пристеночной ячейки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AutoNum type="arabicPeriod"/>
            </a:pPr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Размер расчетной области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9550" y="365125"/>
            <a:ext cx="4960620" cy="32708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550" y="3679825"/>
            <a:ext cx="494919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</a:rPr>
              <a:t>Верификация</a:t>
            </a:r>
            <a:r>
              <a:rPr lang="ru-RU" altLang="en-US"/>
              <a:t> </a:t>
            </a:r>
            <a:endParaRPr lang="ru-RU" altLang="en-US"/>
          </a:p>
        </p:txBody>
      </p:sp>
      <p:pic>
        <p:nvPicPr>
          <p:cNvPr id="5" name="Picture 4" descr="Picture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785" y="1845945"/>
            <a:ext cx="5440194" cy="3657600"/>
          </a:xfrm>
          <a:prstGeom prst="rect">
            <a:avLst/>
          </a:prstGeom>
        </p:spPr>
      </p:pic>
      <p:pic>
        <p:nvPicPr>
          <p:cNvPr id="7" name="Picture 6" descr="Pictur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360" y="1840230"/>
            <a:ext cx="543924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Расчетный метод и валидация</a:t>
            </a:r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687445" cy="4351655"/>
          </a:xfrm>
        </p:spPr>
        <p:txBody>
          <a:bodyPr/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Используется промышленный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RANS </a:t>
            </a: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солвер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Модель - идеальный газ + формула Сазерленда +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Pr = 0.72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Модель турбулентности -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Spalart-Allmaras 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Валидация на случаях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AGARD-138</a:t>
            </a: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Целевой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достигается варьированием угла атаки в ходе расчета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0" y="1825625"/>
            <a:ext cx="6111875" cy="9544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585" y="3017520"/>
            <a:ext cx="5488940" cy="3274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>
                <a:latin typeface="Arial" panose="020B0604020202020204" pitchFamily="34" charset="0"/>
                <a:cs typeface="Arial" panose="020B0604020202020204" pitchFamily="34" charset="0"/>
              </a:rPr>
              <a:t>Блок оптимизации</a:t>
            </a:r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655"/>
          </a:xfrm>
        </p:spPr>
        <p:txBody>
          <a:bodyPr/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Связывает воедино все блоки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Использует метод </a:t>
            </a:r>
            <a:r>
              <a:rPr lang="en-US" altLang="ru-RU" sz="1800">
                <a:latin typeface="Arial" panose="020B0604020202020204" pitchFamily="34" charset="0"/>
                <a:cs typeface="Arial" panose="020B0604020202020204" pitchFamily="34" charset="0"/>
              </a:rPr>
              <a:t>CG </a:t>
            </a:r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из </a:t>
            </a:r>
            <a:r>
              <a:rPr lang="en-US" altLang="ru-RU" sz="1800">
                <a:latin typeface="Arial" panose="020B0604020202020204" pitchFamily="34" charset="0"/>
                <a:cs typeface="Arial" panose="020B0604020202020204" pitchFamily="34" charset="0"/>
              </a:rPr>
              <a:t>SciPy</a:t>
            </a:r>
            <a:endParaRPr lang="en-US" altLang="ru-RU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Входные параметры: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Число Маха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Целевой </a:t>
            </a:r>
            <a:r>
              <a:rPr lang="en-US" altLang="en-US" sz="154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sz="1540" baseline="-25000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endParaRPr lang="en-US" altLang="en-US" sz="1540" baseline="-25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Температура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Число Рейнольдса </a:t>
            </a:r>
            <a:endParaRPr lang="en-US" altLang="ru-RU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Первые результаты показывают работоспособность метода</a:t>
            </a:r>
            <a:endParaRPr lang="ru-RU" altLang="ru-RU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ru-RU" sz="1800">
                <a:latin typeface="Arial" panose="020B0604020202020204" pitchFamily="34" charset="0"/>
                <a:cs typeface="Arial" panose="020B0604020202020204" pitchFamily="34" charset="0"/>
              </a:rPr>
              <a:t>Является основной целью дальнейших исследований</a:t>
            </a:r>
            <a:endParaRPr lang="ru-RU" altLang="ru-RU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-1430" r="25891"/>
          <a:stretch>
            <a:fillRect/>
          </a:stretch>
        </p:blipFill>
        <p:spPr>
          <a:xfrm>
            <a:off x="6710680" y="702310"/>
            <a:ext cx="4606925" cy="295021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315" y="3873500"/>
            <a:ext cx="4642485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Arial" panose="020B0604020202020204" pitchFamily="34" charset="0"/>
                <a:cs typeface="Arial" panose="020B0604020202020204" pitchFamily="34" charset="0"/>
              </a:rPr>
              <a:t>Дальнейшие цели</a:t>
            </a:r>
            <a:endParaRPr lang="ru-RU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Повышение качества 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CFD</a:t>
            </a:r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 расчета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Создание алгоритма построения сетки около профиля с конечной толщиной задней кромки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altLang="en-US" sz="1800">
                <a:latin typeface="Arial" panose="020B0604020202020204" pitchFamily="34" charset="0"/>
                <a:cs typeface="Arial" panose="020B0604020202020204" pitchFamily="34" charset="0"/>
              </a:rPr>
              <a:t>Изучение влияния на результат оптимизации:</a:t>
            </a:r>
            <a:endParaRPr lang="ru-RU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Целевой функции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altLang="en-US" sz="1540">
                <a:latin typeface="Arial" panose="020B0604020202020204" pitchFamily="34" charset="0"/>
                <a:cs typeface="Arial" panose="020B0604020202020204" pitchFamily="34" charset="0"/>
              </a:rPr>
              <a:t>Количества параметров</a:t>
            </a:r>
            <a:endParaRPr lang="ru-RU" altLang="en-US" sz="154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ru-RU" altLang="en-US" sz="1535">
                <a:latin typeface="Arial" panose="020B0604020202020204" pitchFamily="34" charset="0"/>
                <a:cs typeface="Arial" panose="020B0604020202020204" pitchFamily="34" charset="0"/>
              </a:rPr>
              <a:t>Различных локальных методов</a:t>
            </a:r>
            <a:endParaRPr lang="ru-RU" altLang="en-US" sz="1535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ru-RU" altLang="en-US" sz="1790">
                <a:latin typeface="Arial" panose="020B0604020202020204" pitchFamily="34" charset="0"/>
                <a:cs typeface="Arial" panose="020B0604020202020204" pitchFamily="34" charset="0"/>
              </a:rPr>
              <a:t>Создание и проверка нового способа параметризации, исключающего возможность самопересечений и создания «абсурдных геометрий»</a:t>
            </a:r>
            <a:endParaRPr lang="ru-RU" altLang="en-US" sz="179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ru-RU" altLang="en-US" sz="1790">
                <a:latin typeface="Arial" panose="020B0604020202020204" pitchFamily="34" charset="0"/>
                <a:cs typeface="Arial" panose="020B0604020202020204" pitchFamily="34" charset="0"/>
              </a:rPr>
              <a:t>Переход к глобальной оптимизации </a:t>
            </a:r>
            <a:r>
              <a:rPr lang="en-US" altLang="en-US" sz="1790">
                <a:latin typeface="Arial" panose="020B0604020202020204" pitchFamily="34" charset="0"/>
                <a:cs typeface="Arial" panose="020B0604020202020204" pitchFamily="34" charset="0"/>
              </a:rPr>
              <a:t>(EGO) </a:t>
            </a:r>
            <a:r>
              <a:rPr lang="ru-RU" altLang="en-US" sz="1790">
                <a:latin typeface="Arial" panose="020B0604020202020204" pitchFamily="34" charset="0"/>
                <a:cs typeface="Arial" panose="020B0604020202020204" pitchFamily="34" charset="0"/>
              </a:rPr>
              <a:t>и сравнение с предыдущим результатом</a:t>
            </a:r>
            <a:endParaRPr lang="ru-RU" altLang="en-US" sz="179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2232</Words>
  <Application>WPS Presentation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Franklin Gothic Book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Vladimir Chernykh</cp:lastModifiedBy>
  <cp:revision>6</cp:revision>
  <dcterms:created xsi:type="dcterms:W3CDTF">2025-07-23T00:59:00Z</dcterms:created>
  <dcterms:modified xsi:type="dcterms:W3CDTF">2025-12-22T02:40:23Z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36AC1B2C21864356B74B48520B80E33D_11</vt:lpwstr>
  </property>
  <property fmtid="{D5CDD505-2E9C-101B-9397-08002B2CF9AE}" pid="3" name="KSOProductBuildVer">
    <vt:lpwstr>1033-12.2.0.23196</vt:lpwstr>
  </property>
</Properties>
</file>