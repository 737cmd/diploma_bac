
<file path=[Content_Types].xml><?xml version="1.0" encoding="utf-8"?>
<Types xmlns="http://schemas.openxmlformats.org/package/2006/content-types">
  <Default Extension="jpeg" ContentType="image/jpeg"/>
  <Default Extension="JPG" ContentType="image/.jp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4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>
  <p:sldMasterIdLst>
    <p:sldMasterId id="2147483648" r:id="rId1"/>
  </p:sldMasterIdLst>
  <p:notesMasterIdLst>
    <p:notesMasterId r:id="rId13"/>
  </p:notesMasterIdLst>
  <p:sldIdLst>
    <p:sldId id="256" r:id="rId3"/>
    <p:sldId id="259" r:id="rId4"/>
    <p:sldId id="258" r:id="rId5"/>
    <p:sldId id="270" r:id="rId6"/>
    <p:sldId id="268" r:id="rId7"/>
    <p:sldId id="271" r:id="rId8"/>
    <p:sldId id="262" r:id="rId9"/>
    <p:sldId id="272" r:id="rId10"/>
    <p:sldId id="263" r:id="rId11"/>
    <p:sldId id="273" r:id="rId12"/>
    <p:sldId id="274" r:id="rId14"/>
    <p:sldId id="275" r:id="rId15"/>
    <p:sldId id="276" r:id="rId16"/>
    <p:sldId id="264" r:id="rId17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50" d="100"/>
          <a:sy n="150" d="100"/>
        </p:scale>
        <p:origin x="654" y="13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7.xml"/><Relationship Id="rId8" Type="http://schemas.openxmlformats.org/officeDocument/2006/relationships/slide" Target="slides/slide6.xml"/><Relationship Id="rId7" Type="http://schemas.openxmlformats.org/officeDocument/2006/relationships/slide" Target="slides/slide5.xml"/><Relationship Id="rId6" Type="http://schemas.openxmlformats.org/officeDocument/2006/relationships/slide" Target="slides/slide4.xml"/><Relationship Id="rId5" Type="http://schemas.openxmlformats.org/officeDocument/2006/relationships/slide" Target="slides/slide3.xml"/><Relationship Id="rId4" Type="http://schemas.openxmlformats.org/officeDocument/2006/relationships/slide" Target="slides/slide2.xml"/><Relationship Id="rId3" Type="http://schemas.openxmlformats.org/officeDocument/2006/relationships/slide" Target="slides/slide1.xml"/><Relationship Id="rId20" Type="http://schemas.openxmlformats.org/officeDocument/2006/relationships/tableStyles" Target="tableStyles.xml"/><Relationship Id="rId2" Type="http://schemas.openxmlformats.org/officeDocument/2006/relationships/theme" Target="theme/theme1.xml"/><Relationship Id="rId19" Type="http://schemas.openxmlformats.org/officeDocument/2006/relationships/viewProps" Target="viewProps.xml"/><Relationship Id="rId18" Type="http://schemas.openxmlformats.org/officeDocument/2006/relationships/presProps" Target="presProps.xml"/><Relationship Id="rId17" Type="http://schemas.openxmlformats.org/officeDocument/2006/relationships/slide" Target="slides/slide14.xml"/><Relationship Id="rId16" Type="http://schemas.openxmlformats.org/officeDocument/2006/relationships/slide" Target="slides/slide13.xml"/><Relationship Id="rId15" Type="http://schemas.openxmlformats.org/officeDocument/2006/relationships/slide" Target="slides/slide12.xml"/><Relationship Id="rId14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2" Type="http://schemas.openxmlformats.org/officeDocument/2006/relationships/slide" Target="slides/slide10.xml"/><Relationship Id="rId11" Type="http://schemas.openxmlformats.org/officeDocument/2006/relationships/slide" Target="slides/slide9.xml"/><Relationship Id="rId10" Type="http://schemas.openxmlformats.org/officeDocument/2006/relationships/slide" Target="slides/slide8.xml"/><Relationship Id="rId1" Type="http://schemas.openxmlformats.org/officeDocument/2006/relationships/slideMaster" Target="slideMasters/slide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1FA7797-00FD-4366-A7DD-DDB70299F94B}" type="datetimeFigureOut">
              <a:rPr lang="en-US" smtClean="0"/>
            </a:fld>
            <a:endParaRPr lang="en-US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ru-RU"/>
              <a:t>Образец текста</a:t>
            </a:r>
            <a:endParaRPr lang="ru-RU"/>
          </a:p>
          <a:p>
            <a:pPr lvl="1"/>
            <a:r>
              <a:rPr lang="ru-RU"/>
              <a:t>Второй уровень</a:t>
            </a:r>
            <a:endParaRPr lang="ru-RU"/>
          </a:p>
          <a:p>
            <a:pPr lvl="2"/>
            <a:r>
              <a:rPr lang="ru-RU"/>
              <a:t>Третий уровень</a:t>
            </a:r>
            <a:endParaRPr lang="ru-RU"/>
          </a:p>
          <a:p>
            <a:pPr lvl="3"/>
            <a:r>
              <a:rPr lang="ru-RU"/>
              <a:t>Четвертый уровень</a:t>
            </a:r>
            <a:endParaRPr lang="ru-RU"/>
          </a:p>
          <a:p>
            <a:pPr lvl="4"/>
            <a:r>
              <a:rPr lang="ru-RU"/>
              <a:t>Пятый уровень</a:t>
            </a:r>
            <a:endParaRPr lang="en-US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BE35E0A-4247-4819-B9AA-855A9160BAD1}" type="slidenum">
              <a:rPr lang="en-US" smtClean="0"/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Text Placeholder 2"/>
          <p:cNvSpPr>
            <a:spLocks noGrp="1"/>
          </p:cNvSpPr>
          <p:nvPr>
            <p:ph type="body" idx="3"/>
          </p:nvPr>
        </p:nvSpPr>
        <p:spPr/>
        <p:txBody>
          <a:bodyPr/>
          <a:p>
            <a:endParaRPr 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>
            <a:normAutofit/>
          </a:bodyPr>
          <a:lstStyle>
            <a:lvl1pPr algn="ctr">
              <a:defRPr sz="4000">
                <a:latin typeface="Segoe UI" panose="020B0502040204020203" pitchFamily="34" charset="0"/>
                <a:cs typeface="Segoe UI" panose="020B0502040204020203" pitchFamily="34" charset="0"/>
              </a:defRPr>
            </a:lvl1pPr>
          </a:lstStyle>
          <a:p>
            <a:r>
              <a:rPr lang="ru-RU" dirty="0"/>
              <a:t>Образец заголовка</a:t>
            </a:r>
            <a:endParaRPr lang="en-US" dirty="0"/>
          </a:p>
        </p:txBody>
      </p:sp>
      <p:sp>
        <p:nvSpPr>
          <p:cNvPr id="3" name="Подзаголовок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latin typeface="Segoe UI" panose="020B0502040204020203" pitchFamily="34" charset="0"/>
                <a:cs typeface="Segoe UI" panose="020B0502040204020203" pitchFamily="34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 dirty="0"/>
              <a:t>Образец подзаголовка</a:t>
            </a:r>
            <a:endParaRPr lang="en-US" dirty="0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52D2F9-902E-45BE-B09B-749FE4E7C635}" type="datetime1">
              <a:rPr lang="en-US" smtClean="0"/>
            </a:fld>
            <a:endParaRPr lang="en-US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9D93D24-9446-4BD4-975C-09DCDF7E2057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Образец заголовка</a:t>
            </a:r>
            <a:endParaRPr lang="en-US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/>
              <a:t>Образец текста</a:t>
            </a:r>
            <a:endParaRPr lang="ru-RU"/>
          </a:p>
          <a:p>
            <a:pPr lvl="1"/>
            <a:r>
              <a:rPr lang="ru-RU"/>
              <a:t>Второй уровень</a:t>
            </a:r>
            <a:endParaRPr lang="ru-RU"/>
          </a:p>
          <a:p>
            <a:pPr lvl="2"/>
            <a:r>
              <a:rPr lang="ru-RU"/>
              <a:t>Третий уровень</a:t>
            </a:r>
            <a:endParaRPr lang="ru-RU"/>
          </a:p>
          <a:p>
            <a:pPr lvl="3"/>
            <a:r>
              <a:rPr lang="ru-RU"/>
              <a:t>Четвертый уровень</a:t>
            </a:r>
            <a:endParaRPr lang="ru-RU"/>
          </a:p>
          <a:p>
            <a:pPr lvl="4"/>
            <a:r>
              <a:rPr lang="ru-RU"/>
              <a:t>Пятый уровень</a:t>
            </a:r>
            <a:endParaRPr lang="en-US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9BB4562-EE48-46C3-92EF-5FADBBFDBB53}" type="datetime1">
              <a:rPr lang="en-US" smtClean="0"/>
            </a:fld>
            <a:endParaRPr lang="en-US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9D93D24-9446-4BD4-975C-09DCDF7E2057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>
            <a:normAutofit/>
          </a:bodyPr>
          <a:lstStyle>
            <a:lvl1pPr>
              <a:defRPr sz="4000"/>
            </a:lvl1pPr>
          </a:lstStyle>
          <a:p>
            <a:r>
              <a:rPr lang="ru-RU" dirty="0"/>
              <a:t>Образец заголовка</a:t>
            </a:r>
            <a:endParaRPr lang="en-US" dirty="0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>
            <a:normAutofit/>
          </a:bodyPr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 dirty="0"/>
              <a:t>Образец текста</a:t>
            </a:r>
            <a:endParaRPr lang="ru-RU" dirty="0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610E3C8-8A0E-4E15-B33E-2B4AD00BB11C}" type="datetime1">
              <a:rPr lang="en-US" smtClean="0"/>
            </a:fld>
            <a:endParaRPr lang="en-US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9D93D24-9446-4BD4-975C-09DCDF7E2057}" type="slidenum">
              <a:rPr lang="en-US" smtClean="0"/>
            </a:fld>
            <a:endParaRPr lang="en-US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/>
          </a:p>
        </p:txBody>
      </p:sp>
      <p:sp>
        <p:nvSpPr>
          <p:cNvPr id="3" name="Объект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  <a:endParaRPr lang="ru-RU"/>
          </a:p>
          <a:p>
            <a:pPr lvl="1"/>
            <a:r>
              <a:rPr lang="ru-RU"/>
              <a:t>Второй уровень</a:t>
            </a:r>
            <a:endParaRPr lang="ru-RU"/>
          </a:p>
          <a:p>
            <a:pPr lvl="2"/>
            <a:r>
              <a:rPr lang="ru-RU"/>
              <a:t>Третий уровень</a:t>
            </a:r>
            <a:endParaRPr lang="ru-RU"/>
          </a:p>
          <a:p>
            <a:pPr lvl="3"/>
            <a:r>
              <a:rPr lang="ru-RU"/>
              <a:t>Четвертый уровень</a:t>
            </a:r>
            <a:endParaRPr lang="ru-RU"/>
          </a:p>
          <a:p>
            <a:pPr lvl="4"/>
            <a:r>
              <a:rPr lang="ru-RU"/>
              <a:t>Пятый уровень</a:t>
            </a:r>
            <a:endParaRPr lang="en-US"/>
          </a:p>
        </p:txBody>
      </p:sp>
      <p:sp>
        <p:nvSpPr>
          <p:cNvPr id="4" name="Объект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  <a:endParaRPr lang="ru-RU"/>
          </a:p>
          <a:p>
            <a:pPr lvl="1"/>
            <a:r>
              <a:rPr lang="ru-RU"/>
              <a:t>Второй уровень</a:t>
            </a:r>
            <a:endParaRPr lang="ru-RU"/>
          </a:p>
          <a:p>
            <a:pPr lvl="2"/>
            <a:r>
              <a:rPr lang="ru-RU"/>
              <a:t>Третий уровень</a:t>
            </a:r>
            <a:endParaRPr lang="ru-RU"/>
          </a:p>
          <a:p>
            <a:pPr lvl="3"/>
            <a:r>
              <a:rPr lang="ru-RU"/>
              <a:t>Четвертый уровень</a:t>
            </a:r>
            <a:endParaRPr lang="ru-RU"/>
          </a:p>
          <a:p>
            <a:pPr lvl="4"/>
            <a:r>
              <a:rPr lang="ru-RU"/>
              <a:t>Пятый уровень</a:t>
            </a:r>
            <a:endParaRPr lang="en-US"/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B60939-686C-479D-AFE8-70FB7B5470C6}" type="datetime1">
              <a:rPr lang="en-US" smtClean="0"/>
            </a:fld>
            <a:endParaRPr lang="en-US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9D93D24-9446-4BD4-975C-09DCDF7E2057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ru-RU"/>
              <a:t>Образец заголовка</a:t>
            </a:r>
            <a:endParaRPr lang="en-US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  <a:endParaRPr lang="ru-RU"/>
          </a:p>
        </p:txBody>
      </p:sp>
      <p:sp>
        <p:nvSpPr>
          <p:cNvPr id="4" name="Объект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  <a:endParaRPr lang="ru-RU"/>
          </a:p>
          <a:p>
            <a:pPr lvl="1"/>
            <a:r>
              <a:rPr lang="ru-RU"/>
              <a:t>Второй уровень</a:t>
            </a:r>
            <a:endParaRPr lang="ru-RU"/>
          </a:p>
          <a:p>
            <a:pPr lvl="2"/>
            <a:r>
              <a:rPr lang="ru-RU"/>
              <a:t>Третий уровень</a:t>
            </a:r>
            <a:endParaRPr lang="ru-RU"/>
          </a:p>
          <a:p>
            <a:pPr lvl="3"/>
            <a:r>
              <a:rPr lang="ru-RU"/>
              <a:t>Четвертый уровень</a:t>
            </a:r>
            <a:endParaRPr lang="ru-RU"/>
          </a:p>
          <a:p>
            <a:pPr lvl="4"/>
            <a:r>
              <a:rPr lang="ru-RU"/>
              <a:t>Пятый уровень</a:t>
            </a:r>
            <a:endParaRPr lang="en-US"/>
          </a:p>
        </p:txBody>
      </p:sp>
      <p:sp>
        <p:nvSpPr>
          <p:cNvPr id="5" name="Текст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  <a:endParaRPr lang="ru-RU"/>
          </a:p>
        </p:txBody>
      </p:sp>
      <p:sp>
        <p:nvSpPr>
          <p:cNvPr id="6" name="Объект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  <a:endParaRPr lang="ru-RU"/>
          </a:p>
          <a:p>
            <a:pPr lvl="1"/>
            <a:r>
              <a:rPr lang="ru-RU"/>
              <a:t>Второй уровень</a:t>
            </a:r>
            <a:endParaRPr lang="ru-RU"/>
          </a:p>
          <a:p>
            <a:pPr lvl="2"/>
            <a:r>
              <a:rPr lang="ru-RU"/>
              <a:t>Третий уровень</a:t>
            </a:r>
            <a:endParaRPr lang="ru-RU"/>
          </a:p>
          <a:p>
            <a:pPr lvl="3"/>
            <a:r>
              <a:rPr lang="ru-RU"/>
              <a:t>Четвертый уровень</a:t>
            </a:r>
            <a:endParaRPr lang="ru-RU"/>
          </a:p>
          <a:p>
            <a:pPr lvl="4"/>
            <a:r>
              <a:rPr lang="ru-RU"/>
              <a:t>Пятый уровень</a:t>
            </a:r>
            <a:endParaRPr lang="en-US"/>
          </a:p>
        </p:txBody>
      </p:sp>
      <p:sp>
        <p:nvSpPr>
          <p:cNvPr id="7" name="Дата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1B2C66-1229-40FD-AD20-409E946D1EFB}" type="datetime1">
              <a:rPr lang="en-US" smtClean="0"/>
            </a:fld>
            <a:endParaRPr lang="en-US"/>
          </a:p>
        </p:txBody>
      </p:sp>
      <p:sp>
        <p:nvSpPr>
          <p:cNvPr id="8" name="Нижний колонтитул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Номер слайда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9D93D24-9446-4BD4-975C-09DCDF7E2057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/>
          </a:p>
        </p:txBody>
      </p:sp>
      <p:sp>
        <p:nvSpPr>
          <p:cNvPr id="3" name="Дата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B0ECC4-00A1-4167-A353-C60DC9153C89}" type="datetime1">
              <a:rPr lang="en-US" smtClean="0"/>
            </a:fld>
            <a:endParaRPr lang="en-US"/>
          </a:p>
        </p:txBody>
      </p:sp>
      <p:sp>
        <p:nvSpPr>
          <p:cNvPr id="4" name="Нижний колонтитул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Номер слайда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9D93D24-9446-4BD4-975C-09DCDF7E2057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18EC25-9B44-4513-B83C-731E1DF7EE1E}" type="datetime1">
              <a:rPr lang="en-US" smtClean="0"/>
            </a:fld>
            <a:endParaRPr lang="en-US"/>
          </a:p>
        </p:txBody>
      </p:sp>
      <p:sp>
        <p:nvSpPr>
          <p:cNvPr id="3" name="Нижний колонтитул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9D93D24-9446-4BD4-975C-09DCDF7E2057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  <a:endParaRPr lang="en-US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ru-RU"/>
              <a:t>Образец текста</a:t>
            </a:r>
            <a:endParaRPr lang="ru-RU"/>
          </a:p>
          <a:p>
            <a:pPr lvl="1"/>
            <a:r>
              <a:rPr lang="ru-RU"/>
              <a:t>Второй уровень</a:t>
            </a:r>
            <a:endParaRPr lang="ru-RU"/>
          </a:p>
          <a:p>
            <a:pPr lvl="2"/>
            <a:r>
              <a:rPr lang="ru-RU"/>
              <a:t>Третий уровень</a:t>
            </a:r>
            <a:endParaRPr lang="ru-RU"/>
          </a:p>
          <a:p>
            <a:pPr lvl="3"/>
            <a:r>
              <a:rPr lang="ru-RU"/>
              <a:t>Четвертый уровень</a:t>
            </a:r>
            <a:endParaRPr lang="ru-RU"/>
          </a:p>
          <a:p>
            <a:pPr lvl="4"/>
            <a:r>
              <a:rPr lang="ru-RU"/>
              <a:t>Пятый уровень</a:t>
            </a:r>
            <a:endParaRPr lang="en-US"/>
          </a:p>
        </p:txBody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  <a:endParaRPr lang="ru-RU"/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CE191C-7F42-454F-981D-7608BB1425BD}" type="datetime1">
              <a:rPr lang="en-US" smtClean="0"/>
            </a:fld>
            <a:endParaRPr lang="en-US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9D93D24-9446-4BD4-975C-09DCDF7E2057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  <a:endParaRPr lang="en-US"/>
          </a:p>
        </p:txBody>
      </p:sp>
      <p:sp>
        <p:nvSpPr>
          <p:cNvPr id="3" name="Рисунок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  <a:endParaRPr lang="ru-RU"/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33477AD-DDFE-411A-9C3A-6AEEBBEF769B}" type="datetime1">
              <a:rPr lang="en-US" smtClean="0"/>
            </a:fld>
            <a:endParaRPr lang="en-US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9D93D24-9446-4BD4-975C-09DCDF7E2057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/>
          </a:p>
        </p:txBody>
      </p:sp>
      <p:sp>
        <p:nvSpPr>
          <p:cNvPr id="3" name="Вертикальный текст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/>
              <a:t>Образец текста</a:t>
            </a:r>
            <a:endParaRPr lang="ru-RU"/>
          </a:p>
          <a:p>
            <a:pPr lvl="1"/>
            <a:r>
              <a:rPr lang="ru-RU"/>
              <a:t>Второй уровень</a:t>
            </a:r>
            <a:endParaRPr lang="ru-RU"/>
          </a:p>
          <a:p>
            <a:pPr lvl="2"/>
            <a:r>
              <a:rPr lang="ru-RU"/>
              <a:t>Третий уровень</a:t>
            </a:r>
            <a:endParaRPr lang="ru-RU"/>
          </a:p>
          <a:p>
            <a:pPr lvl="3"/>
            <a:r>
              <a:rPr lang="ru-RU"/>
              <a:t>Четвертый уровень</a:t>
            </a:r>
            <a:endParaRPr lang="ru-RU"/>
          </a:p>
          <a:p>
            <a:pPr lvl="4"/>
            <a:r>
              <a:rPr lang="ru-RU"/>
              <a:t>Пятый уровень</a:t>
            </a:r>
            <a:endParaRPr lang="en-US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C4809F-93B5-4C67-BCEE-6C99C20201B7}" type="datetime1">
              <a:rPr lang="en-US" smtClean="0"/>
            </a:fld>
            <a:endParaRPr lang="en-US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9D93D24-9446-4BD4-975C-09DCDF7E2057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тикальный заголовок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ru-RU"/>
              <a:t>Образец заголовка</a:t>
            </a:r>
            <a:endParaRPr lang="en-US"/>
          </a:p>
        </p:txBody>
      </p:sp>
      <p:sp>
        <p:nvSpPr>
          <p:cNvPr id="3" name="Вертикальный текст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ru-RU"/>
              <a:t>Образец текста</a:t>
            </a:r>
            <a:endParaRPr lang="ru-RU"/>
          </a:p>
          <a:p>
            <a:pPr lvl="1"/>
            <a:r>
              <a:rPr lang="ru-RU"/>
              <a:t>Второй уровень</a:t>
            </a:r>
            <a:endParaRPr lang="ru-RU"/>
          </a:p>
          <a:p>
            <a:pPr lvl="2"/>
            <a:r>
              <a:rPr lang="ru-RU"/>
              <a:t>Третий уровень</a:t>
            </a:r>
            <a:endParaRPr lang="ru-RU"/>
          </a:p>
          <a:p>
            <a:pPr lvl="3"/>
            <a:r>
              <a:rPr lang="ru-RU"/>
              <a:t>Четвертый уровень</a:t>
            </a:r>
            <a:endParaRPr lang="ru-RU"/>
          </a:p>
          <a:p>
            <a:pPr lvl="4"/>
            <a:r>
              <a:rPr lang="ru-RU"/>
              <a:t>Пятый уровень</a:t>
            </a:r>
            <a:endParaRPr lang="en-US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ED322FC-41C7-4131-A9A8-0AE44A257B23}" type="datetime1">
              <a:rPr lang="en-US" smtClean="0"/>
            </a:fld>
            <a:endParaRPr lang="en-US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9D93D24-9446-4BD4-975C-09DCDF7E2057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3" Type="http://schemas.openxmlformats.org/officeDocument/2006/relationships/theme" Target="../theme/theme1.xml"/><Relationship Id="rId12" Type="http://schemas.openxmlformats.org/officeDocument/2006/relationships/image" Target="../media/image1.png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 dirty="0"/>
              <a:t>Образец заголовка</a:t>
            </a:r>
            <a:endParaRPr lang="en-US" dirty="0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 dirty="0"/>
              <a:t>Образец текста</a:t>
            </a:r>
            <a:endParaRPr lang="ru-RU" dirty="0"/>
          </a:p>
          <a:p>
            <a:pPr lvl="1"/>
            <a:r>
              <a:rPr lang="ru-RU" dirty="0"/>
              <a:t>Второй уровень</a:t>
            </a:r>
            <a:endParaRPr lang="ru-RU" dirty="0"/>
          </a:p>
          <a:p>
            <a:pPr lvl="2"/>
            <a:r>
              <a:rPr lang="ru-RU" dirty="0"/>
              <a:t>Третий уровень</a:t>
            </a:r>
            <a:endParaRPr lang="ru-RU" dirty="0"/>
          </a:p>
          <a:p>
            <a:pPr lvl="3"/>
            <a:r>
              <a:rPr lang="ru-RU" dirty="0"/>
              <a:t>Четвертый уровень</a:t>
            </a:r>
            <a:endParaRPr lang="ru-RU" dirty="0"/>
          </a:p>
          <a:p>
            <a:pPr lvl="4"/>
            <a:r>
              <a:rPr lang="ru-RU" dirty="0"/>
              <a:t>Пятый уровень</a:t>
            </a:r>
            <a:endParaRPr lang="en-US" dirty="0"/>
          </a:p>
        </p:txBody>
      </p:sp>
      <p:sp>
        <p:nvSpPr>
          <p:cNvPr id="4" name="Дата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>
                <a:solidFill>
                  <a:schemeClr val="tx1">
                    <a:tint val="75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defRPr>
            </a:lvl1pPr>
          </a:lstStyle>
          <a:p>
            <a:fld id="{2713C367-EA95-4C52-817B-FE24C877FAE9}" type="datetime1">
              <a:rPr lang="en-US" smtClean="0"/>
            </a:fld>
            <a:endParaRPr lang="en-US" dirty="0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400">
                <a:solidFill>
                  <a:schemeClr val="tx1">
                    <a:tint val="75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defRPr>
            </a:lvl1pPr>
          </a:lstStyle>
          <a:p>
            <a:endParaRPr lang="en-US" dirty="0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400">
                <a:solidFill>
                  <a:schemeClr val="tx1">
                    <a:tint val="75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defRPr>
            </a:lvl1pPr>
          </a:lstStyle>
          <a:p>
            <a:fld id="{39D93D24-9446-4BD4-975C-09DCDF7E2057}" type="slidenum">
              <a:rPr lang="en-US" smtClean="0"/>
            </a:fld>
            <a:endParaRPr lang="en-US" dirty="0"/>
          </a:p>
        </p:txBody>
      </p:sp>
      <p:pic>
        <p:nvPicPr>
          <p:cNvPr id="8" name="Рисунок 7"/>
          <p:cNvPicPr>
            <a:picLocks noChangeAspect="1"/>
          </p:cNvPicPr>
          <p:nvPr userDrawn="1"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97500" y="83573"/>
            <a:ext cx="1546996" cy="1009651"/>
          </a:xfrm>
          <a:prstGeom prst="rect">
            <a:avLst/>
          </a:prstGeom>
        </p:spPr>
      </p:pic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0" hangingPunct="1">
        <a:lnSpc>
          <a:spcPct val="100000"/>
        </a:lnSpc>
        <a:spcBef>
          <a:spcPct val="0"/>
        </a:spcBef>
        <a:buNone/>
        <a:defRPr sz="3200" kern="1200">
          <a:solidFill>
            <a:schemeClr val="tx1"/>
          </a:solidFill>
          <a:latin typeface="Segoe UI" panose="020B0502040204020203" pitchFamily="34" charset="0"/>
          <a:ea typeface="+mj-ea"/>
          <a:cs typeface="Segoe UI" panose="020B0502040204020203" pitchFamily="34" charset="0"/>
        </a:defRPr>
      </a:lvl1pPr>
    </p:titleStyle>
    <p:bodyStyle>
      <a:lvl1pPr marL="228600" indent="-228600" algn="l" defTabSz="914400" rtl="0" eaLnBrk="1" latinLnBrk="0" hangingPunct="1">
        <a:lnSpc>
          <a:spcPct val="100000"/>
        </a:lnSpc>
        <a:spcBef>
          <a:spcPts val="1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Segoe UI" panose="020B0502040204020203" pitchFamily="34" charset="0"/>
          <a:ea typeface="+mn-ea"/>
          <a:cs typeface="Segoe UI" panose="020B0502040204020203" pitchFamily="34" charset="0"/>
        </a:defRPr>
      </a:lvl1pPr>
      <a:lvl2pPr marL="685800" indent="-228600" algn="l" defTabSz="914400" rtl="0" eaLnBrk="1" latinLnBrk="0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Segoe UI" panose="020B0502040204020203" pitchFamily="34" charset="0"/>
          <a:ea typeface="+mn-ea"/>
          <a:cs typeface="Segoe UI" panose="020B0502040204020203" pitchFamily="34" charset="0"/>
        </a:defRPr>
      </a:lvl2pPr>
      <a:lvl3pPr marL="1143000" indent="-228600" algn="l" defTabSz="914400" rtl="0" eaLnBrk="1" latinLnBrk="0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Segoe UI" panose="020B0502040204020203" pitchFamily="34" charset="0"/>
          <a:ea typeface="+mn-ea"/>
          <a:cs typeface="Segoe UI" panose="020B0502040204020203" pitchFamily="34" charset="0"/>
        </a:defRPr>
      </a:lvl3pPr>
      <a:lvl4pPr marL="1600200" indent="-228600" algn="l" defTabSz="914400" rtl="0" eaLnBrk="1" latinLnBrk="0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Segoe UI" panose="020B0502040204020203" pitchFamily="34" charset="0"/>
          <a:ea typeface="+mn-ea"/>
          <a:cs typeface="Segoe UI" panose="020B0502040204020203" pitchFamily="34" charset="0"/>
        </a:defRPr>
      </a:lvl4pPr>
      <a:lvl5pPr marL="2057400" indent="-228600" algn="l" defTabSz="914400" rtl="0" eaLnBrk="1" latinLnBrk="0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Segoe UI" panose="020B0502040204020203" pitchFamily="34" charset="0"/>
          <a:ea typeface="+mn-ea"/>
          <a:cs typeface="Segoe UI" panose="020B0502040204020203" pitchFamily="34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4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>
          <a:xfrm>
            <a:off x="1523999" y="1642511"/>
            <a:ext cx="9144000" cy="1786489"/>
          </a:xfrm>
        </p:spPr>
        <p:txBody>
          <a:bodyPr anchor="ctr">
            <a:normAutofit fontScale="90000"/>
          </a:bodyPr>
          <a:lstStyle/>
          <a:p>
            <a:pPr>
              <a:lnSpc>
                <a:spcPct val="100000"/>
              </a:lnSpc>
            </a:pPr>
            <a:r>
              <a:rPr lang="ru-RU" sz="4000" dirty="0"/>
              <a:t>Оптимизация аэродинамической формы летательного аппарата на основе решения уравнений Рейнольдса</a:t>
            </a:r>
            <a:endParaRPr lang="en-US" sz="4000" dirty="0"/>
          </a:p>
        </p:txBody>
      </p:sp>
      <p:sp>
        <p:nvSpPr>
          <p:cNvPr id="3" name="Подзаголовок 2"/>
          <p:cNvSpPr>
            <a:spLocks noGrp="1"/>
          </p:cNvSpPr>
          <p:nvPr>
            <p:ph type="subTitle" idx="1"/>
          </p:nvPr>
        </p:nvSpPr>
        <p:spPr>
          <a:xfrm>
            <a:off x="1215886" y="3900973"/>
            <a:ext cx="9760226" cy="1655762"/>
          </a:xfrm>
        </p:spPr>
        <p:txBody>
          <a:bodyPr anchor="ctr">
            <a:normAutofit/>
          </a:bodyPr>
          <a:lstStyle/>
          <a:p>
            <a:pPr algn="r">
              <a:lnSpc>
                <a:spcPct val="100000"/>
              </a:lnSpc>
            </a:pPr>
            <a:r>
              <a:rPr lang="ru-RU" sz="1800" dirty="0"/>
              <a:t>Направление подготовки: 03.03.01 Прикладные математика и физика</a:t>
            </a:r>
            <a:endParaRPr lang="ru-RU" sz="1800" dirty="0"/>
          </a:p>
          <a:p>
            <a:pPr algn="r">
              <a:lnSpc>
                <a:spcPct val="100000"/>
              </a:lnSpc>
            </a:pPr>
            <a:r>
              <a:rPr lang="ru-RU" sz="1800" dirty="0"/>
              <a:t>Студент: Черных Владимир Владимирович</a:t>
            </a:r>
            <a:endParaRPr lang="ru-RU" sz="1800" dirty="0"/>
          </a:p>
          <a:p>
            <a:pPr algn="r"/>
            <a:r>
              <a:rPr lang="ru-RU" sz="1800" dirty="0"/>
              <a:t>Научный руководитель: д.ф.-м.н. Судаков Виталий Георгиевич</a:t>
            </a:r>
            <a:endParaRPr lang="en-US" sz="1800" dirty="0"/>
          </a:p>
        </p:txBody>
      </p:sp>
      <p:sp>
        <p:nvSpPr>
          <p:cNvPr id="5" name="TextBox 4"/>
          <p:cNvSpPr txBox="1"/>
          <p:nvPr/>
        </p:nvSpPr>
        <p:spPr>
          <a:xfrm>
            <a:off x="2932057" y="6216073"/>
            <a:ext cx="632788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1600" dirty="0">
                <a:latin typeface="Segoe UI" panose="020B0502040204020203" pitchFamily="34" charset="0"/>
                <a:cs typeface="Segoe UI" panose="020B0502040204020203" pitchFamily="34" charset="0"/>
              </a:rPr>
              <a:t>Кафедра аэрофизики и летательных аппаратов ПИШ ФАЛТ МФТИ</a:t>
            </a:r>
            <a:endParaRPr lang="ru-RU" sz="1600" dirty="0"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algn="ctr"/>
            <a:r>
              <a:rPr lang="ru-RU" sz="1600" dirty="0">
                <a:latin typeface="Segoe UI" panose="020B0502040204020203" pitchFamily="34" charset="0"/>
                <a:cs typeface="Segoe UI" panose="020B0502040204020203" pitchFamily="34" charset="0"/>
              </a:rPr>
              <a:t>Жуковский, 2026</a:t>
            </a:r>
            <a:endParaRPr lang="en-US" sz="1600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Актуальность</a:t>
            </a:r>
            <a:endParaRPr lang="en-US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-RU" dirty="0"/>
              <a:t>Оптимизация формы ЛА на основе </a:t>
            </a:r>
            <a:r>
              <a:rPr lang="en-US" dirty="0"/>
              <a:t>CFD </a:t>
            </a:r>
            <a:r>
              <a:rPr lang="ru-RU" dirty="0"/>
              <a:t>переживает бурный рост</a:t>
            </a:r>
            <a:endParaRPr lang="ru-RU" dirty="0"/>
          </a:p>
          <a:p>
            <a:r>
              <a:rPr lang="ru-RU" dirty="0"/>
              <a:t>Использование решателей </a:t>
            </a:r>
            <a:r>
              <a:rPr lang="en-US" dirty="0"/>
              <a:t>RANS </a:t>
            </a:r>
            <a:r>
              <a:rPr lang="ru-RU" dirty="0"/>
              <a:t>сопряжено с дороговизной вычислений</a:t>
            </a:r>
            <a:endParaRPr lang="ru-RU" dirty="0"/>
          </a:p>
          <a:p>
            <a:r>
              <a:rPr lang="ru-RU" dirty="0"/>
              <a:t>Актуальна проблема поиска глобального минимума </a:t>
            </a:r>
            <a:endParaRPr lang="ru-RU" dirty="0"/>
          </a:p>
          <a:p>
            <a:r>
              <a:rPr lang="ru-RU" dirty="0"/>
              <a:t>Шум целевой функции усложняет поиск</a:t>
            </a:r>
            <a:endParaRPr lang="ru-RU" dirty="0"/>
          </a:p>
          <a:p>
            <a:r>
              <a:rPr lang="ru-RU" dirty="0"/>
              <a:t>Конструкционные ограничения усложняют топологию пространства решений</a:t>
            </a:r>
            <a:endParaRPr lang="ru-RU" dirty="0"/>
          </a:p>
          <a:p>
            <a:r>
              <a:rPr lang="ru-RU" dirty="0"/>
              <a:t>Для современного проектирования летательных аппаратов необходимы автоматизированные комплексы, обладающие устойчивостью </a:t>
            </a:r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9D93D24-9446-4BD4-975C-09DCDF7E2057}" type="slidenum">
              <a:rPr lang="en-US" smtClean="0"/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Цель и задачи</a:t>
            </a:r>
            <a:endParaRPr lang="en-US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pPr marL="0" indent="0">
              <a:lnSpc>
                <a:spcPct val="170000"/>
              </a:lnSpc>
              <a:buNone/>
            </a:pPr>
            <a:r>
              <a:rPr lang="ru-RU" b="1" dirty="0"/>
              <a:t>Цель</a:t>
            </a:r>
            <a:r>
              <a:rPr lang="ru-RU" dirty="0"/>
              <a:t> — </a:t>
            </a:r>
            <a:r>
              <a:rPr lang="ru-RU" sz="2000" dirty="0"/>
              <a:t>разработка и применение вычислительного комплекса оптимизации формы летательного аппарата на примере минимизации аэродинамического сопротивления профиля в трансзвуковом потоке</a:t>
            </a:r>
            <a:endParaRPr lang="ru-RU" sz="2000" dirty="0"/>
          </a:p>
          <a:p>
            <a:pPr marL="0" indent="0">
              <a:buNone/>
            </a:pPr>
            <a:r>
              <a:rPr lang="ru-RU" b="1" dirty="0"/>
              <a:t>Задачи:</a:t>
            </a:r>
            <a:endParaRPr lang="ru-RU" b="1" dirty="0"/>
          </a:p>
          <a:p>
            <a:pPr>
              <a:lnSpc>
                <a:spcPct val="170000"/>
              </a:lnSpc>
            </a:pPr>
            <a:r>
              <a:rPr lang="ru-RU" sz="2000" dirty="0"/>
              <a:t>Анализ существующих подходов к оптимизации аэродинамических профилей </a:t>
            </a:r>
            <a:endParaRPr lang="ru-RU" sz="2000" dirty="0"/>
          </a:p>
          <a:p>
            <a:pPr>
              <a:lnSpc>
                <a:spcPct val="170000"/>
              </a:lnSpc>
            </a:pPr>
            <a:r>
              <a:rPr lang="ru-RU" sz="2000" dirty="0"/>
              <a:t>Создание программного кода автоматизированного расчетного комплекса</a:t>
            </a:r>
            <a:endParaRPr lang="ru-RU" sz="2000" dirty="0"/>
          </a:p>
          <a:p>
            <a:pPr>
              <a:lnSpc>
                <a:spcPct val="170000"/>
              </a:lnSpc>
            </a:pPr>
            <a:r>
              <a:rPr lang="ru-RU" sz="2000" dirty="0"/>
              <a:t>Сравнительный анализ методов поиска и способов постановки задач с ограничениями</a:t>
            </a:r>
            <a:endParaRPr lang="ru-RU" sz="2000" dirty="0"/>
          </a:p>
          <a:p>
            <a:endParaRPr lang="en-US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9D93D24-9446-4BD4-975C-09DCDF7E2057}" type="slidenum">
              <a:rPr lang="en-US" smtClean="0"/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Личный вклад</a:t>
            </a:r>
            <a:endParaRPr lang="en-US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-RU" dirty="0"/>
              <a:t>Создан программный код для параметризации, построения сетки, управления расчетом, оптимизации и обработки результатов  </a:t>
            </a:r>
            <a:endParaRPr lang="ru-RU" dirty="0"/>
          </a:p>
          <a:p>
            <a:r>
              <a:rPr lang="ru-RU" dirty="0"/>
              <a:t>Проведена валидация и верификация расчетного метода</a:t>
            </a:r>
            <a:endParaRPr lang="ru-RU" dirty="0"/>
          </a:p>
          <a:p>
            <a:r>
              <a:rPr lang="ru-RU" dirty="0"/>
              <a:t>Проверены различные способы постановки ограничений </a:t>
            </a:r>
            <a:endParaRPr lang="ru-RU" dirty="0"/>
          </a:p>
          <a:p>
            <a:r>
              <a:rPr lang="ru-RU" dirty="0"/>
              <a:t>Различными методами получен набор решений оптимизационной задачи с установленной точностью </a:t>
            </a:r>
            <a:endParaRPr lang="ru-RU" dirty="0"/>
          </a:p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9D93D24-9446-4BD4-975C-09DCDF7E2057}" type="slidenum">
              <a:rPr lang="en-US" smtClean="0"/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Обзор проблемы</a:t>
            </a:r>
            <a:endParaRPr lang="en-US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9D93D24-9446-4BD4-975C-09DCDF7E2057}" type="slidenum">
              <a:rPr lang="en-US" smtClean="0"/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Постановка задачи</a:t>
            </a:r>
            <a:endParaRPr lang="en-US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-RU" dirty="0"/>
              <a:t>Задача — при заданном режиме обтекания и </a:t>
            </a:r>
            <a:r>
              <a:rPr lang="en-US" dirty="0"/>
              <a:t>C</a:t>
            </a:r>
            <a:r>
              <a:rPr lang="en-US" baseline="-25000" dirty="0"/>
              <a:t>ya</a:t>
            </a:r>
            <a:r>
              <a:rPr lang="en-US" dirty="0"/>
              <a:t> </a:t>
            </a:r>
            <a:r>
              <a:rPr lang="ru-RU" dirty="0"/>
              <a:t>найти профиль с минимальным </a:t>
            </a:r>
            <a:r>
              <a:rPr lang="en-US" dirty="0" err="1"/>
              <a:t>C</a:t>
            </a:r>
            <a:r>
              <a:rPr lang="en-US" baseline="-25000" dirty="0" err="1"/>
              <a:t>xa</a:t>
            </a:r>
            <a:r>
              <a:rPr lang="en-US" dirty="0"/>
              <a:t>, </a:t>
            </a:r>
            <a:r>
              <a:rPr lang="ru-RU" dirty="0"/>
              <a:t>удовлетворяющий ограничениям</a:t>
            </a:r>
            <a:endParaRPr lang="ru-RU" dirty="0"/>
          </a:p>
          <a:p>
            <a:r>
              <a:rPr lang="ru-RU" dirty="0"/>
              <a:t>Режим обтекания: </a:t>
            </a:r>
            <a:r>
              <a:rPr lang="en-US" dirty="0"/>
              <a:t>M, Re, T, </a:t>
            </a:r>
            <a:endParaRPr lang="ru-RU" dirty="0"/>
          </a:p>
          <a:p>
            <a:r>
              <a:rPr lang="ru-RU" dirty="0"/>
              <a:t>Ограничения: толщина профиля, радиус передней кромки, толщина задней кромки</a:t>
            </a:r>
            <a:endParaRPr lang="ru-RU" dirty="0"/>
          </a:p>
          <a:p>
            <a:r>
              <a:rPr lang="ru-RU" dirty="0"/>
              <a:t>Параметризация формы с помощью кривых Безье </a:t>
            </a:r>
            <a:endParaRPr lang="ru-RU" dirty="0"/>
          </a:p>
          <a:p>
            <a:r>
              <a:rPr lang="ru-RU" dirty="0"/>
              <a:t>Результат оценивался по </a:t>
            </a:r>
            <a:r>
              <a:rPr lang="en-US" dirty="0" err="1"/>
              <a:t>C</a:t>
            </a:r>
            <a:r>
              <a:rPr lang="en-US" baseline="-25000" dirty="0" err="1"/>
              <a:t>xa</a:t>
            </a:r>
            <a:r>
              <a:rPr lang="en-US" dirty="0"/>
              <a:t>, </a:t>
            </a:r>
            <a:r>
              <a:rPr lang="ru-RU" dirty="0"/>
              <a:t>скорости выполнения алгоритма и его устойчивости</a:t>
            </a:r>
            <a:endParaRPr lang="ru-RU" dirty="0"/>
          </a:p>
          <a:p>
            <a:endParaRPr lang="en-US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9D93D24-9446-4BD4-975C-09DCDF7E2057}" type="slidenum">
              <a:rPr lang="en-US" smtClean="0"/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Методы решения задачи оптимизации</a:t>
            </a:r>
            <a:endParaRPr lang="en-US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/>
          <a:lstStyle/>
          <a:p>
            <a:r>
              <a:rPr lang="ru-RU" dirty="0"/>
              <a:t>Надежной работы удалось достигнуть с использованием алгоритмов </a:t>
            </a:r>
            <a:r>
              <a:rPr lang="en-US" dirty="0"/>
              <a:t>EGO, CG, MADS</a:t>
            </a:r>
            <a:endParaRPr lang="en-US" dirty="0"/>
          </a:p>
          <a:p>
            <a:r>
              <a:rPr lang="en-US" dirty="0"/>
              <a:t>EGO — </a:t>
            </a:r>
            <a:r>
              <a:rPr lang="ru-RU" dirty="0"/>
              <a:t>глобальная оптимизация на основе суррогатного моделирования </a:t>
            </a:r>
            <a:endParaRPr lang="ru-RU" dirty="0"/>
          </a:p>
          <a:p>
            <a:r>
              <a:rPr lang="en-US" dirty="0"/>
              <a:t>CG —</a:t>
            </a:r>
            <a:r>
              <a:rPr lang="ru-RU" dirty="0"/>
              <a:t> градиентный локальный метод </a:t>
            </a:r>
            <a:endParaRPr lang="ru-RU" dirty="0"/>
          </a:p>
          <a:p>
            <a:r>
              <a:rPr lang="en-US" dirty="0"/>
              <a:t>MADS —</a:t>
            </a:r>
            <a:r>
              <a:rPr lang="ru-RU" dirty="0"/>
              <a:t> </a:t>
            </a:r>
            <a:r>
              <a:rPr lang="ru-RU" dirty="0" err="1"/>
              <a:t>безградиентный</a:t>
            </a:r>
            <a:r>
              <a:rPr lang="ru-RU" dirty="0"/>
              <a:t> метод, эффективный в условиях сильного влияния шума</a:t>
            </a:r>
            <a:endParaRPr lang="ru-RU" dirty="0"/>
          </a:p>
          <a:p>
            <a:r>
              <a:rPr lang="ru-RU" dirty="0"/>
              <a:t>На начальном этапе использовалась реализация </a:t>
            </a:r>
            <a:r>
              <a:rPr lang="en-US" dirty="0"/>
              <a:t>CG </a:t>
            </a:r>
            <a:r>
              <a:rPr lang="ru-RU" dirty="0"/>
              <a:t>из библиотеки </a:t>
            </a:r>
            <a:r>
              <a:rPr lang="en-US" dirty="0" err="1"/>
              <a:t>scipy.optimize</a:t>
            </a:r>
            <a:r>
              <a:rPr lang="en-US" dirty="0"/>
              <a:t>, </a:t>
            </a:r>
            <a:r>
              <a:rPr lang="ru-RU" dirty="0"/>
              <a:t>в дальнейшем использовалась </a:t>
            </a:r>
            <a:r>
              <a:rPr lang="en-US" dirty="0"/>
              <a:t>DAKOTA</a:t>
            </a:r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9D93D24-9446-4BD4-975C-09DCDF7E2057}" type="slidenum">
              <a:rPr lang="en-US" smtClean="0"/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Работа </a:t>
            </a:r>
            <a:r>
              <a:rPr lang="en-US" dirty="0"/>
              <a:t>CFD</a:t>
            </a:r>
            <a:r>
              <a:rPr lang="ru-RU" dirty="0"/>
              <a:t> для получения целевой функции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6800850" cy="4351338"/>
          </a:xfrm>
        </p:spPr>
        <p:txBody>
          <a:bodyPr/>
          <a:lstStyle/>
          <a:p>
            <a:r>
              <a:rPr lang="ru-RU" dirty="0"/>
              <a:t>Использовался промышленный </a:t>
            </a:r>
            <a:r>
              <a:rPr lang="en-US" dirty="0"/>
              <a:t>RANS </a:t>
            </a:r>
            <a:r>
              <a:rPr lang="ru-RU" dirty="0"/>
              <a:t>решатель</a:t>
            </a:r>
            <a:endParaRPr lang="ru-RU" dirty="0"/>
          </a:p>
          <a:p>
            <a:r>
              <a:rPr lang="ru-RU" dirty="0"/>
              <a:t>Для минимизации влияния сетки написан скрипт автоматического построения структурированной сетки около профиля </a:t>
            </a:r>
            <a:endParaRPr lang="ru-RU" dirty="0"/>
          </a:p>
          <a:p>
            <a:r>
              <a:rPr lang="ru-RU" dirty="0"/>
              <a:t>Проведена валидация и анализ сеточной сходимости</a:t>
            </a:r>
            <a:endParaRPr lang="ru-RU" dirty="0"/>
          </a:p>
          <a:p>
            <a:r>
              <a:rPr lang="ru-RU" dirty="0"/>
              <a:t>Валидация на случае </a:t>
            </a:r>
            <a:r>
              <a:rPr lang="en-US" dirty="0"/>
              <a:t>RAE2822, </a:t>
            </a:r>
            <a:r>
              <a:rPr lang="ru-RU" dirty="0"/>
              <a:t>разница с ним в дальнейшем использовалась в качестве бенчмарка </a:t>
            </a:r>
            <a:endParaRPr lang="ru-RU" dirty="0"/>
          </a:p>
          <a:p>
            <a:r>
              <a:rPr lang="ru-RU" dirty="0"/>
              <a:t>Модель турбулентности — </a:t>
            </a:r>
            <a:r>
              <a:rPr lang="en-US" dirty="0"/>
              <a:t>SA</a:t>
            </a:r>
            <a:endParaRPr lang="ru-RU" dirty="0"/>
          </a:p>
          <a:p>
            <a:r>
              <a:rPr lang="ru-RU" dirty="0"/>
              <a:t>Для повышения устойчивости используется жесткое ограничение по числу итераций </a:t>
            </a:r>
            <a:endParaRPr lang="ru-R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9D93D24-9446-4BD4-975C-09DCDF7E2057}" type="slidenum">
              <a:rPr lang="en-US" smtClean="0"/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Зависимость результата от числа параметров </a:t>
            </a:r>
            <a:endParaRPr lang="en-US" dirty="0"/>
          </a:p>
        </p:txBody>
      </p:sp>
      <p:sp>
        <p:nvSpPr>
          <p:cNvPr id="3" name="Объект 2"/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ru-RU" dirty="0"/>
              <a:t>Профиль параметризовался двумя кривыми Безье</a:t>
            </a:r>
            <a:endParaRPr lang="ru-RU" dirty="0"/>
          </a:p>
          <a:p>
            <a:r>
              <a:rPr lang="ru-RU" dirty="0"/>
              <a:t>Вектор параметров</a:t>
            </a:r>
            <a:r>
              <a:rPr lang="en-US" altLang="ru-RU" dirty="0"/>
              <a:t>:</a:t>
            </a:r>
            <a:endParaRPr lang="en-US" altLang="ru-RU" dirty="0"/>
          </a:p>
          <a:p>
            <a:pPr marL="0" indent="0">
              <a:buNone/>
            </a:pPr>
            <a:r>
              <a:rPr lang="en-US" altLang="ru-RU" dirty="0"/>
              <a:t>x =</a:t>
            </a:r>
            <a:r>
              <a:rPr lang="ru-RU" dirty="0"/>
              <a:t> </a:t>
            </a:r>
            <a:r>
              <a:rPr lang="en-US" dirty="0"/>
              <a:t>[R</a:t>
            </a:r>
            <a:r>
              <a:rPr lang="en-US" baseline="-25000" dirty="0"/>
              <a:t>forw</a:t>
            </a:r>
            <a:r>
              <a:rPr lang="en-US" dirty="0"/>
              <a:t>, P</a:t>
            </a:r>
            <a:r>
              <a:rPr lang="en-US" baseline="-25000" dirty="0"/>
              <a:t>u1</a:t>
            </a:r>
            <a:r>
              <a:rPr lang="en-US" dirty="0"/>
              <a:t>,..., P</a:t>
            </a:r>
            <a:r>
              <a:rPr lang="en-US" baseline="-25000" dirty="0"/>
              <a:t>uN</a:t>
            </a:r>
            <a:r>
              <a:rPr lang="en-US" dirty="0"/>
              <a:t>, P</a:t>
            </a:r>
            <a:r>
              <a:rPr lang="en-US" baseline="-25000" dirty="0"/>
              <a:t>d1</a:t>
            </a:r>
            <a:r>
              <a:rPr lang="en-US" dirty="0"/>
              <a:t>, ..., P</a:t>
            </a:r>
            <a:r>
              <a:rPr lang="en-US" baseline="-25000" dirty="0"/>
              <a:t>dN</a:t>
            </a:r>
            <a:r>
              <a:rPr lang="en-US" dirty="0"/>
              <a:t>]</a:t>
            </a:r>
            <a:endParaRPr lang="en-US" dirty="0"/>
          </a:p>
          <a:p>
            <a:r>
              <a:rPr lang="ru-RU" altLang="en-US" dirty="0"/>
              <a:t>Проверка проводилась методом </a:t>
            </a:r>
            <a:r>
              <a:rPr lang="en-US" altLang="en-US" dirty="0"/>
              <a:t>CG </a:t>
            </a:r>
            <a:r>
              <a:rPr lang="ru-RU" altLang="en-US" dirty="0"/>
              <a:t>при старте от симметричного профиля </a:t>
            </a:r>
            <a:endParaRPr lang="ru-RU" altLang="en-US" dirty="0"/>
          </a:p>
          <a:p>
            <a:r>
              <a:rPr lang="ru-RU" dirty="0"/>
              <a:t>Для режима </a:t>
            </a:r>
            <a:r>
              <a:rPr lang="en-US" dirty="0"/>
              <a:t>M = 0.75, C</a:t>
            </a:r>
            <a:r>
              <a:rPr lang="en-US" baseline="-25000" dirty="0"/>
              <a:t>ya</a:t>
            </a:r>
            <a:r>
              <a:rPr lang="en-US" dirty="0"/>
              <a:t>= 0.5 </a:t>
            </a:r>
            <a:r>
              <a:rPr lang="ru-RU" dirty="0"/>
              <a:t>оптимальная форма</a:t>
            </a:r>
            <a:r>
              <a:rPr lang="ru-RU" altLang="en-US" dirty="0"/>
              <a:t> достигается уже при </a:t>
            </a:r>
            <a:r>
              <a:rPr lang="en-US" altLang="en-US" dirty="0"/>
              <a:t>N = 3 </a:t>
            </a:r>
            <a:r>
              <a:rPr lang="ru-RU" altLang="en-US" dirty="0"/>
              <a:t> (7 параметров)</a:t>
            </a:r>
            <a:endParaRPr lang="ru-RU" dirty="0"/>
          </a:p>
          <a:p>
            <a:pPr marL="0" indent="0">
              <a:buNone/>
            </a:pPr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9D93D24-9446-4BD4-975C-09DCDF7E2057}" type="slidenum">
              <a:rPr lang="en-US" smtClean="0"/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Метод сопряженных градиентов</a:t>
            </a:r>
            <a:endParaRPr lang="en-US" dirty="0"/>
          </a:p>
        </p:txBody>
      </p:sp>
      <p:sp>
        <p:nvSpPr>
          <p:cNvPr id="3" name="Объект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553075" cy="4351655"/>
          </a:xfrm>
        </p:spPr>
        <p:txBody>
          <a:bodyPr/>
          <a:lstStyle/>
          <a:p>
            <a:r>
              <a:rPr lang="en-US" dirty="0"/>
              <a:t>CG</a:t>
            </a:r>
            <a:r>
              <a:rPr lang="ru-RU" altLang="en-US" dirty="0"/>
              <a:t>: быстрый локальный метод </a:t>
            </a:r>
            <a:endParaRPr lang="ru-RU" altLang="en-US" dirty="0"/>
          </a:p>
          <a:p>
            <a:r>
              <a:rPr lang="ru-RU" dirty="0"/>
              <a:t>Для численного вычисления</a:t>
            </a:r>
            <a:r>
              <a:rPr lang="ru-RU" altLang="en-US" dirty="0"/>
              <a:t> градиента определен шаг по нормализованной переменной, равный 0.005</a:t>
            </a:r>
            <a:endParaRPr lang="ru-RU" altLang="en-US" dirty="0"/>
          </a:p>
          <a:p>
            <a:r>
              <a:rPr lang="ru-RU" altLang="en-US" dirty="0"/>
              <a:t>При </a:t>
            </a:r>
            <a:r>
              <a:rPr lang="en-US" altLang="en-US" dirty="0"/>
              <a:t>N = 3 </a:t>
            </a:r>
            <a:r>
              <a:rPr lang="ru-RU" altLang="en-US" dirty="0"/>
              <a:t>получен </a:t>
            </a:r>
            <a:r>
              <a:rPr lang="en-US" altLang="en-US" dirty="0"/>
              <a:t>Cxa = 0.</a:t>
            </a:r>
            <a:r>
              <a:rPr lang="ru-RU" altLang="en-US" dirty="0"/>
              <a:t>00964</a:t>
            </a:r>
            <a:endParaRPr lang="ru-RU" altLang="en-US" dirty="0"/>
          </a:p>
          <a:p>
            <a:r>
              <a:rPr lang="ru-RU" altLang="en-US" dirty="0"/>
              <a:t>Штрафная функция на толщину показывает результат хуже, чем вытягивание профиля до нужной толщины </a:t>
            </a:r>
            <a:endParaRPr lang="ru-RU" altLang="en-US" dirty="0"/>
          </a:p>
          <a:p>
            <a:r>
              <a:rPr lang="ru-RU" altLang="en-US" dirty="0"/>
              <a:t>Вытягивание создает локальные минимумы </a:t>
            </a:r>
            <a:endParaRPr lang="ru-RU" altLang="en-US" dirty="0"/>
          </a:p>
          <a:p>
            <a:pPr marL="0" indent="0">
              <a:buNone/>
            </a:pPr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9D93D24-9446-4BD4-975C-09DCDF7E2057}" type="slidenum">
              <a:rPr lang="en-US" smtClean="0"/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Efficient global optimisation  </a:t>
            </a:r>
            <a:endParaRPr lang="en-US" dirty="0"/>
          </a:p>
        </p:txBody>
      </p:sp>
      <p:sp>
        <p:nvSpPr>
          <p:cNvPr id="3" name="Объект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553075" cy="4351655"/>
          </a:xfrm>
        </p:spPr>
        <p:txBody>
          <a:bodyPr>
            <a:normAutofit lnSpcReduction="10000"/>
          </a:bodyPr>
          <a:lstStyle/>
          <a:p>
            <a:r>
              <a:rPr lang="ru-RU" dirty="0"/>
              <a:t>Метод, основанный на суррогатном моделировании </a:t>
            </a:r>
            <a:endParaRPr lang="ru-RU" dirty="0"/>
          </a:p>
          <a:p>
            <a:r>
              <a:rPr lang="ru-RU" altLang="en-US" dirty="0"/>
              <a:t>Ставит проблему нефизичных геометрий </a:t>
            </a:r>
            <a:endParaRPr lang="ru-RU" altLang="en-US" dirty="0"/>
          </a:p>
          <a:p>
            <a:r>
              <a:rPr lang="ru-RU" altLang="en-US" dirty="0"/>
              <a:t>Для борьбы предложено использовать штраф: </a:t>
            </a:r>
            <a:r>
              <a:rPr lang="en-US" altLang="en-US" dirty="0"/>
              <a:t>L2-</a:t>
            </a:r>
            <a:r>
              <a:rPr lang="ru-RU" altLang="en-US" dirty="0"/>
              <a:t>норму расстояния в пространстве параметров до физичного профиля</a:t>
            </a:r>
            <a:endParaRPr lang="ru-RU" altLang="en-US" dirty="0"/>
          </a:p>
          <a:p>
            <a:r>
              <a:rPr lang="ru-RU" altLang="en-US" dirty="0"/>
              <a:t>При построении первичной модели необходимо достаточно </a:t>
            </a:r>
            <a:r>
              <a:rPr lang="en-US" altLang="ru-RU" dirty="0"/>
              <a:t>(N(N+1), 10*N) </a:t>
            </a:r>
            <a:r>
              <a:rPr lang="ru-RU" altLang="ru-RU" dirty="0"/>
              <a:t>физичных точек</a:t>
            </a:r>
            <a:endParaRPr lang="ru-RU" altLang="en-US" dirty="0"/>
          </a:p>
          <a:p>
            <a:pPr marL="0" indent="0">
              <a:buNone/>
            </a:pPr>
            <a:r>
              <a:rPr lang="ru-RU" altLang="en-US" dirty="0"/>
              <a:t>Основной проблемой было то, что алгоритм находил суперкритический профиль, но не делал его достаточно тонким</a:t>
            </a:r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9D93D24-9446-4BD4-975C-09DCDF7E2057}" type="slidenum">
              <a:rPr lang="en-US" smtClean="0"/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altLang="en-US" dirty="0"/>
              <a:t>Модификация параметризации</a:t>
            </a:r>
            <a:endParaRPr lang="ru-RU" altLang="en-US" dirty="0"/>
          </a:p>
        </p:txBody>
      </p:sp>
      <p:sp>
        <p:nvSpPr>
          <p:cNvPr id="3" name="Объект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553075" cy="4351655"/>
          </a:xfrm>
        </p:spPr>
        <p:txBody>
          <a:bodyPr>
            <a:normAutofit lnSpcReduction="20000"/>
          </a:bodyPr>
          <a:lstStyle/>
          <a:p>
            <a:r>
              <a:rPr lang="ru-RU" dirty="0"/>
              <a:t>Предлагается использовать </a:t>
            </a:r>
            <a:r>
              <a:rPr lang="en-US" altLang="ru-RU" dirty="0"/>
              <a:t>2N </a:t>
            </a:r>
            <a:r>
              <a:rPr lang="ru-RU" altLang="ru-RU" dirty="0"/>
              <a:t>параметров, вариацией точки на верхней или нижней поверхности добиваясь нужной толщины</a:t>
            </a:r>
            <a:endParaRPr lang="ru-RU" dirty="0"/>
          </a:p>
          <a:p>
            <a:r>
              <a:rPr lang="ru-RU" altLang="en-US" dirty="0"/>
              <a:t>Для </a:t>
            </a:r>
            <a:r>
              <a:rPr lang="en-US" altLang="en-US" dirty="0"/>
              <a:t>EGO </a:t>
            </a:r>
            <a:r>
              <a:rPr lang="ru-RU" altLang="en-US" dirty="0"/>
              <a:t>данный способ на 6% улучшил результат при сравнительном времени работы </a:t>
            </a:r>
            <a:endParaRPr lang="ru-RU" altLang="en-US" dirty="0"/>
          </a:p>
          <a:p>
            <a:r>
              <a:rPr lang="ru-RU" dirty="0"/>
              <a:t>Вопрос выбора конкретной точки и влияния на другие методы изучается сейчас</a:t>
            </a:r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9D93D24-9446-4BD4-975C-09DCDF7E2057}" type="slidenum">
              <a:rPr lang="en-US" smtClean="0"/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altLang="en-US" dirty="0"/>
              <a:t>Гибридный метод </a:t>
            </a:r>
            <a:endParaRPr lang="ru-RU" altLang="en-US" dirty="0"/>
          </a:p>
        </p:txBody>
      </p:sp>
      <p:sp>
        <p:nvSpPr>
          <p:cNvPr id="3" name="Объект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553075" cy="4351655"/>
          </a:xfrm>
        </p:spPr>
        <p:txBody>
          <a:bodyPr>
            <a:normAutofit lnSpcReduction="20000"/>
          </a:bodyPr>
          <a:lstStyle/>
          <a:p>
            <a:r>
              <a:rPr lang="ru-RU" dirty="0"/>
              <a:t>Наилучшего результата удалось достичь при последовательном использовании нескольких методов: </a:t>
            </a:r>
            <a:r>
              <a:rPr lang="en-US" dirty="0"/>
              <a:t>EGO, CG, MADS</a:t>
            </a:r>
            <a:endParaRPr lang="en-US" dirty="0"/>
          </a:p>
          <a:p>
            <a:r>
              <a:rPr lang="en-US" dirty="0"/>
              <a:t>C</a:t>
            </a:r>
            <a:r>
              <a:rPr lang="en-US" baseline="-25000" dirty="0"/>
              <a:t>xa</a:t>
            </a:r>
            <a:r>
              <a:rPr lang="en-US" dirty="0"/>
              <a:t> = 0.0096</a:t>
            </a:r>
            <a:endParaRPr lang="ru-RU" altLang="en-US" dirty="0"/>
          </a:p>
          <a:p>
            <a:r>
              <a:rPr lang="en-US" altLang="ru-RU" dirty="0"/>
              <a:t>MADS </a:t>
            </a:r>
            <a:r>
              <a:rPr lang="ru-RU" altLang="en-US" dirty="0"/>
              <a:t>применяется на конечном этапе в условиях сильного шума около оптимума</a:t>
            </a:r>
            <a:endParaRPr lang="ru-RU" altLang="en-US" dirty="0"/>
          </a:p>
          <a:p>
            <a:pPr marL="0" indent="0">
              <a:buNone/>
            </a:pPr>
            <a:endParaRPr lang="ru-RU" altLang="en-US" dirty="0"/>
          </a:p>
          <a:p>
            <a:pPr marL="0" indent="0">
              <a:buNone/>
            </a:pPr>
            <a:endParaRPr lang="ru-RU" altLang="en-US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9D93D24-9446-4BD4-975C-09DCDF7E2057}" type="slidenum">
              <a:rPr lang="en-US" smtClean="0"/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Заключение</a:t>
            </a:r>
            <a:endParaRPr lang="en-US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>
            <a:normAutofit fontScale="90000"/>
          </a:bodyPr>
          <a:lstStyle/>
          <a:p>
            <a:r>
              <a:rPr lang="ru-RU" dirty="0"/>
              <a:t>Создан программный комплекс для оптимизации формы летательного аппарата на основе </a:t>
            </a:r>
            <a:r>
              <a:rPr lang="en-US" dirty="0"/>
              <a:t>CFD </a:t>
            </a:r>
            <a:r>
              <a:rPr lang="ru-RU" altLang="en-US" dirty="0"/>
              <a:t>расчетов</a:t>
            </a:r>
            <a:endParaRPr lang="ru-RU" dirty="0"/>
          </a:p>
          <a:p>
            <a:r>
              <a:rPr lang="ru-RU" dirty="0"/>
              <a:t>Проведена апробация на примере профильной задачи</a:t>
            </a:r>
            <a:endParaRPr lang="ru-RU" dirty="0"/>
          </a:p>
          <a:p>
            <a:r>
              <a:rPr lang="ru-RU" dirty="0"/>
              <a:t>В предложенной модифицированной параметризации для достижения результата в пределах точности метода достаточно 6 параметров</a:t>
            </a:r>
            <a:endParaRPr lang="ru-RU" dirty="0"/>
          </a:p>
          <a:p>
            <a:r>
              <a:rPr lang="ru-RU" dirty="0"/>
              <a:t>Предложено использовать гибридный метод, включающий в себя последовательное переключение между методами </a:t>
            </a:r>
            <a:endParaRPr lang="en-US" dirty="0"/>
          </a:p>
          <a:p>
            <a:r>
              <a:rPr lang="ru-RU" dirty="0"/>
              <a:t>Возможные направления развития:</a:t>
            </a:r>
            <a:endParaRPr lang="ru-RU" dirty="0"/>
          </a:p>
          <a:p>
            <a:pPr marL="0" indent="0">
              <a:buNone/>
            </a:pPr>
            <a:r>
              <a:rPr lang="ru-RU" dirty="0"/>
              <a:t>	1) Решение трехмерной задачи </a:t>
            </a:r>
            <a:endParaRPr lang="ru-RU" dirty="0"/>
          </a:p>
          <a:p>
            <a:pPr marL="0" indent="0">
              <a:buNone/>
            </a:pPr>
            <a:r>
              <a:rPr lang="ru-RU" dirty="0"/>
              <a:t>	2) Многокритериальная оптимизация </a:t>
            </a:r>
            <a:endParaRPr lang="ru-RU" dirty="0"/>
          </a:p>
          <a:p>
            <a:pPr marL="0" indent="0">
              <a:buNone/>
            </a:pPr>
            <a:r>
              <a:rPr lang="ru-RU" dirty="0"/>
              <a:t>	3) Введение альтернативных способов параметризации, учитывающих конструкционные ограничения</a:t>
            </a:r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9D93D24-9446-4BD4-975C-09DCDF7E2057}" type="slidenum">
              <a:rPr lang="en-US" smtClean="0"/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4769</Words>
  <Application>WPS Presentation</Application>
  <PresentationFormat>Widescreen</PresentationFormat>
  <Paragraphs>140</Paragraphs>
  <Slides>14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7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14</vt:i4>
      </vt:variant>
    </vt:vector>
  </HeadingPairs>
  <TitlesOfParts>
    <vt:vector size="22" baseType="lpstr">
      <vt:lpstr>Arial</vt:lpstr>
      <vt:lpstr>SimSun</vt:lpstr>
      <vt:lpstr>Wingdings</vt:lpstr>
      <vt:lpstr>Segoe UI</vt:lpstr>
      <vt:lpstr>Microsoft YaHei</vt:lpstr>
      <vt:lpstr>Arial Unicode MS</vt:lpstr>
      <vt:lpstr>Calibri</vt:lpstr>
      <vt:lpstr>Тема Office</vt:lpstr>
      <vt:lpstr>Оптимизация аэродинамической формы летательного аппарата на основе решения уравнений Рейнольдса</vt:lpstr>
      <vt:lpstr>Актуальность</vt:lpstr>
      <vt:lpstr>Цель и задачи</vt:lpstr>
      <vt:lpstr>Личный вклад</vt:lpstr>
      <vt:lpstr>Обзор проблемы</vt:lpstr>
      <vt:lpstr>Постановка задачи</vt:lpstr>
      <vt:lpstr>Методы решения задачи оптимизации</vt:lpstr>
      <vt:lpstr>Работа CFD для получения целевой функции</vt:lpstr>
      <vt:lpstr>Зависимость результата от числа параметров </vt:lpstr>
      <vt:lpstr>Метод сопряженных градиентов</vt:lpstr>
      <vt:lpstr>Efficient global optimisation  </vt:lpstr>
      <vt:lpstr>Модификация параметризации</vt:lpstr>
      <vt:lpstr>Гибридный метод </vt:lpstr>
      <vt:lpstr>Заключение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Andrey Savelyev</dc:creator>
  <cp:lastModifiedBy>vova1</cp:lastModifiedBy>
  <cp:revision>17</cp:revision>
  <dcterms:created xsi:type="dcterms:W3CDTF">2025-06-09T19:51:00Z</dcterms:created>
  <dcterms:modified xsi:type="dcterms:W3CDTF">2026-05-24T14:51:02Z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BACF7E7CFC754C888CF39B229274FA6A_12</vt:lpwstr>
  </property>
  <property fmtid="{D5CDD505-2E9C-101B-9397-08002B2CF9AE}" pid="3" name="KSOProductBuildVer">
    <vt:lpwstr>1033-12.2.0.23196</vt:lpwstr>
  </property>
</Properties>
</file>