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58" r:id="rId4"/>
    <p:sldId id="270" r:id="rId5"/>
    <p:sldId id="268" r:id="rId6"/>
    <p:sldId id="271" r:id="rId7"/>
    <p:sldId id="262" r:id="rId8"/>
    <p:sldId id="272" r:id="rId9"/>
    <p:sldId id="263" r:id="rId10"/>
    <p:sldId id="264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7797-00FD-4366-A7DD-DDB70299F94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E35E0A-4247-4819-B9AA-855A9160B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96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AFBC99-734F-F357-C1F8-E67C5B72B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CF6078-5A76-2329-47F7-A95A42689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CB6DB9-D813-BBC1-C01C-82958301A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2D2F9-902E-45BE-B09B-749FE4E7C635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064B82-BEA2-19ED-E214-CD34E53BD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BD9895-AA4E-DBDE-7DB1-787DF28DB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41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E539EE-736C-E408-8C86-A8A0B33C4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E97B53-13BB-EB28-500D-84F897282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99428F-4660-BEFD-BC20-E64D967F1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4562-EE48-46C3-92EF-5FADBBFDBB53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FFC447-C330-2B46-E7B6-F6278E4B9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831778-4060-0CF5-37F8-F5507247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23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887629-BECA-E0E0-A781-BB36C9150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BEA0D2-22D3-C3E0-FD73-B5629166D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387D5D-4980-F459-D8CB-CE1895C8C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0E3C8-8A0E-4E15-B33E-2B4AD00BB11C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620B8D-BDB8-1E0D-2FCF-F1B1693BE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B476C8-D459-8405-02D5-42CE5E75E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53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8C6864-A7E4-8FCF-61E3-628EAA886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61A951-EAD2-EB4E-9E5D-0996CDC35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3300D6-56CA-C887-19F0-A40D041A2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D3B82C-C55C-8490-71EA-CFB099CC9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0939-686C-479D-AFE8-70FB7B5470C6}" type="datetime1">
              <a:rPr lang="en-US" smtClean="0"/>
              <a:t>5/23/2026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86093E-A9C3-6853-420E-82C38F1B4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E96929-A095-C6CB-ECB5-D4368F668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19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8798EA-D361-4904-B109-6BFE1E357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2776D9-70CB-78A1-EDB2-36E35719C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B9D825-55DA-01A2-8315-B05F7F3E9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397A8FB-563F-98BD-2BEE-A86DB0DE3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AE169AE-65CC-B2C8-ED62-AAC98A188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3E68E94-7A54-0500-BD26-9DA359369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2C66-1229-40FD-AD20-409E946D1EFB}" type="datetime1">
              <a:rPr lang="en-US" smtClean="0"/>
              <a:t>5/23/2026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D76FB30-271A-9BEC-F8CC-BB335D3A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56A6424-21D2-159A-63AB-D36D5ACEE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4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43C828-00E9-427C-606A-11CC0B05C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169D4F-93AD-DB23-59E7-61C983051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ECC4-00A1-4167-A353-C60DC9153C89}" type="datetime1">
              <a:rPr lang="en-US" smtClean="0"/>
              <a:t>5/23/2026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25D989C-1F1B-9F72-B2B0-B0727C4D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88FBAF7-177F-C59A-36B0-C1392D7DE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9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84DED8E-49A5-E07E-2FD0-0F1DE8EAB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8EC25-9B44-4513-B83C-731E1DF7EE1E}" type="datetime1">
              <a:rPr lang="en-US" smtClean="0"/>
              <a:t>5/23/2026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240218F-A324-A226-A46D-7A9487062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9F70EE-C86F-0202-EED7-E0F64BFB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96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A77810-2760-A226-974C-4D9845D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57565E-8F7B-E754-A57D-1CDD05882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232A4FC-5534-FF67-1AE8-D9388561E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F76382-C11B-D1B8-0A81-36D28E1E2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191C-7F42-454F-981D-7608BB1425BD}" type="datetime1">
              <a:rPr lang="en-US" smtClean="0"/>
              <a:t>5/23/2026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39B462F-70BC-813A-48EA-91C7F9A18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E1855A-9009-CC1A-CB70-6172876A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07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E9BA0E-2440-B0D3-AB97-8E920F27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F681D03-EF98-EDBD-8260-5DE0B3C90A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FB2B00-2F77-CE47-A7BA-A342670AA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2D4647-2ADE-A2E9-C17B-E1B380BFE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7AD-DDFE-411A-9C3A-6AEEBBEF769B}" type="datetime1">
              <a:rPr lang="en-US" smtClean="0"/>
              <a:t>5/23/2026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3E0D0B-4232-B4CF-AFE7-91A7F82E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2BBDE0-1AFF-9A1C-88AA-933968A04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4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4DB91-8553-DE77-F4C6-D7FF5B60E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DA2B01-A865-E877-0E35-984827A3F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C21ADE-C57A-E958-E10E-CB7D08AAD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809F-93B5-4C67-BCEE-6C99C20201B7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D968AB-4996-9760-B60B-679C3F40E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E05783-B924-7BBD-F6FF-406323C82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1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0382825-438E-DB2B-223B-FDCA1ECBD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34C1F21-BF02-26E9-A63A-5572983CB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43972B-C5CE-EFAB-D4EC-A88BA6809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322FC-41C7-4131-A9A8-0AE44A257B23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EC4AD9-4F0E-7857-B45B-3D7BCBA72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DE2720-791D-7DC3-D56D-41A7DC2FA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6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46D53C-1185-83FF-5931-02D5BBDB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A629D4-31E5-F85B-DF7B-DF16D19A3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A9B866-430D-1574-4578-DDD993C45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2713C367-EA95-4C52-817B-FE24C877FAE9}" type="datetime1">
              <a:rPr lang="en-US" smtClean="0"/>
              <a:t>5/23/2026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960637-D3AE-08C3-98C2-41E2AD61F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343832-F5F7-9D4B-ECA0-7B323FD2B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9D93D24-9446-4BD4-975C-09DCDF7E205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396144B-F1C9-A27B-2C02-BEA8E699793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7500" y="83573"/>
            <a:ext cx="1546996" cy="100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614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D45CEF-9BC7-01A6-4B8E-748754FA6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42511"/>
            <a:ext cx="9144000" cy="1786489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sz="4000" dirty="0"/>
              <a:t>Оптимизация аэродинамической формы летательного аппарата на основе решения уравнений Рейнольдса</a:t>
            </a:r>
            <a:endParaRPr lang="en-US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8617BF-4550-0EE4-4A98-F462D3068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5886" y="3900973"/>
            <a:ext cx="9760226" cy="1655762"/>
          </a:xfrm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ru-RU" sz="1800" dirty="0"/>
              <a:t>Направление подготовки: 03.03.01 Прикладные математика и физика</a:t>
            </a:r>
          </a:p>
          <a:p>
            <a:pPr algn="r">
              <a:lnSpc>
                <a:spcPct val="100000"/>
              </a:lnSpc>
            </a:pPr>
            <a:r>
              <a:rPr lang="ru-RU" sz="1800" dirty="0"/>
              <a:t>Студент: Черных Владимир Владимирович</a:t>
            </a:r>
          </a:p>
          <a:p>
            <a:pPr algn="r"/>
            <a:r>
              <a:rPr lang="ru-RU" sz="1800" dirty="0"/>
              <a:t>Научный руководитель: д.ф.-м.н. Судаков Виталий Георгиевич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EA752-7679-0362-C9EF-5E1DE4ACC984}"/>
              </a:ext>
            </a:extLst>
          </p:cNvPr>
          <p:cNvSpPr txBox="1"/>
          <p:nvPr/>
        </p:nvSpPr>
        <p:spPr>
          <a:xfrm>
            <a:off x="2932057" y="6216073"/>
            <a:ext cx="63278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Кафедра аэрофизики и летательных аппаратов ПИШ ФАЛТ МФТИ</a:t>
            </a:r>
          </a:p>
          <a:p>
            <a:pPr algn="ctr"/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Жуковский, 2026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961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5FE48-1D13-254D-4B26-745437FF6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3004E2-9A1B-308C-AB2B-15E8F22B2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Оптимизация формы ЛА на основе </a:t>
            </a:r>
            <a:r>
              <a:rPr lang="en-US" dirty="0"/>
              <a:t>CFD </a:t>
            </a:r>
            <a:r>
              <a:rPr lang="ru-RU" dirty="0"/>
              <a:t>переживает бурный рост</a:t>
            </a:r>
          </a:p>
          <a:p>
            <a:r>
              <a:rPr lang="ru-RU" dirty="0"/>
              <a:t>Использование решателей </a:t>
            </a:r>
            <a:r>
              <a:rPr lang="en-US" dirty="0"/>
              <a:t>RANS </a:t>
            </a:r>
            <a:r>
              <a:rPr lang="ru-RU" dirty="0"/>
              <a:t>сопряжено с дороговизной вычислений</a:t>
            </a:r>
          </a:p>
          <a:p>
            <a:r>
              <a:rPr lang="ru-RU" dirty="0"/>
              <a:t>Актуальна проблема поиска глобального минимума </a:t>
            </a:r>
          </a:p>
          <a:p>
            <a:r>
              <a:rPr lang="ru-RU" dirty="0"/>
              <a:t>Шум целевой функции усложняет поиск</a:t>
            </a:r>
          </a:p>
          <a:p>
            <a:r>
              <a:rPr lang="ru-RU" dirty="0"/>
              <a:t>Конструкционные ограничения усложняют топологию пространства решений</a:t>
            </a:r>
          </a:p>
          <a:p>
            <a:r>
              <a:rPr lang="ru-RU" dirty="0"/>
              <a:t>Для современного проектирования летательных аппаратов необходимы автоматизированные комплексы, обладающие устойчивостью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CC31A6-155F-F2BB-9260-153355A1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9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F3364-97C2-C3E1-55C6-190C49C1E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C70464-463C-D2D4-20FB-5CCF499ED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ru-RU" b="1" dirty="0"/>
              <a:t>Цель</a:t>
            </a:r>
            <a:r>
              <a:rPr lang="ru-RU" dirty="0"/>
              <a:t> — </a:t>
            </a:r>
            <a:r>
              <a:rPr lang="ru-RU" sz="2000" dirty="0"/>
              <a:t>разработка и применение вычислительного комплекса оптимизации формы летательного аппарата на примере минимизации аэродинамического сопротивления профиля в трансзвуковом потоке</a:t>
            </a:r>
          </a:p>
          <a:p>
            <a:pPr marL="0" indent="0">
              <a:buNone/>
            </a:pPr>
            <a:r>
              <a:rPr lang="ru-RU" b="1" dirty="0"/>
              <a:t>Задачи:</a:t>
            </a:r>
          </a:p>
          <a:p>
            <a:pPr>
              <a:lnSpc>
                <a:spcPct val="170000"/>
              </a:lnSpc>
            </a:pPr>
            <a:r>
              <a:rPr lang="ru-RU" sz="2000" dirty="0"/>
              <a:t>Анализ существующих подходов к оптимизации аэродинамических профилей </a:t>
            </a:r>
          </a:p>
          <a:p>
            <a:pPr>
              <a:lnSpc>
                <a:spcPct val="170000"/>
              </a:lnSpc>
            </a:pPr>
            <a:r>
              <a:rPr lang="ru-RU" sz="2000" dirty="0"/>
              <a:t>Создание программного кода автоматизированного расчетного комплекса</a:t>
            </a:r>
          </a:p>
          <a:p>
            <a:pPr>
              <a:lnSpc>
                <a:spcPct val="170000"/>
              </a:lnSpc>
            </a:pPr>
            <a:r>
              <a:rPr lang="ru-RU" sz="2000" dirty="0"/>
              <a:t>Сравнительный анализ методов поиска и способов постановки задач с ограничениями</a:t>
            </a:r>
          </a:p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282735-8967-A74F-3781-10877F9A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29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4E6C86-BCD2-E497-96FB-5F303D9D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Личный вклад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898889-BDE8-C5B2-3D54-D3E43C58A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 программный код для параметризации, построения сетки, управления расчетом, оптимизации и обработки результатов  </a:t>
            </a:r>
          </a:p>
          <a:p>
            <a:r>
              <a:rPr lang="ru-RU" dirty="0"/>
              <a:t>Проведена валидация и верификация расчетного метода</a:t>
            </a:r>
          </a:p>
          <a:p>
            <a:r>
              <a:rPr lang="ru-RU" dirty="0"/>
              <a:t>Проверены различные способы постановки ограничений </a:t>
            </a:r>
          </a:p>
          <a:p>
            <a:r>
              <a:rPr lang="ru-RU" dirty="0"/>
              <a:t>Различными методами получен набор решений оптимизационной задачи с установленной точностью 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A6BAFC-7D06-0773-250F-2500C0840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40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D72B8-E554-C690-6DBB-B2759C6AF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проблемы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C20C40-7579-9209-09ED-F9003FC1F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DCE0E9-204F-A9F4-4803-8B24CD14C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43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FC4D88-A72D-9FA2-AFC0-48118A8BC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2BB0B6-23BD-A7A2-4705-FE16CF429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Задача — при заданном режиме обтекания и </a:t>
            </a:r>
            <a:r>
              <a:rPr lang="en-US" dirty="0"/>
              <a:t>C</a:t>
            </a:r>
            <a:r>
              <a:rPr lang="en-US" baseline="-25000" dirty="0"/>
              <a:t>ya</a:t>
            </a:r>
            <a:r>
              <a:rPr lang="en-US" dirty="0"/>
              <a:t> </a:t>
            </a:r>
            <a:r>
              <a:rPr lang="ru-RU" dirty="0"/>
              <a:t>найти профиль с минимальным </a:t>
            </a:r>
            <a:r>
              <a:rPr lang="en-US" dirty="0" err="1"/>
              <a:t>C</a:t>
            </a:r>
            <a:r>
              <a:rPr lang="en-US" baseline="-25000" dirty="0" err="1"/>
              <a:t>xa</a:t>
            </a:r>
            <a:r>
              <a:rPr lang="en-US" dirty="0"/>
              <a:t>, </a:t>
            </a:r>
            <a:r>
              <a:rPr lang="ru-RU" dirty="0"/>
              <a:t>удовлетворяющий ограничениям</a:t>
            </a:r>
          </a:p>
          <a:p>
            <a:r>
              <a:rPr lang="ru-RU" dirty="0"/>
              <a:t>Режим обтекания: </a:t>
            </a:r>
            <a:r>
              <a:rPr lang="en-US" dirty="0"/>
              <a:t>M, Re, T, </a:t>
            </a:r>
            <a:endParaRPr lang="ru-RU" dirty="0"/>
          </a:p>
          <a:p>
            <a:r>
              <a:rPr lang="ru-RU" dirty="0"/>
              <a:t>Ограничения: толщина профиля, радиус передней кромки, толщина задней кромки</a:t>
            </a:r>
          </a:p>
          <a:p>
            <a:r>
              <a:rPr lang="ru-RU" dirty="0"/>
              <a:t>Параметризация формы с помощью кривых Безье </a:t>
            </a:r>
          </a:p>
          <a:p>
            <a:r>
              <a:rPr lang="ru-RU" dirty="0"/>
              <a:t>Результат оценивался по </a:t>
            </a:r>
            <a:r>
              <a:rPr lang="en-US" dirty="0" err="1"/>
              <a:t>C</a:t>
            </a:r>
            <a:r>
              <a:rPr lang="en-US" baseline="-25000" dirty="0" err="1"/>
              <a:t>xa</a:t>
            </a:r>
            <a:r>
              <a:rPr lang="en-US" dirty="0"/>
              <a:t>, </a:t>
            </a:r>
            <a:r>
              <a:rPr lang="ru-RU" dirty="0"/>
              <a:t>скорости выполнения алгоритма и его устойчивости</a:t>
            </a:r>
          </a:p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335DE7-A49B-6C06-1BD9-17521859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4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1AC8B5-4CC0-5C10-CDD9-9F865BC20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решения задачи оптимизации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8065BA-0EEA-924E-D6CC-3EE4733A3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Надежной работы удалось достигнуть с использованием алгоритмов </a:t>
            </a:r>
            <a:r>
              <a:rPr lang="en-US" dirty="0"/>
              <a:t>EGO, CG, MADS</a:t>
            </a:r>
          </a:p>
          <a:p>
            <a:r>
              <a:rPr lang="en-US" dirty="0"/>
              <a:t>EGO — </a:t>
            </a:r>
            <a:r>
              <a:rPr lang="ru-RU" dirty="0"/>
              <a:t>глобальная оптимизация на основе суррогатного моделирования </a:t>
            </a:r>
          </a:p>
          <a:p>
            <a:r>
              <a:rPr lang="en-US" dirty="0"/>
              <a:t>CG —</a:t>
            </a:r>
            <a:r>
              <a:rPr lang="ru-RU" dirty="0"/>
              <a:t> градиентный локальный метод </a:t>
            </a:r>
          </a:p>
          <a:p>
            <a:r>
              <a:rPr lang="en-US" dirty="0"/>
              <a:t>MADS —</a:t>
            </a:r>
            <a:r>
              <a:rPr lang="ru-RU" dirty="0"/>
              <a:t> </a:t>
            </a:r>
            <a:r>
              <a:rPr lang="ru-RU" dirty="0" err="1"/>
              <a:t>безградиентный</a:t>
            </a:r>
            <a:r>
              <a:rPr lang="ru-RU" dirty="0"/>
              <a:t> метод, эффективный в условиях сильного влияния шума</a:t>
            </a:r>
          </a:p>
          <a:p>
            <a:r>
              <a:rPr lang="ru-RU" dirty="0"/>
              <a:t>На начальном этапе использовалась реализация библиотеки </a:t>
            </a:r>
            <a:r>
              <a:rPr lang="en-US" dirty="0" err="1"/>
              <a:t>scipy.optimize</a:t>
            </a:r>
            <a:r>
              <a:rPr lang="en-US" dirty="0"/>
              <a:t>, </a:t>
            </a:r>
            <a:r>
              <a:rPr lang="ru-RU" dirty="0"/>
              <a:t>в дальнейшем использовалась </a:t>
            </a:r>
            <a:r>
              <a:rPr lang="en-US" dirty="0"/>
              <a:t>DAKOTA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032550-E19F-9DED-FE28-94A5A5A5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84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3BF7-AC8A-3A90-FC8D-146A3C809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</a:t>
            </a:r>
            <a:r>
              <a:rPr lang="en-US" dirty="0"/>
              <a:t>CFD</a:t>
            </a:r>
            <a:r>
              <a:rPr lang="ru-RU" dirty="0"/>
              <a:t> для получения целевой функции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2543B-334B-A98F-26FC-24C97865B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00850" cy="4351338"/>
          </a:xfrm>
        </p:spPr>
        <p:txBody>
          <a:bodyPr/>
          <a:lstStyle/>
          <a:p>
            <a:r>
              <a:rPr lang="ru-RU" dirty="0"/>
              <a:t>Использовался промышленный </a:t>
            </a:r>
            <a:r>
              <a:rPr lang="en-US" dirty="0"/>
              <a:t>RANS </a:t>
            </a:r>
            <a:r>
              <a:rPr lang="ru-RU" dirty="0"/>
              <a:t>решатель</a:t>
            </a:r>
          </a:p>
          <a:p>
            <a:r>
              <a:rPr lang="ru-RU" dirty="0"/>
              <a:t>Для минимизации влияния сетки написан скрипт автоматического построения структурированной сетки около профиля </a:t>
            </a:r>
          </a:p>
          <a:p>
            <a:r>
              <a:rPr lang="ru-RU" dirty="0"/>
              <a:t>Проведена валидация и анализ сеточной сходимости </a:t>
            </a:r>
          </a:p>
          <a:p>
            <a:r>
              <a:rPr lang="ru-RU" dirty="0"/>
              <a:t>Модель турбулентности — </a:t>
            </a:r>
            <a:r>
              <a:rPr lang="en-US" dirty="0"/>
              <a:t>SA</a:t>
            </a:r>
            <a:endParaRPr lang="ru-RU" dirty="0"/>
          </a:p>
          <a:p>
            <a:r>
              <a:rPr lang="ru-RU" dirty="0"/>
              <a:t>Для борьбы с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92E1E-9BA2-0963-050A-569A8F11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19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C8C651-81F9-A043-EEE4-EABD398D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Зависимость результата от числа параметров 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5D5D5A-6273-2156-2EE8-895BE9008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Постановки конкретных задач</a:t>
            </a:r>
          </a:p>
          <a:p>
            <a:r>
              <a:rPr lang="ru-RU" dirty="0"/>
              <a:t>Условия и результаты экспериментов</a:t>
            </a:r>
          </a:p>
          <a:p>
            <a:r>
              <a:rPr lang="ru-RU" dirty="0"/>
              <a:t>Формулы, графики, таблицы</a:t>
            </a:r>
          </a:p>
          <a:p>
            <a:pPr>
              <a:lnSpc>
                <a:spcPct val="100000"/>
              </a:lnSpc>
            </a:pPr>
            <a:r>
              <a:rPr lang="ru-RU" dirty="0"/>
              <a:t>Сравнения различных методов с результатами других авторов и между собой</a:t>
            </a:r>
          </a:p>
          <a:p>
            <a:r>
              <a:rPr lang="ru-RU" dirty="0"/>
              <a:t>Анализ и интерпретация полученных результатов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5AA046-F6C6-6287-D843-8CEDD3FA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393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348B4-DFCB-1850-D69F-2E8569B9B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7CFD9A-30CB-BA3F-609E-C02FFA32F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Создан программный комплекс для оптимизации на основе </a:t>
            </a:r>
            <a:r>
              <a:rPr lang="en-US" dirty="0"/>
              <a:t>CFD </a:t>
            </a:r>
            <a:endParaRPr lang="ru-RU" dirty="0"/>
          </a:p>
          <a:p>
            <a:r>
              <a:rPr lang="ru-RU" dirty="0"/>
              <a:t>Проведена апробация на примере профильной задачи</a:t>
            </a:r>
          </a:p>
          <a:p>
            <a:r>
              <a:rPr lang="ru-RU" dirty="0"/>
              <a:t>В предложенной параметризации для достижения результата в пределах точности метода достаточно 6 параметров</a:t>
            </a:r>
          </a:p>
          <a:p>
            <a:endParaRPr lang="ru-RU" dirty="0"/>
          </a:p>
          <a:p>
            <a:r>
              <a:rPr lang="ru-RU" dirty="0"/>
              <a:t>Предложено использовать гибридный метод, включающий в себя последовательное переключение между методами </a:t>
            </a:r>
            <a:endParaRPr lang="en-US" dirty="0"/>
          </a:p>
          <a:p>
            <a:r>
              <a:rPr lang="ru-RU" dirty="0"/>
              <a:t>Возможные направления развития:</a:t>
            </a:r>
          </a:p>
          <a:p>
            <a:pPr marL="0" indent="0">
              <a:buNone/>
            </a:pPr>
            <a:r>
              <a:rPr lang="ru-RU" dirty="0"/>
              <a:t>	1) Решение трехмерной задачи </a:t>
            </a:r>
          </a:p>
          <a:p>
            <a:pPr marL="0" indent="0">
              <a:buNone/>
            </a:pPr>
            <a:r>
              <a:rPr lang="ru-RU" dirty="0"/>
              <a:t>	2) Многокритериальная оптимизация </a:t>
            </a:r>
          </a:p>
          <a:p>
            <a:pPr marL="0" indent="0">
              <a:buNone/>
            </a:pPr>
            <a:r>
              <a:rPr lang="ru-RU" dirty="0"/>
              <a:t>	3) Введение альтернативных способов параметризации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690685-0064-B409-B92B-A626C3689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437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D574E-EDB6-AABF-2FC5-B95C80D5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Постскриптум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9C9F03-886F-037B-49B9-0FCB0E4CE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Данный шаблон презентации носит рекомендательный характер и не является строгим стандартом.</a:t>
            </a:r>
          </a:p>
          <a:p>
            <a:r>
              <a:rPr lang="ru-RU" sz="2000" dirty="0"/>
              <a:t>Структура может и должна быть адаптирована под специфику вашей работы, требования научного руководителя и личные предпочтения.</a:t>
            </a:r>
          </a:p>
          <a:p>
            <a:r>
              <a:rPr lang="ru-RU" sz="2000" dirty="0"/>
              <a:t>Вы вправе </a:t>
            </a:r>
            <a:r>
              <a:rPr lang="ru-RU" dirty="0"/>
              <a:t>добавлять или удалять слайды, </a:t>
            </a:r>
            <a:r>
              <a:rPr lang="ru-RU" sz="2000" dirty="0"/>
              <a:t>менять порядок </a:t>
            </a:r>
            <a:r>
              <a:rPr lang="ru-RU" sz="2000"/>
              <a:t>слайдов,</a:t>
            </a:r>
            <a:r>
              <a:rPr lang="ru-RU"/>
              <a:t> </a:t>
            </a:r>
            <a:r>
              <a:rPr lang="ru-RU" sz="2000"/>
              <a:t>изменять </a:t>
            </a:r>
            <a:r>
              <a:rPr lang="ru-RU" sz="2000" dirty="0"/>
              <a:t>визуальное оформление и уровень детализации.</a:t>
            </a: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2CD3A1-775E-599B-E576-927281864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3D24-9446-4BD4-975C-09DCDF7E205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298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479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</vt:lpstr>
      <vt:lpstr>Тема Office</vt:lpstr>
      <vt:lpstr>Оптимизация аэродинамической формы летательного аппарата на основе решения уравнений Рейнольдса</vt:lpstr>
      <vt:lpstr>Актуальность</vt:lpstr>
      <vt:lpstr>Цель и задачи</vt:lpstr>
      <vt:lpstr>Личный вклад</vt:lpstr>
      <vt:lpstr>Обзор проблемы</vt:lpstr>
      <vt:lpstr>Постановка задачи</vt:lpstr>
      <vt:lpstr>Методы решения задачи оптимизации</vt:lpstr>
      <vt:lpstr>Работа CFD для получения целевой функции</vt:lpstr>
      <vt:lpstr>Зависимость результата от числа параметров </vt:lpstr>
      <vt:lpstr>Заключение</vt:lpstr>
      <vt:lpstr>Постскриптум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Savelyev</dc:creator>
  <cp:lastModifiedBy>Владимир Черных</cp:lastModifiedBy>
  <cp:revision>12</cp:revision>
  <dcterms:created xsi:type="dcterms:W3CDTF">2025-06-09T19:51:33Z</dcterms:created>
  <dcterms:modified xsi:type="dcterms:W3CDTF">2026-05-23T14:26:48Z</dcterms:modified>
</cp:coreProperties>
</file>