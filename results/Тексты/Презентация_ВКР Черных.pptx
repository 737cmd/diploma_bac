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5"/>
  </p:notesMasterIdLst>
  <p:sldIdLst>
    <p:sldId id="256" r:id="rId2"/>
    <p:sldId id="277" r:id="rId3"/>
    <p:sldId id="258" r:id="rId4"/>
    <p:sldId id="259" r:id="rId5"/>
    <p:sldId id="270" r:id="rId6"/>
    <p:sldId id="279" r:id="rId7"/>
    <p:sldId id="271" r:id="rId8"/>
    <p:sldId id="280" r:id="rId9"/>
    <p:sldId id="281" r:id="rId10"/>
    <p:sldId id="272" r:id="rId11"/>
    <p:sldId id="282" r:id="rId12"/>
    <p:sldId id="283" r:id="rId13"/>
    <p:sldId id="262" r:id="rId14"/>
    <p:sldId id="285" r:id="rId15"/>
    <p:sldId id="284" r:id="rId16"/>
    <p:sldId id="286" r:id="rId17"/>
    <p:sldId id="263" r:id="rId18"/>
    <p:sldId id="274" r:id="rId19"/>
    <p:sldId id="287" r:id="rId20"/>
    <p:sldId id="288" r:id="rId21"/>
    <p:sldId id="276" r:id="rId22"/>
    <p:sldId id="289" r:id="rId23"/>
    <p:sldId id="26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A7797-00FD-4366-A7DD-DDB70299F94B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E35E0A-4247-4819-B9AA-855A9160BAD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E35E0A-4247-4819-B9AA-855A9160BA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725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E35E0A-4247-4819-B9AA-855A9160BAD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7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E35E0A-4247-4819-B9AA-855A9160BAD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968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2D2F9-902E-45BE-B09B-749FE4E7C635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B4562-EE48-46C3-92EF-5FADBBFDBB53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0E3C8-8A0E-4E15-B33E-2B4AD00BB11C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60939-686C-479D-AFE8-70FB7B5470C6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B2C66-1229-40FD-AD20-409E946D1EFB}" type="datetime1">
              <a:rPr lang="en-US" smtClean="0"/>
              <a:t>6/24/2026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ECC4-00A1-4167-A353-C60DC9153C89}" type="datetime1">
              <a:rPr lang="en-US" smtClean="0"/>
              <a:t>6/24/2026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8EC25-9B44-4513-B83C-731E1DF7EE1E}" type="datetime1">
              <a:rPr lang="en-US" smtClean="0"/>
              <a:t>6/24/2026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191C-7F42-454F-981D-7608BB1425BD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77AD-DDFE-411A-9C3A-6AEEBBEF769B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4809F-93B5-4C67-BCEE-6C99C20201B7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322FC-41C7-4131-A9A8-0AE44A257B23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2713C367-EA95-4C52-817B-FE24C877FAE9}" type="datetime1">
              <a:rPr lang="en-US" smtClean="0"/>
              <a:t>6/24/2026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39D93D24-9446-4BD4-975C-09DCDF7E205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7500" y="83573"/>
            <a:ext cx="1546996" cy="100965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1642511"/>
            <a:ext cx="9144000" cy="1786489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ru-RU" sz="4000" dirty="0"/>
              <a:t>Оптимизация аэродинамической формы летательного аппарата на основе решения уравнений Рейнольдса</a:t>
            </a:r>
            <a:endParaRPr lang="en-US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15886" y="3900973"/>
            <a:ext cx="9760226" cy="1655762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ru-RU" sz="1800" dirty="0"/>
              <a:t>Направление подготовки: 03.03.01 Прикладные математика и физика</a:t>
            </a:r>
          </a:p>
          <a:p>
            <a:pPr algn="r">
              <a:lnSpc>
                <a:spcPct val="100000"/>
              </a:lnSpc>
            </a:pPr>
            <a:r>
              <a:rPr lang="ru-RU" sz="1800" dirty="0"/>
              <a:t>Студент: Черных Владимир Владимирович</a:t>
            </a:r>
          </a:p>
          <a:p>
            <a:pPr algn="r"/>
            <a:r>
              <a:rPr lang="ru-RU" sz="1800" dirty="0"/>
              <a:t>Научный руководитель: д.ф.-м.н. Судаков Виталий Георгиевич</a:t>
            </a:r>
            <a:endParaRPr lang="en-US" sz="1800" dirty="0"/>
          </a:p>
        </p:txBody>
      </p:sp>
      <p:sp>
        <p:nvSpPr>
          <p:cNvPr id="5" name="TextBox 4"/>
          <p:cNvSpPr txBox="1"/>
          <p:nvPr/>
        </p:nvSpPr>
        <p:spPr>
          <a:xfrm>
            <a:off x="2932057" y="6216073"/>
            <a:ext cx="63278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Кафедра аэрофизики и летательных аппаратов ПИШ ФАЛТ МФТИ</a:t>
            </a:r>
          </a:p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Жуковский, 2026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B0474-874C-92AF-E23A-BBD1D074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Содержание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01F3-4223-1A69-04EF-58F1E448B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Введение </a:t>
            </a:r>
          </a:p>
          <a:p>
            <a:r>
              <a:rPr lang="ru-RU" dirty="0"/>
              <a:t>1. Постановка задачи и методология </a:t>
            </a:r>
          </a:p>
          <a:p>
            <a:r>
              <a:rPr lang="ru-RU" dirty="0"/>
              <a:t>2. Используемые методы оптимизации</a:t>
            </a:r>
          </a:p>
          <a:p>
            <a:r>
              <a:rPr lang="ru-RU" dirty="0"/>
              <a:t>3. Получение и анализ решений оптимизационной задачи </a:t>
            </a:r>
          </a:p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5E672-BDB7-5408-EFBB-5D07EB216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20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ru-RU" b="1" dirty="0"/>
              <a:t>Цель</a:t>
            </a:r>
            <a:r>
              <a:rPr lang="ru-RU" dirty="0"/>
              <a:t> — </a:t>
            </a:r>
            <a:r>
              <a:rPr lang="ru-RU" sz="2000" dirty="0"/>
              <a:t>разработка автоматизированного вычислительного комплекса оптимизации формы летательного аппарата и его применение на задаче минимизации аэродинамического сопротивления профиля в трансзвуковом потоке.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ru-RU" b="1" dirty="0"/>
              <a:t>Задачи: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Анализ существующих подходов к аэродинамической оптимизации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Создание программного кода автоматизированного расчетного комплекса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Сравнительный анализ методов поиска и способов постановки задач с </a:t>
            </a:r>
            <a:r>
              <a:rPr lang="ru-RU" sz="2200" dirty="0"/>
              <a:t>ограничениями</a:t>
            </a:r>
            <a:endParaRPr lang="ru-RU" sz="2000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и обзор проблемы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26384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Актуальность:</a:t>
            </a:r>
          </a:p>
          <a:p>
            <a:r>
              <a:rPr lang="ru-RU" dirty="0"/>
              <a:t>Современное проектирование связано с решением оптимальных задач</a:t>
            </a:r>
          </a:p>
          <a:p>
            <a:r>
              <a:rPr lang="ru-RU" dirty="0"/>
              <a:t>Хорошо развито решение с помощью упрощенных моделей</a:t>
            </a:r>
          </a:p>
          <a:p>
            <a:r>
              <a:rPr lang="ru-RU" dirty="0"/>
              <a:t>Использование </a:t>
            </a:r>
            <a:r>
              <a:rPr lang="en-US" dirty="0"/>
              <a:t>RANS </a:t>
            </a:r>
            <a:r>
              <a:rPr lang="ru-RU" dirty="0"/>
              <a:t>позволит повысить точность описания физических явлений</a:t>
            </a:r>
          </a:p>
          <a:p>
            <a:pPr marL="0" indent="0">
              <a:buNone/>
            </a:pPr>
            <a:r>
              <a:rPr lang="ru-RU" b="1" dirty="0"/>
              <a:t>Состояние проблемы:</a:t>
            </a:r>
          </a:p>
          <a:p>
            <a:r>
              <a:rPr lang="ru-RU" dirty="0"/>
              <a:t>Использование решателей </a:t>
            </a:r>
            <a:r>
              <a:rPr lang="en-US" dirty="0"/>
              <a:t>RANS </a:t>
            </a:r>
            <a:r>
              <a:rPr lang="ru-RU" dirty="0"/>
              <a:t>сопряжено с дороговизной вычислений</a:t>
            </a:r>
          </a:p>
          <a:p>
            <a:r>
              <a:rPr lang="ru-RU" dirty="0"/>
              <a:t>Актуальна проблема поиска глобального минимума </a:t>
            </a:r>
          </a:p>
          <a:p>
            <a:r>
              <a:rPr lang="ru-RU" dirty="0"/>
              <a:t>Шум целевой функции усложняет поиск</a:t>
            </a:r>
          </a:p>
          <a:p>
            <a:r>
              <a:rPr lang="ru-RU" dirty="0"/>
              <a:t>Конструкционные ограничения усложняют топологию пространства решений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Личный вклад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 программный код для параметризации, построения сетки, управления расчетом, оптимизации и обработки результатов  </a:t>
            </a:r>
          </a:p>
          <a:p>
            <a:r>
              <a:rPr lang="ru-RU" dirty="0"/>
              <a:t>Проведена валидация и верификация расчетного метода</a:t>
            </a:r>
          </a:p>
          <a:p>
            <a:r>
              <a:rPr lang="ru-RU" dirty="0"/>
              <a:t>Проверено несколько способов постановки ограничений </a:t>
            </a:r>
          </a:p>
          <a:p>
            <a:r>
              <a:rPr lang="ru-RU" dirty="0"/>
              <a:t>Предложена процедура штрафования для исключения нефизических решений </a:t>
            </a:r>
          </a:p>
          <a:p>
            <a:r>
              <a:rPr lang="ru-RU" dirty="0"/>
              <a:t>Различными методами получен набор решений оптимизационной задачи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5D3C-2E90-62BB-3129-47A37E5AD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1. Постановка задачи и методология </a:t>
            </a:r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E6A0C-1E66-BF90-7F73-FDD89AA6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622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Задача — при заданном режиме обтекания и </a:t>
            </a:r>
            <a:r>
              <a:rPr lang="en-US" dirty="0"/>
              <a:t>C</a:t>
            </a:r>
            <a:r>
              <a:rPr lang="en-US" baseline="-25000" dirty="0"/>
              <a:t>ya</a:t>
            </a:r>
            <a:r>
              <a:rPr lang="en-US" dirty="0"/>
              <a:t> </a:t>
            </a:r>
            <a:r>
              <a:rPr lang="ru-RU" dirty="0"/>
              <a:t>найти профиль с минимальным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удовлетворяющий ограничениям</a:t>
            </a:r>
          </a:p>
          <a:p>
            <a:r>
              <a:rPr lang="ru-RU" dirty="0"/>
              <a:t>Математически — задача нелинейного программирования: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Результат оценивался по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скорости выполнения алгоритма и его устойчивости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AF388E-B7A9-E913-26BC-353E16407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311" y="3094540"/>
            <a:ext cx="2575377" cy="23352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8DBEC-49B7-421C-3C23-C4FB6C58B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Геометрическая параметризация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64E57C-3730-54F2-8E96-EE8F1DBCBF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02451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Используется параметризация на основе кривых Безье: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𝑩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 = 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a:rPr lang="en-US" b="1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 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MS Gothic" panose="020B0609070205080204" pitchFamily="49" charset="-128"/>
                                      <a:cs typeface="MS Gothic" panose="020B0609070205080204" pitchFamily="49" charset="-128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den>
                              </m:f>
                            </m:e>
                          </m:d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 </m:t>
                          </m:r>
                          <m:sSup>
                            <m:sSup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 </m:t>
                          </m:r>
                          <m:sSup>
                            <m:sSup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  <m:r>
                        <a:rPr lang="en-US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,  </m:t>
                      </m:r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 ∈ 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0, 1</m:t>
                          </m:r>
                        </m:e>
                      </m:d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Точки по оси абсцисс распределены равномерно</a:t>
                </a:r>
              </a:p>
              <a:p>
                <a:pPr marL="0" indent="0">
                  <a:buNone/>
                </a:pPr>
                <a:r>
                  <a:rPr lang="ru-RU" dirty="0"/>
                  <a:t>Итоговый вектор параметров: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effectLst/>
                                <a:latin typeface="Cambria Math" panose="02040503050406030204" pitchFamily="18" charset="0"/>
                                <a:ea typeface="Batang" panose="02030600000101010101" pitchFamily="18" charset="-127"/>
                                <a:cs typeface="Times New Roman" panose="02020603050405020304" pitchFamily="18" charset="0"/>
                              </a:rPr>
                              <m:t>𝒙</m:t>
                            </m:r>
                            <m:r>
                              <a:rPr lang="en-US" b="1">
                                <a:effectLst/>
                                <a:latin typeface="Cambria Math" panose="02040503050406030204" pitchFamily="18" charset="0"/>
                                <a:ea typeface="Batang" panose="02030600000101010101" pitchFamily="18" charset="-127"/>
                                <a:cs typeface="Times New Roman" panose="02020603050405020304" pitchFamily="18" charset="0"/>
                              </a:rPr>
                              <m:t> = (</m:t>
                            </m:r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Batang" panose="02030600000101010101" pitchFamily="18" charset="-127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Batang" panose="02030600000101010101" pitchFamily="18" charset="-127"/>
                                <a:cs typeface="Times New Roman" panose="02020603050405020304" pitchFamily="18" charset="0"/>
                              </a:rPr>
                              <m:t>𝑓𝑜𝑟𝑤</m:t>
                            </m:r>
                          </m:sub>
                        </m:s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𝑢𝑝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, …, </m:t>
                    </m:r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𝑢𝑝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, </m:t>
                    </m:r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𝑑𝑜𝑤𝑛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,…,  </m:t>
                    </m:r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𝑑𝑜𝑤𝑛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</a:rPr>
                  <a:t> </a:t>
                </a:r>
                <a:endParaRPr lang="ru-RU" sz="1800" dirty="0">
                  <a:effectLst/>
                  <a:latin typeface="Times New Roman" panose="02020603050405020304" pitchFamily="18" charset="0"/>
                  <a:ea typeface="Batang" panose="02030600000101010101" pitchFamily="18" charset="-127"/>
                </a:endParaRPr>
              </a:p>
              <a:p>
                <a:pPr marL="0" indent="0">
                  <a:buNone/>
                </a:pPr>
                <a:endParaRPr lang="ru-RU" sz="1800" dirty="0">
                  <a:effectLst/>
                  <a:latin typeface="Times New Roman" panose="02020603050405020304" pitchFamily="18" charset="0"/>
                  <a:ea typeface="Batang" panose="02030600000101010101" pitchFamily="18" charset="-127"/>
                </a:endParaRP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64E57C-3730-54F2-8E96-EE8F1DBCB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024513" cy="4351338"/>
              </a:xfrm>
              <a:blipFill>
                <a:blip r:embed="rId2"/>
                <a:stretch>
                  <a:fillRect l="-1113" t="-560" r="-6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558AC-5394-2500-C8B2-19C49907D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020CDE3-09E3-B645-594C-E3B1221D1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434" y="1897752"/>
            <a:ext cx="5054729" cy="306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066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81D5-6E17-054C-EBB5-DA23ACD25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Генерация расчетной сетки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AB768-3565-148D-1700-2CDCA57F7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1260" cy="169057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Структурированная расчетная сетка автоматически перестраивается около новых геометрий 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5FE2B-CBA6-1D9B-5E56-4BDD66285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5BBA56-9334-9E14-4EE2-9E594E6F9F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7810" y="1155877"/>
            <a:ext cx="4245990" cy="25104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3878F9-6CD6-30FC-2651-5CAF1AC4F1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202"/>
          <a:stretch/>
        </p:blipFill>
        <p:spPr>
          <a:xfrm>
            <a:off x="7107810" y="3845898"/>
            <a:ext cx="4245992" cy="25104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EEF374-CF6A-18DA-C261-6020FD7CE59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12770"/>
            <a:ext cx="5302885" cy="3380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850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Проведение </a:t>
            </a:r>
            <a:r>
              <a:rPr lang="en-US" dirty="0"/>
              <a:t>CFD </a:t>
            </a:r>
            <a:r>
              <a:rPr lang="ru-RU" dirty="0"/>
              <a:t>расчета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2820"/>
                <a:ext cx="5930245" cy="4813529"/>
              </a:xfrm>
            </p:spPr>
            <p:txBody>
              <a:bodyPr>
                <a:normAutofit fontScale="92500"/>
              </a:bodyPr>
              <a:lstStyle/>
              <a:p>
                <a:r>
                  <a:rPr lang="ru-RU" dirty="0"/>
                  <a:t>Используется готовый </a:t>
                </a:r>
                <a:r>
                  <a:rPr lang="en-US" dirty="0"/>
                  <a:t>RANS</a:t>
                </a:r>
                <a:r>
                  <a:rPr lang="ru-RU" dirty="0"/>
                  <a:t> решатель</a:t>
                </a:r>
              </a:p>
              <a:p>
                <a:r>
                  <a:rPr lang="ru-RU" dirty="0"/>
                  <a:t>Модель турбулентности — </a:t>
                </a:r>
                <a:r>
                  <a:rPr lang="ru-RU" dirty="0" err="1"/>
                  <a:t>Спаларта-Аллмараса</a:t>
                </a:r>
                <a:r>
                  <a:rPr lang="ru-RU" dirty="0"/>
                  <a:t> </a:t>
                </a:r>
              </a:p>
              <a:p>
                <a:r>
                  <a:rPr lang="ru-RU" dirty="0"/>
                  <a:t>Для получения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𝐶</m:t>
                        </m:r>
                      </m:e>
                      <m:sub>
                        <m:r>
                          <a:rPr lang="en-US" i="1"/>
                          <m:t>𝑥𝑎</m:t>
                        </m:r>
                      </m:sub>
                    </m:sSub>
                  </m:oMath>
                </a14:m>
                <a:r>
                  <a:rPr lang="ru-RU" dirty="0"/>
                  <a:t> на заданном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𝑦𝑎</m:t>
                        </m:r>
                      </m:sub>
                      <m:sup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∗</m:t>
                        </m:r>
                      </m:sup>
                    </m:sSubSup>
                    <m:r>
                      <a:rPr lang="ru-RU" b="0" i="0" smtClean="0">
                        <a:effectLst/>
                        <a:latin typeface="Cambria Math" panose="02040503050406030204" pitchFamily="18" charset="0"/>
                        <a:ea typeface="Batang" panose="02030600000101010101" pitchFamily="18" charset="-127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dirty="0"/>
                  <a:t> в процессе  расчета подбирается угол атаки методом Ньютона</a:t>
                </a:r>
              </a:p>
              <a:p>
                <a:r>
                  <a:rPr lang="ru-RU" dirty="0"/>
                  <a:t>Для повышения устойчивости используется жесткое ограничение по числу итераций </a:t>
                </a:r>
              </a:p>
              <a:p>
                <a:r>
                  <a:rPr lang="ru-RU" dirty="0"/>
                  <a:t>Критерий остановки расчета: </a:t>
                </a:r>
              </a:p>
              <a:p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𝑦𝑎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𝑁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𝑦𝑎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𝑦𝑎</m:t>
                                      </m:r>
                                    </m:sub>
                                  </m:sSub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 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𝑦𝑎</m:t>
                                      </m:r>
                                    </m:sub>
                                  </m:sSub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𝐶𝑦𝑎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2820"/>
                <a:ext cx="5930245" cy="4813529"/>
              </a:xfrm>
              <a:blipFill>
                <a:blip r:embed="rId2"/>
                <a:stretch>
                  <a:fillRect l="-823" t="-633" r="-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297489-9D89-5BBE-17A8-8AB6C7C75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962" y="1274114"/>
            <a:ext cx="5439356" cy="45327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55F1-28A3-D0E9-067A-C3C32653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Валидация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3FE0A-5C04-5DD1-96C7-C590BB735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811" y="1690688"/>
            <a:ext cx="4506798" cy="4351338"/>
          </a:xfrm>
        </p:spPr>
        <p:txBody>
          <a:bodyPr/>
          <a:lstStyle/>
          <a:p>
            <a:r>
              <a:rPr lang="ru-RU" dirty="0"/>
              <a:t>Экспериментальные данные получены из сборника </a:t>
            </a:r>
            <a:r>
              <a:rPr lang="en-US" dirty="0"/>
              <a:t>AGARD-138 </a:t>
            </a:r>
          </a:p>
          <a:p>
            <a:r>
              <a:rPr lang="ru-RU" dirty="0"/>
              <a:t>Наблюдаются различия в положении скачка уплотнения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F1DE0-A55A-ECFA-1774-3F81826F7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F5AA2A8E-2B81-4773-A509-1D26F1A5327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4639742"/>
                  </p:ext>
                </p:extLst>
              </p:nvPr>
            </p:nvGraphicFramePr>
            <p:xfrm>
              <a:off x="5279011" y="1332249"/>
              <a:ext cx="6589334" cy="3782134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747991">
                      <a:extLst>
                        <a:ext uri="{9D8B030D-6E8A-4147-A177-3AD203B41FA5}">
                          <a16:colId xmlns:a16="http://schemas.microsoft.com/office/drawing/2014/main" val="1909829725"/>
                        </a:ext>
                      </a:extLst>
                    </a:gridCol>
                    <a:gridCol w="631491">
                      <a:extLst>
                        <a:ext uri="{9D8B030D-6E8A-4147-A177-3AD203B41FA5}">
                          <a16:colId xmlns:a16="http://schemas.microsoft.com/office/drawing/2014/main" val="4013337980"/>
                        </a:ext>
                      </a:extLst>
                    </a:gridCol>
                    <a:gridCol w="910276">
                      <a:extLst>
                        <a:ext uri="{9D8B030D-6E8A-4147-A177-3AD203B41FA5}">
                          <a16:colId xmlns:a16="http://schemas.microsoft.com/office/drawing/2014/main" val="3109334717"/>
                        </a:ext>
                      </a:extLst>
                    </a:gridCol>
                    <a:gridCol w="1227522">
                      <a:extLst>
                        <a:ext uri="{9D8B030D-6E8A-4147-A177-3AD203B41FA5}">
                          <a16:colId xmlns:a16="http://schemas.microsoft.com/office/drawing/2014/main" val="2388998122"/>
                        </a:ext>
                      </a:extLst>
                    </a:gridCol>
                    <a:gridCol w="1034844">
                      <a:extLst>
                        <a:ext uri="{9D8B030D-6E8A-4147-A177-3AD203B41FA5}">
                          <a16:colId xmlns:a16="http://schemas.microsoft.com/office/drawing/2014/main" val="1183830819"/>
                        </a:ext>
                      </a:extLst>
                    </a:gridCol>
                    <a:gridCol w="1037210">
                      <a:extLst>
                        <a:ext uri="{9D8B030D-6E8A-4147-A177-3AD203B41FA5}">
                          <a16:colId xmlns:a16="http://schemas.microsoft.com/office/drawing/2014/main" val="3983094739"/>
                        </a:ext>
                      </a:extLst>
                    </a:gridCol>
                  </a:tblGrid>
                  <a:tr h="977318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Рассматриваемый случай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M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Re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Целевой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000" i="1" baseline="-25000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𝑦𝑎</m:t>
                                  </m:r>
                                </m:sub>
                              </m:sSub>
                            </m:oMath>
                          </a14:m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AGARD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000" i="1" baseline="-25000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𝑥𝑎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0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RANS-SA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000" i="1" baseline="-25000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𝑥𝑎</m:t>
                                  </m:r>
                                </m:sub>
                              </m:sSub>
                            </m:oMath>
                          </a14:m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42438647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NACA0012 T1.10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.776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2370000</a:t>
                          </a:r>
                          <a:endParaRPr lang="en-US" sz="160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-0.020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0.0101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.0098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29835692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RAE 2822 Case 6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0.725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6500000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0.743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0.0127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0.0128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0212129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RAE 2822 Case 7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0.725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6500000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0.658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.0107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0.0104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3369545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RAE 2822 Case 10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0.75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6200000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0.743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0.0242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.0243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73529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F5AA2A8E-2B81-4773-A509-1D26F1A5327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4639742"/>
                  </p:ext>
                </p:extLst>
              </p:nvPr>
            </p:nvGraphicFramePr>
            <p:xfrm>
              <a:off x="5279011" y="1332249"/>
              <a:ext cx="6589334" cy="3782134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747991">
                      <a:extLst>
                        <a:ext uri="{9D8B030D-6E8A-4147-A177-3AD203B41FA5}">
                          <a16:colId xmlns:a16="http://schemas.microsoft.com/office/drawing/2014/main" val="1909829725"/>
                        </a:ext>
                      </a:extLst>
                    </a:gridCol>
                    <a:gridCol w="631491">
                      <a:extLst>
                        <a:ext uri="{9D8B030D-6E8A-4147-A177-3AD203B41FA5}">
                          <a16:colId xmlns:a16="http://schemas.microsoft.com/office/drawing/2014/main" val="4013337980"/>
                        </a:ext>
                      </a:extLst>
                    </a:gridCol>
                    <a:gridCol w="910276">
                      <a:extLst>
                        <a:ext uri="{9D8B030D-6E8A-4147-A177-3AD203B41FA5}">
                          <a16:colId xmlns:a16="http://schemas.microsoft.com/office/drawing/2014/main" val="3109334717"/>
                        </a:ext>
                      </a:extLst>
                    </a:gridCol>
                    <a:gridCol w="1227522">
                      <a:extLst>
                        <a:ext uri="{9D8B030D-6E8A-4147-A177-3AD203B41FA5}">
                          <a16:colId xmlns:a16="http://schemas.microsoft.com/office/drawing/2014/main" val="2388998122"/>
                        </a:ext>
                      </a:extLst>
                    </a:gridCol>
                    <a:gridCol w="1034844">
                      <a:extLst>
                        <a:ext uri="{9D8B030D-6E8A-4147-A177-3AD203B41FA5}">
                          <a16:colId xmlns:a16="http://schemas.microsoft.com/office/drawing/2014/main" val="1183830819"/>
                        </a:ext>
                      </a:extLst>
                    </a:gridCol>
                    <a:gridCol w="1037210">
                      <a:extLst>
                        <a:ext uri="{9D8B030D-6E8A-4147-A177-3AD203B41FA5}">
                          <a16:colId xmlns:a16="http://schemas.microsoft.com/office/drawing/2014/main" val="3983094739"/>
                        </a:ext>
                      </a:extLst>
                    </a:gridCol>
                  </a:tblGrid>
                  <a:tr h="977318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Рассматриваемый случай</a:t>
                          </a:r>
                          <a:endParaRPr lang="en-US" sz="16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M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Re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67822" t="-625" r="-169307" b="-2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7059" t="-625" r="-101176" b="-2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37059" t="-625" r="-1176" b="-29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42438647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NACA0012 T1.10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.776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2370000</a:t>
                          </a:r>
                          <a:endParaRPr lang="en-US" sz="160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-0.020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0.0101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.0098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29835692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RAE 2822 Case 6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0.725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6500000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0.743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0.0127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0.0128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0212129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RAE 2822 Case 7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0.725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6500000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0.658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.0107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0.0104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3369545"/>
                      </a:ext>
                    </a:extLst>
                  </a:tr>
                  <a:tr h="701204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RAE 2822 Case 10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0.75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6200000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0.743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en-US" sz="16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0.0242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en-US" sz="16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.0243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73529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486B8D6-C860-1FB8-2B67-DDB513B0B5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10" y="3667881"/>
            <a:ext cx="4506799" cy="268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48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5D3C-2E90-62BB-3129-47A37E5AD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Используемые методы оптимизации</a:t>
            </a:r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E6A0C-1E66-BF90-7F73-FDD89AA6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3482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решения задачи оптимизации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В работе проводится сопоставление трех алгоритмов:</a:t>
            </a:r>
          </a:p>
          <a:p>
            <a:r>
              <a:rPr lang="en-US" dirty="0"/>
              <a:t>Efficient Global Optimization, EGO — </a:t>
            </a:r>
            <a:r>
              <a:rPr lang="ru-RU" dirty="0"/>
              <a:t>глобальный метод на базе суррогатного моделирования</a:t>
            </a:r>
          </a:p>
          <a:p>
            <a:r>
              <a:rPr lang="en-US" dirty="0"/>
              <a:t>Conjugate Gradient, CG </a:t>
            </a:r>
            <a:r>
              <a:rPr lang="ru-RU" dirty="0"/>
              <a:t>— локальный поиск, численное вычисление производных</a:t>
            </a:r>
            <a:endParaRPr lang="en-US" dirty="0"/>
          </a:p>
          <a:p>
            <a:r>
              <a:rPr lang="en-US" dirty="0"/>
              <a:t>Mesh Adaptive Direct Search, MADS —</a:t>
            </a:r>
            <a:r>
              <a:rPr lang="ru-RU" dirty="0"/>
              <a:t> </a:t>
            </a:r>
            <a:r>
              <a:rPr lang="ru-RU" dirty="0" err="1"/>
              <a:t>безградиентный</a:t>
            </a:r>
            <a:r>
              <a:rPr lang="ru-RU" dirty="0"/>
              <a:t> метод, требующий значительных вычислительных затрат, но уточняющий оптимум в условиях шума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36BC0-DF2E-200B-9AD8-9CEA0C02E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Вычисление целевой функции в области вырожденных геометрий профилей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7B324F-2AC3-4F7E-F518-3BC25FBECA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9606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 случаях, когда невозможно вычисление целевой функции: </a:t>
                </a:r>
              </a:p>
              <a:p>
                <a:pPr marL="0" indent="0">
                  <a:buNone/>
                </a:pPr>
                <a:r>
                  <a:rPr lang="ru-RU" dirty="0"/>
                  <a:t>1. Профиль отображается на сетку из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точек:</a:t>
                </a:r>
              </a:p>
              <a:p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2. Выбирается некоторая референсная геометрия, для нее создается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1800" b="1" i="1">
                            <a:effectLst/>
                            <a:latin typeface="Cambria Math" panose="020405030504060302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rPr>
                          <m:t>𝒓𝒆𝒇</m:t>
                        </m:r>
                      </m:sub>
                    </m:sSub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3. В качестве функции возвращается штраф: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𝑏𝑎𝑠𝑒</m:t>
                          </m:r>
                        </m:sub>
                      </m:sSub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𝛾</m:t>
                      </m:r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⋅</m:t>
                      </m:r>
                      <m:r>
                        <m:rPr>
                          <m:lit/>
                        </m:rP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|</m:t>
                      </m:r>
                      <m:r>
                        <a:rPr lang="en-US" b="1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𝒓𝒆𝒇</m:t>
                          </m:r>
                        </m:sub>
                      </m:sSub>
                      <m:sSubSup>
                        <m:sSubSup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lit/>
                            </m:rP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|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𝑏𝑎𝑠𝑒</m:t>
                          </m:r>
                        </m:sub>
                      </m:sSub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Batang" panose="02030600000101010101" pitchFamily="18" charset="-127"/>
                          <a:cs typeface="Times New Roman" panose="02020603050405020304" pitchFamily="18" charset="0"/>
                        </a:rPr>
                        <m:t>𝛾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4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𝑟𝑒𝑓</m:t>
                                      </m:r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Batang" panose="02030600000101010101" pitchFamily="18" charset="-127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Batang" panose="02030600000101010101" pitchFamily="18" charset="-127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7B324F-2AC3-4F7E-F518-3BC25FBECA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96066"/>
              </a:xfrm>
              <a:blipFill>
                <a:blip r:embed="rId2"/>
                <a:stretch>
                  <a:fillRect l="-638" t="-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9E276-7904-AAD8-8FA6-8F49C5A0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449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5D3C-2E90-62BB-3129-47A37E5AD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Получение и анализ решений оптимизационной задачи</a:t>
            </a:r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E6A0C-1E66-BF90-7F73-FDD89AA6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946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8E1C8-6E1C-868F-325E-9FA8E2E6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Рассматриваемый случай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A8976D-9815-56D4-45B1-1A58487B62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>
                    <a:effectLst/>
                    <a:ea typeface="Batang" panose="02030600000101010101" pitchFamily="18" charset="-127"/>
                  </a:rPr>
                  <a:t>Задача оптимизации, сформулированная </a:t>
                </a:r>
                <a:r>
                  <a:rPr lang="ru-RU" dirty="0">
                    <a:ea typeface="Batang" panose="02030600000101010101" pitchFamily="18" charset="-127"/>
                  </a:rPr>
                  <a:t>ранее,</a:t>
                </a:r>
                <a:r>
                  <a:rPr lang="ru-RU" dirty="0">
                    <a:effectLst/>
                    <a:ea typeface="Batang" panose="02030600000101010101" pitchFamily="18" charset="-127"/>
                  </a:rPr>
                  <a:t> решалась для следующего случая: </a:t>
                </a:r>
                <a:endParaRPr lang="en-US" dirty="0">
                  <a:effectLst/>
                  <a:ea typeface="Batang" panose="02030600000101010101" pitchFamily="18" charset="-127"/>
                </a:endParaRPr>
              </a:p>
              <a:p>
                <a:r>
                  <a:rPr lang="en-US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M</a:t>
                </a:r>
                <a:r>
                  <a:rPr lang="ru-RU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 = 0.75</a:t>
                </a:r>
                <a:endParaRPr lang="en-US" dirty="0">
                  <a:effectLst/>
                  <a:latin typeface="Times New Roman" panose="02020603050405020304" pitchFamily="18" charset="0"/>
                  <a:ea typeface="Batang" panose="02030600000101010101" pitchFamily="18" charset="-127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Re</a:t>
                </a:r>
                <a:r>
                  <a:rPr lang="ru-RU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 = 6500000</a:t>
                </a:r>
                <a:endParaRPr lang="en-US" dirty="0">
                  <a:latin typeface="Times New Roman" panose="02020603050405020304" pitchFamily="18" charset="0"/>
                  <a:ea typeface="Batang" panose="02030600000101010101" pitchFamily="18" charset="-127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T</a:t>
                </a:r>
                <a:r>
                  <a:rPr lang="ru-RU" baseline="-25000" dirty="0" err="1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стат</a:t>
                </a:r>
                <a:r>
                  <a:rPr lang="ru-RU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 = 300К </a:t>
                </a:r>
                <a:endParaRPr lang="en-US" dirty="0">
                  <a:effectLst/>
                  <a:latin typeface="Times New Roman" panose="02020603050405020304" pitchFamily="18" charset="0"/>
                  <a:ea typeface="Batang" panose="02030600000101010101" pitchFamily="18" charset="-127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L</a:t>
                </a:r>
                <a:r>
                  <a:rPr lang="ru-RU" dirty="0">
                    <a:effectLst/>
                    <a:latin typeface="Times New Roman" panose="02020603050405020304" pitchFamily="18" charset="0"/>
                    <a:ea typeface="Batang" panose="02030600000101010101" pitchFamily="18" charset="-127"/>
                    <a:cs typeface="Times New Roman" panose="02020603050405020304" pitchFamily="18" charset="0"/>
                  </a:rPr>
                  <a:t> = 1 м</a:t>
                </a:r>
                <a:endParaRPr lang="en-US" dirty="0">
                  <a:effectLst/>
                  <a:latin typeface="Times New Roman" panose="02020603050405020304" pitchFamily="18" charset="0"/>
                  <a:ea typeface="Batang" panose="02030600000101010101" pitchFamily="18" charset="-127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𝑚𝑖𝑛</m:t>
                        </m:r>
                      </m:sub>
                    </m:sSub>
                    <m:r>
                      <a:rPr lang="ru-RU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= 12%</m:t>
                    </m:r>
                  </m:oMath>
                </a14:m>
                <a:endParaRPr lang="en-US" dirty="0">
                  <a:effectLst/>
                  <a:latin typeface="Times New Roman" panose="02020603050405020304" pitchFamily="18" charset="0"/>
                  <a:ea typeface="Batang" panose="02030600000101010101" pitchFamily="18" charset="-127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/>
                  <a:t>В качестве базового профиля выбран </a:t>
                </a:r>
                <a:r>
                  <a:rPr lang="en-US" dirty="0"/>
                  <a:t>RAE2822,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𝑥𝑎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 0.0107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A8976D-9815-56D4-45B1-1A58487B62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38" t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5348B-8691-56CF-D649-C9FF96C9E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4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Зависимость результата от числа параметров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7DA214AE-2EE8-9F31-EE3D-FE6E8E53E49A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3994093530"/>
                  </p:ext>
                </p:extLst>
              </p:nvPr>
            </p:nvGraphicFramePr>
            <p:xfrm>
              <a:off x="838200" y="4875270"/>
              <a:ext cx="10624795" cy="148108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157024">
                      <a:extLst>
                        <a:ext uri="{9D8B030D-6E8A-4147-A177-3AD203B41FA5}">
                          <a16:colId xmlns:a16="http://schemas.microsoft.com/office/drawing/2014/main" val="1790887075"/>
                        </a:ext>
                      </a:extLst>
                    </a:gridCol>
                    <a:gridCol w="1521401">
                      <a:extLst>
                        <a:ext uri="{9D8B030D-6E8A-4147-A177-3AD203B41FA5}">
                          <a16:colId xmlns:a16="http://schemas.microsoft.com/office/drawing/2014/main" val="2158480875"/>
                        </a:ext>
                      </a:extLst>
                    </a:gridCol>
                    <a:gridCol w="1640794">
                      <a:extLst>
                        <a:ext uri="{9D8B030D-6E8A-4147-A177-3AD203B41FA5}">
                          <a16:colId xmlns:a16="http://schemas.microsoft.com/office/drawing/2014/main" val="4256473660"/>
                        </a:ext>
                      </a:extLst>
                    </a:gridCol>
                    <a:gridCol w="1768146">
                      <a:extLst>
                        <a:ext uri="{9D8B030D-6E8A-4147-A177-3AD203B41FA5}">
                          <a16:colId xmlns:a16="http://schemas.microsoft.com/office/drawing/2014/main" val="3840875199"/>
                        </a:ext>
                      </a:extLst>
                    </a:gridCol>
                    <a:gridCol w="1769284">
                      <a:extLst>
                        <a:ext uri="{9D8B030D-6E8A-4147-A177-3AD203B41FA5}">
                          <a16:colId xmlns:a16="http://schemas.microsoft.com/office/drawing/2014/main" val="2208184394"/>
                        </a:ext>
                      </a:extLst>
                    </a:gridCol>
                    <a:gridCol w="1768146">
                      <a:extLst>
                        <a:ext uri="{9D8B030D-6E8A-4147-A177-3AD203B41FA5}">
                          <a16:colId xmlns:a16="http://schemas.microsoft.com/office/drawing/2014/main" val="1020957086"/>
                        </a:ext>
                      </a:extLst>
                    </a:gridCol>
                  </a:tblGrid>
                  <a:tr h="736363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Число параметров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3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1)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5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2)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7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3)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9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4)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11</a:t>
                          </a:r>
                          <a:r>
                            <a:rPr lang="en-US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  </a:t>
                          </a: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5)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93895701"/>
                      </a:ext>
                    </a:extLst>
                  </a:tr>
                  <a:tr h="744717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Оптимальный</a:t>
                          </a: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400" i="1" baseline="-25000">
                                      <a:effectLst/>
                                      <a:latin typeface="Cambria Math" panose="02040503050406030204" pitchFamily="18" charset="0"/>
                                      <a:ea typeface="Batang" panose="02030600000101010101" pitchFamily="18" charset="-127"/>
                                      <a:cs typeface="Times New Roman" panose="02020603050405020304" pitchFamily="18" charset="0"/>
                                    </a:rPr>
                                    <m:t>𝑥𝑎</m:t>
                                  </m:r>
                                </m:sub>
                              </m:sSub>
                            </m:oMath>
                          </a14:m>
                          <a:endParaRPr lang="en-US" sz="24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0.0168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0.00997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0.00964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0.00977</a:t>
                          </a:r>
                          <a:endParaRPr lang="en-US" sz="180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0.0967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8001336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7DA214AE-2EE8-9F31-EE3D-FE6E8E53E49A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3994093530"/>
                  </p:ext>
                </p:extLst>
              </p:nvPr>
            </p:nvGraphicFramePr>
            <p:xfrm>
              <a:off x="838200" y="4875270"/>
              <a:ext cx="10624795" cy="148108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157024">
                      <a:extLst>
                        <a:ext uri="{9D8B030D-6E8A-4147-A177-3AD203B41FA5}">
                          <a16:colId xmlns:a16="http://schemas.microsoft.com/office/drawing/2014/main" val="1790887075"/>
                        </a:ext>
                      </a:extLst>
                    </a:gridCol>
                    <a:gridCol w="1521401">
                      <a:extLst>
                        <a:ext uri="{9D8B030D-6E8A-4147-A177-3AD203B41FA5}">
                          <a16:colId xmlns:a16="http://schemas.microsoft.com/office/drawing/2014/main" val="2158480875"/>
                        </a:ext>
                      </a:extLst>
                    </a:gridCol>
                    <a:gridCol w="1640794">
                      <a:extLst>
                        <a:ext uri="{9D8B030D-6E8A-4147-A177-3AD203B41FA5}">
                          <a16:colId xmlns:a16="http://schemas.microsoft.com/office/drawing/2014/main" val="4256473660"/>
                        </a:ext>
                      </a:extLst>
                    </a:gridCol>
                    <a:gridCol w="1768146">
                      <a:extLst>
                        <a:ext uri="{9D8B030D-6E8A-4147-A177-3AD203B41FA5}">
                          <a16:colId xmlns:a16="http://schemas.microsoft.com/office/drawing/2014/main" val="3840875199"/>
                        </a:ext>
                      </a:extLst>
                    </a:gridCol>
                    <a:gridCol w="1769284">
                      <a:extLst>
                        <a:ext uri="{9D8B030D-6E8A-4147-A177-3AD203B41FA5}">
                          <a16:colId xmlns:a16="http://schemas.microsoft.com/office/drawing/2014/main" val="2208184394"/>
                        </a:ext>
                      </a:extLst>
                    </a:gridCol>
                    <a:gridCol w="1768146">
                      <a:extLst>
                        <a:ext uri="{9D8B030D-6E8A-4147-A177-3AD203B41FA5}">
                          <a16:colId xmlns:a16="http://schemas.microsoft.com/office/drawing/2014/main" val="1020957086"/>
                        </a:ext>
                      </a:extLst>
                    </a:gridCol>
                  </a:tblGrid>
                  <a:tr h="736363"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Число параметров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3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1)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5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2)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7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3)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9 (</a:t>
                          </a:r>
                          <a:r>
                            <a:rPr lang="en-US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4)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11</a:t>
                          </a:r>
                          <a:r>
                            <a:rPr lang="en-US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  </a:t>
                          </a: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N = 5)</a:t>
                          </a: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93895701"/>
                      </a:ext>
                    </a:extLst>
                  </a:tr>
                  <a:tr h="7447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82" t="-99187" r="-393220" b="-16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0.0168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0.00997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0.00964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0.00977</a:t>
                          </a:r>
                          <a:endParaRPr lang="en-US" sz="180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just">
                            <a:lnSpc>
                              <a:spcPct val="150000"/>
                            </a:lnSpc>
                            <a:spcBef>
                              <a:spcPts val="600"/>
                            </a:spcBef>
                            <a:spcAft>
                              <a:spcPts val="600"/>
                            </a:spcAft>
                          </a:pPr>
                          <a:r>
                            <a:rPr lang="ru-RU" sz="1800" dirty="0">
                              <a:effectLst/>
                              <a:latin typeface="Times New Roman" panose="02020603050405020304" pitchFamily="18" charset="0"/>
                              <a:ea typeface="Batang" panose="02030600000101010101" pitchFamily="18" charset="-127"/>
                              <a:cs typeface="Times New Roman" panose="02020603050405020304" pitchFamily="18" charset="0"/>
                            </a:rPr>
                            <a:t>0.0967</a:t>
                          </a:r>
                          <a:endParaRPr lang="en-US" sz="1800" dirty="0">
                            <a:effectLst/>
                            <a:latin typeface="Times New Roman" panose="02020603050405020304" pitchFamily="18" charset="0"/>
                            <a:ea typeface="Batang" panose="02030600000101010101" pitchFamily="18" charset="-127"/>
                            <a:cs typeface="Times New Roman" panose="02020603050405020304" pitchFamily="18" charset="0"/>
                          </a:endParaRPr>
                        </a:p>
                      </a:txBody>
                      <a:tcPr marL="59890" marR="59890" marT="0" marB="0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80013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6A42CE-7D64-5158-84EB-30B057CC30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0788" y="1813271"/>
            <a:ext cx="5852207" cy="29394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4856EC-2F71-7319-EFFE-ACD939F2E70B}"/>
              </a:ext>
            </a:extLst>
          </p:cNvPr>
          <p:cNvSpPr txBox="1"/>
          <p:nvPr/>
        </p:nvSpPr>
        <p:spPr>
          <a:xfrm>
            <a:off x="729005" y="1982729"/>
            <a:ext cx="488178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Использовался 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CG</a:t>
            </a: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 с стартом от симметричного профиля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Показано, что в данной постановке достаточно  7 параметров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Efficient global optimization  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618235"/>
            <a:ext cx="5553075" cy="4351655"/>
          </a:xfrm>
        </p:spPr>
        <p:txBody>
          <a:bodyPr>
            <a:normAutofit/>
          </a:bodyPr>
          <a:lstStyle/>
          <a:p>
            <a:r>
              <a:rPr lang="ru-RU" altLang="en-US" dirty="0"/>
              <a:t>Для соблюдения ограничений использовалась штрафная функция</a:t>
            </a:r>
          </a:p>
          <a:p>
            <a:r>
              <a:rPr lang="ru-RU" altLang="en-US" dirty="0"/>
              <a:t>При построении первичной модели необходимо </a:t>
            </a:r>
            <a:r>
              <a:rPr lang="en-US" altLang="ru-RU" dirty="0"/>
              <a:t>10*N </a:t>
            </a:r>
            <a:r>
              <a:rPr lang="ru-RU" altLang="ru-RU" dirty="0"/>
              <a:t>корректных точек </a:t>
            </a:r>
          </a:p>
          <a:p>
            <a:r>
              <a:rPr lang="ru-RU" altLang="en-US" dirty="0"/>
              <a:t>Сходится к различным решениям в зависимости от начальной выборки</a:t>
            </a:r>
          </a:p>
          <a:p>
            <a:pPr marL="0" indent="0">
              <a:buNone/>
            </a:pPr>
            <a:r>
              <a:rPr lang="ru-RU" altLang="en-US" dirty="0"/>
              <a:t>Алгоритм находил суперкритический профиль, но не делал его достаточно тонким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C8D730-CE60-8B76-1B8B-B584459329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251" y="1087436"/>
            <a:ext cx="4362450" cy="26174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7FB563-30E3-48F3-1D93-4F70F4C58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251" y="3704907"/>
            <a:ext cx="4362452" cy="2617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B14CE-5B52-7D05-162E-93F0AA528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Efficient global optimization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F17B4E-FC10-807F-BF3D-05514FD1D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151FB4-5140-175C-9C3C-2489B1D86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845" y="2028509"/>
            <a:ext cx="5939155" cy="3543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AF02A3-A3EF-64A3-4989-9BF1F53C23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14" y="2538124"/>
            <a:ext cx="5560201" cy="252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536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BB6C-C974-F3A4-ED65-5CC772135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88225" cy="1325563"/>
          </a:xfrm>
        </p:spPr>
        <p:txBody>
          <a:bodyPr/>
          <a:lstStyle/>
          <a:p>
            <a:r>
              <a:rPr lang="ru-RU" dirty="0"/>
              <a:t>EGO c выдерживанием толщины методом зависимой точки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32F28-5E04-E073-EDCC-6759278AD9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06800" cy="4351338"/>
          </a:xfrm>
        </p:spPr>
        <p:txBody>
          <a:bodyPr/>
          <a:lstStyle/>
          <a:p>
            <a:r>
              <a:rPr lang="ru-RU" dirty="0"/>
              <a:t>Сужение пространства поиска</a:t>
            </a:r>
          </a:p>
          <a:p>
            <a:r>
              <a:rPr lang="ru-RU" dirty="0"/>
              <a:t>Одна  из  точек обеспечивает строгое выдерживание толщины </a:t>
            </a:r>
          </a:p>
          <a:p>
            <a:pPr marL="0" indent="0">
              <a:buNone/>
            </a:pPr>
            <a:r>
              <a:rPr lang="ru-RU" dirty="0"/>
              <a:t>Такой подход к выдерживанию ограничений ускоряет сходимость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27A46D-2F08-DEAE-985F-4E261B4F6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95283E-CF30-7EDC-25E6-C73101BF8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8588" y="3750601"/>
            <a:ext cx="4657627" cy="28215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2365A0-9AE8-FC0D-8F31-7B72EE744C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602" y="1825625"/>
            <a:ext cx="5591284" cy="333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314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9286188" cy="1325563"/>
          </a:xfrm>
        </p:spPr>
        <p:txBody>
          <a:bodyPr/>
          <a:lstStyle/>
          <a:p>
            <a:r>
              <a:rPr lang="ru-RU" altLang="en-US" dirty="0" err="1"/>
              <a:t>Мультимодальность</a:t>
            </a:r>
            <a:r>
              <a:rPr lang="ru-RU" altLang="en-US" dirty="0"/>
              <a:t> функции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2004695"/>
            <a:ext cx="5044126" cy="4351655"/>
          </a:xfrm>
        </p:spPr>
        <p:txBody>
          <a:bodyPr>
            <a:normAutofit/>
          </a:bodyPr>
          <a:lstStyle/>
          <a:p>
            <a:r>
              <a:rPr lang="ru-RU" altLang="en-US" dirty="0"/>
              <a:t>Используется связка </a:t>
            </a:r>
            <a:r>
              <a:rPr lang="en-US" altLang="en-US" dirty="0"/>
              <a:t>CG </a:t>
            </a:r>
            <a:r>
              <a:rPr lang="ru-RU" altLang="en-US" dirty="0"/>
              <a:t>и</a:t>
            </a:r>
            <a:r>
              <a:rPr lang="en-US" altLang="en-US" dirty="0"/>
              <a:t> MADS</a:t>
            </a:r>
          </a:p>
          <a:p>
            <a:r>
              <a:rPr lang="ru-RU" altLang="en-US" dirty="0"/>
              <a:t>При различных стартовых точках (симметричный профиль, результат работы  </a:t>
            </a:r>
            <a:r>
              <a:rPr lang="en-US" altLang="en-US" dirty="0"/>
              <a:t>EGO, </a:t>
            </a:r>
            <a:r>
              <a:rPr lang="ru-RU" altLang="en-US" dirty="0"/>
              <a:t>подобранный профиль) получен значительно разный результат</a:t>
            </a:r>
          </a:p>
          <a:p>
            <a:r>
              <a:rPr lang="ru-RU" altLang="en-US" dirty="0"/>
              <a:t>В данной постановке задача не является унимодальной. Это осложняет оценку качества результатов</a:t>
            </a:r>
          </a:p>
          <a:p>
            <a:pPr marL="0" indent="0">
              <a:buNone/>
            </a:pPr>
            <a:endParaRPr lang="ru-RU" altLang="en-US" dirty="0"/>
          </a:p>
          <a:p>
            <a:pPr marL="0" indent="0">
              <a:buNone/>
            </a:pPr>
            <a:endParaRPr lang="ru-RU" alt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BCC24D-FAF7-8978-992D-9DD2570DC2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26"/>
          <a:stretch/>
        </p:blipFill>
        <p:spPr bwMode="auto">
          <a:xfrm>
            <a:off x="6090501" y="2289175"/>
            <a:ext cx="5943600" cy="227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E29E7-C741-F506-FE0A-0D6BA3590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Лучшее полученное решение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4D2D4A-141C-142B-09CF-747230B7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3023F0-B9DE-015E-7B6D-2D2336822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445" y="2097839"/>
            <a:ext cx="5620775" cy="33529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3AE8B6-7B91-1131-36F9-7853CD2B0F1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994" b="5944"/>
          <a:stretch/>
        </p:blipFill>
        <p:spPr bwMode="auto">
          <a:xfrm>
            <a:off x="6131190" y="2097839"/>
            <a:ext cx="5769365" cy="335299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790350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7500" lnSpcReduction="10000"/>
              </a:bodyPr>
              <a:lstStyle/>
              <a:p>
                <a:r>
                  <a:rPr lang="ru-RU" dirty="0"/>
                  <a:t>Создан программный комплекс для оптимизации формы летательного аппарата на основе решения уравнений Рейнольдса</a:t>
                </a:r>
              </a:p>
              <a:p>
                <a:r>
                  <a:rPr lang="ru-RU" dirty="0"/>
                  <a:t>Установлено, что для решения задачи достаточно 6 проектных параметров</a:t>
                </a:r>
              </a:p>
              <a:p>
                <a:r>
                  <a:rPr lang="ru-RU" dirty="0"/>
                  <a:t>Проведен анализ различных методов решения и способов постановки ограничений</a:t>
                </a:r>
              </a:p>
              <a:p>
                <a:r>
                  <a:rPr lang="ru-RU" dirty="0"/>
                  <a:t>Предложен и использован штраф на основе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нормы в пространстве профилей</a:t>
                </a:r>
              </a:p>
              <a:p>
                <a:r>
                  <a:rPr lang="ru-RU" sz="2200" dirty="0"/>
                  <a:t>Получен профиль с </a:t>
                </a:r>
                <a:r>
                  <a:rPr lang="ru-RU" sz="2200" dirty="0" err="1"/>
                  <a:t>бесскачковым</a:t>
                </a:r>
                <a:r>
                  <a:rPr lang="ru-RU" sz="2200" dirty="0"/>
                  <a:t> обтеканием. В сравнении с базовым профилем RAE 2822 сопротивление снижено на 12%</a:t>
                </a:r>
              </a:p>
              <a:p>
                <a:r>
                  <a:rPr lang="ru-RU" dirty="0"/>
                  <a:t>Возможные направления развития:</a:t>
                </a:r>
              </a:p>
              <a:p>
                <a:pPr marL="0" indent="0">
                  <a:buNone/>
                </a:pPr>
                <a:r>
                  <a:rPr lang="ru-RU" dirty="0"/>
                  <a:t>	1) Решение трехмерной задачи </a:t>
                </a:r>
              </a:p>
              <a:p>
                <a:pPr marL="0" indent="0">
                  <a:buNone/>
                </a:pPr>
                <a:r>
                  <a:rPr lang="ru-RU" dirty="0"/>
                  <a:t>	2) Многокритериальная оптимизация </a:t>
                </a:r>
              </a:p>
              <a:p>
                <a:pPr marL="0" indent="0">
                  <a:buNone/>
                </a:pPr>
                <a:r>
                  <a:rPr lang="ru-RU" dirty="0"/>
                  <a:t>	3) Введение альтернативных способов параметризации, учитывающих конструкционные ограничения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638" t="-1210" b="-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2250</TotalTime>
  <Words>876</Words>
  <Application>Microsoft Office PowerPoint</Application>
  <PresentationFormat>Widescreen</PresentationFormat>
  <Paragraphs>189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Batang</vt:lpstr>
      <vt:lpstr>Arial</vt:lpstr>
      <vt:lpstr>Calibri</vt:lpstr>
      <vt:lpstr>Cambria Math</vt:lpstr>
      <vt:lpstr>Segoe UI</vt:lpstr>
      <vt:lpstr>Times New Roman</vt:lpstr>
      <vt:lpstr>Тема Office</vt:lpstr>
      <vt:lpstr>Оптимизация аэродинамической формы летательного аппарата на основе решения уравнений Рейнольдса</vt:lpstr>
      <vt:lpstr>Содержание </vt:lpstr>
      <vt:lpstr>Цель и задачи</vt:lpstr>
      <vt:lpstr>Актуальность и обзор проблемы</vt:lpstr>
      <vt:lpstr>Личный вклад</vt:lpstr>
      <vt:lpstr>1. Постановка задачи и методология  </vt:lpstr>
      <vt:lpstr>Постановка задачи</vt:lpstr>
      <vt:lpstr>Геометрическая параметризация</vt:lpstr>
      <vt:lpstr>Генерация расчетной сетки</vt:lpstr>
      <vt:lpstr>Проведение CFD расчета</vt:lpstr>
      <vt:lpstr>Валидация</vt:lpstr>
      <vt:lpstr>2. Используемые методы оптимизации </vt:lpstr>
      <vt:lpstr>Методы решения задачи оптимизации</vt:lpstr>
      <vt:lpstr>Вычисление целевой функции в области вырожденных геометрий профилей</vt:lpstr>
      <vt:lpstr>3. Получение и анализ решений оптимизационной задачи </vt:lpstr>
      <vt:lpstr>Рассматриваемый случай</vt:lpstr>
      <vt:lpstr>Зависимость результата от числа параметров </vt:lpstr>
      <vt:lpstr>Efficient global optimization  </vt:lpstr>
      <vt:lpstr>Efficient global optimization </vt:lpstr>
      <vt:lpstr>EGO c выдерживанием толщины методом зависимой точки </vt:lpstr>
      <vt:lpstr>Мультимодальность функции</vt:lpstr>
      <vt:lpstr>Лучшее полученное решение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Andrey Savelyev</dc:creator>
  <cp:lastModifiedBy>Владимир Черных</cp:lastModifiedBy>
  <cp:revision>24</cp:revision>
  <dcterms:created xsi:type="dcterms:W3CDTF">2025-06-09T19:51:00Z</dcterms:created>
  <dcterms:modified xsi:type="dcterms:W3CDTF">2026-06-25T11:21:25Z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BACF7E7CFC754C888CF39B229274FA6A_12</vt:lpwstr>
  </property>
  <property fmtid="{D5CDD505-2E9C-101B-9397-08002B2CF9AE}" pid="3" name="KSOProductBuildVer">
    <vt:lpwstr>1033-12.2.0.23196</vt:lpwstr>
  </property>
</Properties>
</file>