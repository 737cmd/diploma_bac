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58" r:id="rId4"/>
    <p:sldId id="270" r:id="rId5"/>
    <p:sldId id="271" r:id="rId6"/>
    <p:sldId id="262" r:id="rId7"/>
    <p:sldId id="272" r:id="rId8"/>
    <p:sldId id="263" r:id="rId9"/>
    <p:sldId id="273" r:id="rId10"/>
    <p:sldId id="274" r:id="rId11"/>
    <p:sldId id="275" r:id="rId12"/>
    <p:sldId id="276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A7797-00FD-4366-A7DD-DDB70299F94B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E35E0A-4247-4819-B9AA-855A9160BAD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2D2F9-902E-45BE-B09B-749FE4E7C635}" type="datetime1">
              <a:rPr lang="en-US" smtClean="0"/>
              <a:t>5/25/2026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B4562-EE48-46C3-92EF-5FADBBFDBB53}" type="datetime1">
              <a:rPr lang="en-US" smtClean="0"/>
              <a:t>5/25/2026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0E3C8-8A0E-4E15-B33E-2B4AD00BB11C}" type="datetime1">
              <a:rPr lang="en-US" smtClean="0"/>
              <a:t>5/25/2026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60939-686C-479D-AFE8-70FB7B5470C6}" type="datetime1">
              <a:rPr lang="en-US" smtClean="0"/>
              <a:t>5/25/2026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B2C66-1229-40FD-AD20-409E946D1EFB}" type="datetime1">
              <a:rPr lang="en-US" smtClean="0"/>
              <a:t>5/25/2026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ECC4-00A1-4167-A353-C60DC9153C89}" type="datetime1">
              <a:rPr lang="en-US" smtClean="0"/>
              <a:t>5/25/2026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8EC25-9B44-4513-B83C-731E1DF7EE1E}" type="datetime1">
              <a:rPr lang="en-US" smtClean="0"/>
              <a:t>5/25/2026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191C-7F42-454F-981D-7608BB1425BD}" type="datetime1">
              <a:rPr lang="en-US" smtClean="0"/>
              <a:t>5/25/2026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77AD-DDFE-411A-9C3A-6AEEBBEF769B}" type="datetime1">
              <a:rPr lang="en-US" smtClean="0"/>
              <a:t>5/25/2026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4809F-93B5-4C67-BCEE-6C99C20201B7}" type="datetime1">
              <a:rPr lang="en-US" smtClean="0"/>
              <a:t>5/25/2026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322FC-41C7-4131-A9A8-0AE44A257B23}" type="datetime1">
              <a:rPr lang="en-US" smtClean="0"/>
              <a:t>5/25/2026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2713C367-EA95-4C52-817B-FE24C877FAE9}" type="datetime1">
              <a:rPr lang="en-US" smtClean="0"/>
              <a:t>5/25/2026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39D93D24-9446-4BD4-975C-09DCDF7E205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7500" y="83573"/>
            <a:ext cx="1546996" cy="100965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3999" y="1642511"/>
            <a:ext cx="9144000" cy="1786489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ru-RU" sz="4000" dirty="0"/>
              <a:t>Оптимизация аэродинамической формы летательного аппарата на основе решения уравнений Рейнольдса</a:t>
            </a:r>
            <a:endParaRPr lang="en-US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15886" y="3900973"/>
            <a:ext cx="9760226" cy="1655762"/>
          </a:xfrm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ru-RU" sz="1800" dirty="0"/>
              <a:t>Направление подготовки: 03.03.01 Прикладные математика и физика</a:t>
            </a:r>
          </a:p>
          <a:p>
            <a:pPr algn="r">
              <a:lnSpc>
                <a:spcPct val="100000"/>
              </a:lnSpc>
            </a:pPr>
            <a:r>
              <a:rPr lang="ru-RU" sz="1800" dirty="0"/>
              <a:t>Студент: Черных Владимир Владимирович</a:t>
            </a:r>
          </a:p>
          <a:p>
            <a:pPr algn="r"/>
            <a:r>
              <a:rPr lang="ru-RU" sz="1800" dirty="0"/>
              <a:t>Научный руководитель: д.ф.-м.н. Судаков Виталий Георгиевич</a:t>
            </a:r>
            <a:endParaRPr lang="en-US" sz="1800" dirty="0"/>
          </a:p>
        </p:txBody>
      </p:sp>
      <p:sp>
        <p:nvSpPr>
          <p:cNvPr id="5" name="TextBox 4"/>
          <p:cNvSpPr txBox="1"/>
          <p:nvPr/>
        </p:nvSpPr>
        <p:spPr>
          <a:xfrm>
            <a:off x="2932057" y="6216073"/>
            <a:ext cx="63278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Кафедра аэрофизики и летательных аппаратов ПИШ ФАЛТ МФТИ</a:t>
            </a:r>
          </a:p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Жуковский, 2026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Оптимизация формы ЛА на основе </a:t>
            </a:r>
            <a:r>
              <a:rPr lang="en-US" dirty="0"/>
              <a:t>CFD </a:t>
            </a:r>
            <a:r>
              <a:rPr lang="ru-RU" dirty="0"/>
              <a:t>переживает бурный рост</a:t>
            </a:r>
          </a:p>
          <a:p>
            <a:r>
              <a:rPr lang="ru-RU" dirty="0"/>
              <a:t>Использование решателей </a:t>
            </a:r>
            <a:r>
              <a:rPr lang="en-US" dirty="0"/>
              <a:t>RANS </a:t>
            </a:r>
            <a:r>
              <a:rPr lang="ru-RU" dirty="0"/>
              <a:t>сопряжено с дороговизной вычислений</a:t>
            </a:r>
          </a:p>
          <a:p>
            <a:r>
              <a:rPr lang="ru-RU" dirty="0"/>
              <a:t>Актуальна проблема поиска глобального минимума </a:t>
            </a:r>
          </a:p>
          <a:p>
            <a:r>
              <a:rPr lang="ru-RU" dirty="0"/>
              <a:t>Шум целевой функции усложняет поиск</a:t>
            </a:r>
          </a:p>
          <a:p>
            <a:r>
              <a:rPr lang="ru-RU" dirty="0"/>
              <a:t>Конструкционные ограничения усложняют топологию пространства решений</a:t>
            </a:r>
          </a:p>
          <a:p>
            <a:r>
              <a:rPr lang="ru-RU" dirty="0"/>
              <a:t>Для современного проектирования летательных аппаратов необходимы автоматизированные комплексы, обладающие устойчивостью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ru-RU" b="1" dirty="0"/>
              <a:t>Цель</a:t>
            </a:r>
            <a:r>
              <a:rPr lang="ru-RU" dirty="0"/>
              <a:t> — </a:t>
            </a:r>
            <a:r>
              <a:rPr lang="ru-RU" sz="2000" dirty="0"/>
              <a:t>разработка и применение вычислительного комплекса оптимизации формы летательного аппарата на примере минимизации аэродинамического сопротивления профиля в трансзвуковом потоке</a:t>
            </a:r>
          </a:p>
          <a:p>
            <a:pPr marL="0" indent="0">
              <a:buNone/>
            </a:pPr>
            <a:r>
              <a:rPr lang="ru-RU" b="1" dirty="0"/>
              <a:t>Задачи: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Анализ существующих подходов к оптимизации аэродинамических профилей 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Создание программного кода автоматизированного расчетного комплекса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Сравнительный анализ методов поиска и способов постановки задач с ограничениями</a:t>
            </a:r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Личный вклад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Создан программный код для параметризации, построения сетки, управления расчетом, оптимизации и обработки результатов  </a:t>
            </a:r>
          </a:p>
          <a:p>
            <a:r>
              <a:rPr lang="ru-RU" dirty="0"/>
              <a:t>Проведена валидация и верификация расчетного метода</a:t>
            </a:r>
          </a:p>
          <a:p>
            <a:r>
              <a:rPr lang="ru-RU" dirty="0"/>
              <a:t>Проверены различные способы постановки ограничений </a:t>
            </a:r>
          </a:p>
          <a:p>
            <a:r>
              <a:rPr lang="ru-RU" dirty="0"/>
              <a:t>Различными методами получен набор решений оптимизационной задачи с установленной точностью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Задача — при заданном режиме обтекания и </a:t>
            </a:r>
            <a:r>
              <a:rPr lang="en-US" dirty="0"/>
              <a:t>C</a:t>
            </a:r>
            <a:r>
              <a:rPr lang="en-US" baseline="-25000" dirty="0"/>
              <a:t>ya</a:t>
            </a:r>
            <a:r>
              <a:rPr lang="en-US" dirty="0"/>
              <a:t> </a:t>
            </a:r>
            <a:r>
              <a:rPr lang="ru-RU" dirty="0"/>
              <a:t>найти профиль с минимальным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удовлетворяющий ограничениям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Режим обтекания: </a:t>
            </a:r>
            <a:r>
              <a:rPr lang="en-US" dirty="0"/>
              <a:t>M, Re, T, </a:t>
            </a:r>
            <a:endParaRPr lang="ru-RU" dirty="0"/>
          </a:p>
          <a:p>
            <a:r>
              <a:rPr lang="ru-RU" dirty="0"/>
              <a:t>Параметризация формы с помощью кривых Безье </a:t>
            </a:r>
          </a:p>
          <a:p>
            <a:r>
              <a:rPr lang="ru-RU" dirty="0"/>
              <a:t>Результат оценивался по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скорости выполнения алгоритма и его устойчивости</a:t>
            </a:r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6AF2F9-5F65-5C51-40C6-52232F4B6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0" y="2520927"/>
            <a:ext cx="4495800" cy="18161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решения задачи оптимизации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Надежной работы удалось достигнуть с использованием алгоритмов </a:t>
            </a:r>
            <a:r>
              <a:rPr lang="en-US" dirty="0"/>
              <a:t>EGO, CG, MADS</a:t>
            </a:r>
          </a:p>
          <a:p>
            <a:r>
              <a:rPr lang="en-US" dirty="0"/>
              <a:t>EGO — </a:t>
            </a:r>
            <a:r>
              <a:rPr lang="ru-RU" dirty="0"/>
              <a:t>глобальная оптимизация на основе суррогатного моделирования </a:t>
            </a:r>
          </a:p>
          <a:p>
            <a:r>
              <a:rPr lang="en-US" dirty="0"/>
              <a:t>CG —</a:t>
            </a:r>
            <a:r>
              <a:rPr lang="ru-RU" dirty="0"/>
              <a:t> градиентный локальный метод </a:t>
            </a:r>
          </a:p>
          <a:p>
            <a:r>
              <a:rPr lang="en-US" dirty="0"/>
              <a:t>MADS —</a:t>
            </a:r>
            <a:r>
              <a:rPr lang="ru-RU" dirty="0"/>
              <a:t> </a:t>
            </a:r>
            <a:r>
              <a:rPr lang="ru-RU" dirty="0" err="1"/>
              <a:t>безградиентный</a:t>
            </a:r>
            <a:r>
              <a:rPr lang="ru-RU" dirty="0"/>
              <a:t> метод, эффективный в условиях сильного влияния шума</a:t>
            </a:r>
          </a:p>
          <a:p>
            <a:r>
              <a:rPr lang="ru-RU" dirty="0"/>
              <a:t>На начальном этапе использовалась реализация </a:t>
            </a:r>
            <a:r>
              <a:rPr lang="en-US" dirty="0"/>
              <a:t>CG </a:t>
            </a:r>
            <a:r>
              <a:rPr lang="ru-RU" dirty="0"/>
              <a:t>из библиотеки </a:t>
            </a:r>
            <a:r>
              <a:rPr lang="en-US" dirty="0" err="1"/>
              <a:t>scipy.optimize</a:t>
            </a:r>
            <a:r>
              <a:rPr lang="en-US" dirty="0"/>
              <a:t>, </a:t>
            </a:r>
            <a:r>
              <a:rPr lang="ru-RU" dirty="0"/>
              <a:t>в дальнейшем использовалась </a:t>
            </a:r>
            <a:r>
              <a:rPr lang="en-US" dirty="0"/>
              <a:t>DAKOTA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</a:t>
            </a:r>
            <a:r>
              <a:rPr lang="en-US" dirty="0"/>
              <a:t>CFD</a:t>
            </a:r>
            <a:r>
              <a:rPr lang="ru-RU" dirty="0"/>
              <a:t> для получения целевой функции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356350" cy="435133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Использовался промышленный </a:t>
            </a:r>
            <a:r>
              <a:rPr lang="en-US" dirty="0"/>
              <a:t>RANS </a:t>
            </a:r>
            <a:r>
              <a:rPr lang="ru-RU" dirty="0"/>
              <a:t>решатель</a:t>
            </a:r>
          </a:p>
          <a:p>
            <a:r>
              <a:rPr lang="ru-RU" dirty="0"/>
              <a:t>Для минимизации влияния сетки написан скрипт автоматического построения структурированной сетки около профиля </a:t>
            </a:r>
          </a:p>
          <a:p>
            <a:r>
              <a:rPr lang="ru-RU" dirty="0"/>
              <a:t>Проведена валидация и анализ сеточной сходимости</a:t>
            </a:r>
          </a:p>
          <a:p>
            <a:r>
              <a:rPr lang="ru-RU" dirty="0"/>
              <a:t>Валидация на случае </a:t>
            </a:r>
            <a:r>
              <a:rPr lang="en-US" dirty="0"/>
              <a:t>RAE2822, </a:t>
            </a:r>
            <a:r>
              <a:rPr lang="ru-RU" dirty="0"/>
              <a:t>разница с ним в дальнейшем использовалась в качестве бенчмарка </a:t>
            </a:r>
          </a:p>
          <a:p>
            <a:r>
              <a:rPr lang="ru-RU" dirty="0"/>
              <a:t>Модель турбулентности — </a:t>
            </a:r>
            <a:r>
              <a:rPr lang="en-US" dirty="0"/>
              <a:t>SA</a:t>
            </a:r>
            <a:endParaRPr lang="ru-RU" dirty="0"/>
          </a:p>
          <a:p>
            <a:r>
              <a:rPr lang="ru-RU" dirty="0"/>
              <a:t>Для повышения устойчивости используется жесткое ограничение по числу итераций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6D5553-F95A-8F5C-2DC6-A11E64765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7100" y="1614488"/>
            <a:ext cx="4479290" cy="2390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E2EFA7-D248-0D29-95BC-0C17B3610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395" y="4075731"/>
            <a:ext cx="3822700" cy="22806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Зависимость результата от числа параметров 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Профиль параметризовался двумя кривыми Безье</a:t>
            </a:r>
          </a:p>
          <a:p>
            <a:r>
              <a:rPr lang="ru-RU" dirty="0"/>
              <a:t>Вектор параметров</a:t>
            </a:r>
            <a:r>
              <a:rPr lang="en-US" altLang="ru-RU" dirty="0"/>
              <a:t>:</a:t>
            </a:r>
          </a:p>
          <a:p>
            <a:pPr marL="0" indent="0">
              <a:buNone/>
            </a:pPr>
            <a:r>
              <a:rPr lang="en-US" altLang="ru-RU" b="1" dirty="0"/>
              <a:t>x</a:t>
            </a:r>
            <a:r>
              <a:rPr lang="en-US" altLang="ru-RU" dirty="0"/>
              <a:t> =</a:t>
            </a:r>
            <a:r>
              <a:rPr lang="ru-RU" dirty="0"/>
              <a:t> </a:t>
            </a:r>
            <a:r>
              <a:rPr lang="en-US" dirty="0"/>
              <a:t>[R</a:t>
            </a:r>
            <a:r>
              <a:rPr lang="en-US" baseline="-25000" dirty="0"/>
              <a:t>forw</a:t>
            </a:r>
            <a:r>
              <a:rPr lang="en-US" dirty="0"/>
              <a:t>, P</a:t>
            </a:r>
            <a:r>
              <a:rPr lang="en-US" baseline="-25000" dirty="0"/>
              <a:t>u1</a:t>
            </a:r>
            <a:r>
              <a:rPr lang="en-US" dirty="0"/>
              <a:t>,..., P</a:t>
            </a:r>
            <a:r>
              <a:rPr lang="en-US" baseline="-25000" dirty="0"/>
              <a:t>uN</a:t>
            </a:r>
            <a:r>
              <a:rPr lang="en-US" dirty="0"/>
              <a:t>, P</a:t>
            </a:r>
            <a:r>
              <a:rPr lang="en-US" baseline="-25000" dirty="0"/>
              <a:t>d1</a:t>
            </a:r>
            <a:r>
              <a:rPr lang="en-US" dirty="0"/>
              <a:t>, ..., </a:t>
            </a:r>
            <a:r>
              <a:rPr lang="el-GR" dirty="0"/>
              <a:t>θ</a:t>
            </a:r>
            <a:r>
              <a:rPr lang="ru-RU" baseline="-25000" dirty="0" err="1"/>
              <a:t>схожд</a:t>
            </a:r>
            <a:r>
              <a:rPr lang="en-US" dirty="0"/>
              <a:t>]</a:t>
            </a:r>
          </a:p>
          <a:p>
            <a:r>
              <a:rPr lang="ru-RU" altLang="en-US" dirty="0"/>
              <a:t>Проверка проводилась методом </a:t>
            </a:r>
            <a:r>
              <a:rPr lang="en-US" altLang="en-US" dirty="0"/>
              <a:t>CG </a:t>
            </a:r>
            <a:r>
              <a:rPr lang="ru-RU" altLang="en-US" dirty="0"/>
              <a:t>при старте от симметричного профиля </a:t>
            </a:r>
          </a:p>
          <a:p>
            <a:r>
              <a:rPr lang="ru-RU" dirty="0"/>
              <a:t>Для режима </a:t>
            </a:r>
            <a:r>
              <a:rPr lang="en-US" dirty="0"/>
              <a:t>M = 0.75, C</a:t>
            </a:r>
            <a:r>
              <a:rPr lang="en-US" baseline="-25000" dirty="0"/>
              <a:t>ya</a:t>
            </a:r>
            <a:r>
              <a:rPr lang="en-US" dirty="0"/>
              <a:t>= 0.5 </a:t>
            </a:r>
            <a:r>
              <a:rPr lang="ru-RU" dirty="0"/>
              <a:t>оптимальная форма</a:t>
            </a:r>
            <a:r>
              <a:rPr lang="ru-RU" altLang="en-US" dirty="0"/>
              <a:t> достигается уже при </a:t>
            </a:r>
            <a:r>
              <a:rPr lang="en-US" altLang="en-US" dirty="0"/>
              <a:t>N = 3 </a:t>
            </a:r>
            <a:r>
              <a:rPr lang="ru-RU" altLang="en-US" dirty="0"/>
              <a:t> (7 параметров)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6A42CE-7D64-5158-84EB-30B057CC3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462" y="2315745"/>
            <a:ext cx="5024638" cy="25237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 сопряженных градиентов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/>
          <a:lstStyle/>
          <a:p>
            <a:r>
              <a:rPr lang="en-US" dirty="0"/>
              <a:t>CG</a:t>
            </a:r>
            <a:r>
              <a:rPr lang="ru-RU" altLang="en-US" dirty="0"/>
              <a:t>: быстрый локальный метод </a:t>
            </a:r>
          </a:p>
          <a:p>
            <a:r>
              <a:rPr lang="ru-RU" dirty="0"/>
              <a:t>Для численного вычисления</a:t>
            </a:r>
            <a:r>
              <a:rPr lang="ru-RU" altLang="en-US" dirty="0"/>
              <a:t> градиента определен шаг по нормализованной переменной, равный 0.005</a:t>
            </a:r>
          </a:p>
          <a:p>
            <a:r>
              <a:rPr lang="ru-RU" altLang="en-US" dirty="0"/>
              <a:t>При </a:t>
            </a:r>
            <a:r>
              <a:rPr lang="en-US" altLang="en-US" dirty="0"/>
              <a:t>N = 3 </a:t>
            </a:r>
            <a:r>
              <a:rPr lang="ru-RU" altLang="en-US" dirty="0"/>
              <a:t>получен </a:t>
            </a:r>
            <a:r>
              <a:rPr lang="en-US" altLang="en-US" dirty="0"/>
              <a:t>C</a:t>
            </a:r>
            <a:r>
              <a:rPr lang="en-US" altLang="en-US" baseline="-25000" dirty="0"/>
              <a:t>xa</a:t>
            </a:r>
            <a:r>
              <a:rPr lang="en-US" altLang="en-US" dirty="0"/>
              <a:t> = 0.</a:t>
            </a:r>
            <a:r>
              <a:rPr lang="ru-RU" altLang="en-US" dirty="0"/>
              <a:t>00964</a:t>
            </a:r>
            <a:r>
              <a:rPr lang="en-US" altLang="en-US" dirty="0"/>
              <a:t>, ∆</a:t>
            </a:r>
            <a:r>
              <a:rPr lang="en-US" altLang="en-US" dirty="0" err="1"/>
              <a:t>C</a:t>
            </a:r>
            <a:r>
              <a:rPr lang="en-US" altLang="en-US" baseline="-25000" dirty="0" err="1"/>
              <a:t>xa</a:t>
            </a:r>
            <a:r>
              <a:rPr lang="en-US" altLang="en-US" baseline="-25000" dirty="0"/>
              <a:t> </a:t>
            </a:r>
            <a:r>
              <a:rPr lang="en-US" altLang="en-US" dirty="0"/>
              <a:t>= 0.00116 (10%)</a:t>
            </a:r>
            <a:endParaRPr lang="ru-RU" altLang="en-US" dirty="0"/>
          </a:p>
          <a:p>
            <a:r>
              <a:rPr lang="ru-RU" altLang="en-US" dirty="0"/>
              <a:t>Штрафная функция на толщину показывает результат хуже, чем вытягивание профиля до нужной толщины </a:t>
            </a:r>
            <a:r>
              <a:rPr lang="en-US" altLang="en-US" dirty="0"/>
              <a:t>(0.5%)</a:t>
            </a:r>
            <a:endParaRPr lang="ru-RU" altLang="en-US" dirty="0"/>
          </a:p>
          <a:p>
            <a:r>
              <a:rPr lang="ru-RU" altLang="en-US" dirty="0"/>
              <a:t>Вытягивание создает локальные минимумы 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88A952-2CD3-282D-8E16-DBEF394A99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293" y="1318413"/>
            <a:ext cx="4508507" cy="27051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37EF1E-EE27-1B4B-1EE8-A97D4FD68A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098" y="4001452"/>
            <a:ext cx="3886821" cy="2354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Efficient global optimisation  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Метод, основанный на суррогатном моделировании </a:t>
            </a:r>
          </a:p>
          <a:p>
            <a:r>
              <a:rPr lang="ru-RU" altLang="en-US" dirty="0"/>
              <a:t>Ставит проблему нефизичных геометрий </a:t>
            </a:r>
          </a:p>
          <a:p>
            <a:r>
              <a:rPr lang="ru-RU" altLang="en-US" dirty="0"/>
              <a:t>Для борьбы предложено использовать штраф: </a:t>
            </a:r>
            <a:r>
              <a:rPr lang="en-US" altLang="en-US" dirty="0"/>
              <a:t>L2-</a:t>
            </a:r>
            <a:r>
              <a:rPr lang="ru-RU" altLang="en-US" dirty="0"/>
              <a:t>норму расстояния в пространстве параметров до физичного профиля</a:t>
            </a:r>
          </a:p>
          <a:p>
            <a:r>
              <a:rPr lang="ru-RU" altLang="en-US" dirty="0"/>
              <a:t>При построении первичной модели необходимо достаточно </a:t>
            </a:r>
            <a:r>
              <a:rPr lang="en-US" altLang="ru-RU" dirty="0"/>
              <a:t>(N(N+1), 10*N) </a:t>
            </a:r>
            <a:r>
              <a:rPr lang="ru-RU" altLang="ru-RU" dirty="0"/>
              <a:t>физичных точек</a:t>
            </a:r>
            <a:endParaRPr lang="ru-RU" altLang="en-US" dirty="0"/>
          </a:p>
          <a:p>
            <a:pPr marL="0" indent="0">
              <a:buNone/>
            </a:pPr>
            <a:r>
              <a:rPr lang="ru-RU" altLang="en-US" dirty="0"/>
              <a:t>Основной проблемой было то, что алгоритм находил суперкритический профиль, но не делал его достаточно тонким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C8D730-CE60-8B76-1B8B-B584459329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251" y="1087436"/>
            <a:ext cx="4362450" cy="26174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7FB563-30E3-48F3-1D93-4F70F4C58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251" y="3704907"/>
            <a:ext cx="4362452" cy="261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dirty="0"/>
              <a:t>Модификация параметризации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>
            <a:normAutofit/>
          </a:bodyPr>
          <a:lstStyle/>
          <a:p>
            <a:r>
              <a:rPr lang="ru-RU" dirty="0"/>
              <a:t>Предлагается использовать </a:t>
            </a:r>
            <a:r>
              <a:rPr lang="en-US" altLang="ru-RU" dirty="0"/>
              <a:t>2N </a:t>
            </a:r>
            <a:r>
              <a:rPr lang="ru-RU" altLang="ru-RU" dirty="0"/>
              <a:t>параметров, вариацией точки на верхней или нижней поверхности добиваясь нужной толщины</a:t>
            </a:r>
            <a:endParaRPr lang="ru-RU" dirty="0"/>
          </a:p>
          <a:p>
            <a:r>
              <a:rPr lang="ru-RU" altLang="en-US" dirty="0"/>
              <a:t>Для </a:t>
            </a:r>
            <a:r>
              <a:rPr lang="en-US" altLang="en-US" dirty="0"/>
              <a:t>EGO </a:t>
            </a:r>
            <a:r>
              <a:rPr lang="ru-RU" altLang="en-US" dirty="0"/>
              <a:t>данный способ на 6% улучшил результат при сравнительном времени работы </a:t>
            </a:r>
          </a:p>
          <a:p>
            <a:r>
              <a:rPr lang="ru-RU" dirty="0"/>
              <a:t>Вопрос выбора конкретной точки и влияния на другие методы изучается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D0B779-6417-B75C-65D9-B54B103D5E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501" y="1266190"/>
            <a:ext cx="4305299" cy="2583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F935C2-A3FB-0D09-B3D8-AEEBD939E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0495" y="3968835"/>
            <a:ext cx="4543305" cy="2752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dirty="0"/>
              <a:t>Гибридный метод 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>
            <a:normAutofit/>
          </a:bodyPr>
          <a:lstStyle/>
          <a:p>
            <a:r>
              <a:rPr lang="ru-RU" dirty="0"/>
              <a:t>Наилучшего результата удалось достичь при последовательном использовании нескольких методов: </a:t>
            </a:r>
            <a:r>
              <a:rPr lang="en-US" dirty="0"/>
              <a:t>EGO, CG, MADS</a:t>
            </a:r>
          </a:p>
          <a:p>
            <a:r>
              <a:rPr lang="en-US" dirty="0"/>
              <a:t>C</a:t>
            </a:r>
            <a:r>
              <a:rPr lang="en-US" baseline="-25000" dirty="0"/>
              <a:t>xa</a:t>
            </a:r>
            <a:r>
              <a:rPr lang="en-US" dirty="0"/>
              <a:t> = 0.0096</a:t>
            </a:r>
            <a:r>
              <a:rPr lang="ru-RU" dirty="0"/>
              <a:t>2</a:t>
            </a:r>
            <a:endParaRPr lang="ru-RU" altLang="en-US" dirty="0"/>
          </a:p>
          <a:p>
            <a:r>
              <a:rPr lang="en-US" altLang="ru-RU" dirty="0"/>
              <a:t>MADS </a:t>
            </a:r>
            <a:r>
              <a:rPr lang="ru-RU" altLang="en-US" dirty="0"/>
              <a:t>применяется на конечном этапе в условиях сильного шума около оптимума</a:t>
            </a:r>
          </a:p>
          <a:p>
            <a:pPr marL="0" indent="0">
              <a:buNone/>
            </a:pPr>
            <a:endParaRPr lang="ru-RU" altLang="en-US" dirty="0"/>
          </a:p>
          <a:p>
            <a:pPr marL="0" indent="0">
              <a:buNone/>
            </a:pPr>
            <a:endParaRPr lang="ru-RU" alt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8C1A8F-63A4-6745-2DE1-9FE8EAAFA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275" y="1690688"/>
            <a:ext cx="5251585" cy="338197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10000"/>
          </a:bodyPr>
          <a:lstStyle/>
          <a:p>
            <a:r>
              <a:rPr lang="ru-RU" dirty="0"/>
              <a:t>Создан программный комплекс для оптимизации формы летательного аппарата на основе </a:t>
            </a:r>
            <a:r>
              <a:rPr lang="en-US" dirty="0"/>
              <a:t>CFD </a:t>
            </a:r>
            <a:r>
              <a:rPr lang="ru-RU" altLang="en-US" dirty="0"/>
              <a:t>расчетов</a:t>
            </a:r>
            <a:endParaRPr lang="ru-RU" dirty="0"/>
          </a:p>
          <a:p>
            <a:r>
              <a:rPr lang="ru-RU" dirty="0"/>
              <a:t>Проведена апробация на примере профильной задачи</a:t>
            </a:r>
          </a:p>
          <a:p>
            <a:r>
              <a:rPr lang="ru-RU" dirty="0"/>
              <a:t>В предложенной модифицированной параметризации для достижения результата в пределах точности метода достаточно 6 параметров</a:t>
            </a:r>
          </a:p>
          <a:p>
            <a:r>
              <a:rPr lang="ru-RU" dirty="0"/>
              <a:t>Предложено использовать гибридный метод, включающий в себя последовательное переключение между методами </a:t>
            </a:r>
            <a:endParaRPr lang="en-US" dirty="0"/>
          </a:p>
          <a:p>
            <a:r>
              <a:rPr lang="ru-RU" dirty="0"/>
              <a:t>Возможные направления развития:</a:t>
            </a:r>
          </a:p>
          <a:p>
            <a:pPr marL="0" indent="0">
              <a:buNone/>
            </a:pPr>
            <a:r>
              <a:rPr lang="ru-RU" dirty="0"/>
              <a:t>	1) Решение трехмерной задачи </a:t>
            </a:r>
          </a:p>
          <a:p>
            <a:pPr marL="0" indent="0">
              <a:buNone/>
            </a:pPr>
            <a:r>
              <a:rPr lang="ru-RU" dirty="0"/>
              <a:t>	2) Многокритериальная оптимизация </a:t>
            </a:r>
          </a:p>
          <a:p>
            <a:pPr marL="0" indent="0">
              <a:buNone/>
            </a:pPr>
            <a:r>
              <a:rPr lang="ru-RU" dirty="0"/>
              <a:t>	3) Введение альтернативных способов параметризации, учитывающих конструкционные ограничения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670</Words>
  <Application>Microsoft Office PowerPoint</Application>
  <PresentationFormat>Widescreen</PresentationFormat>
  <Paragraphs>94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Тема Office</vt:lpstr>
      <vt:lpstr>Оптимизация аэродинамической формы летательного аппарата на основе решения уравнений Рейнольдса</vt:lpstr>
      <vt:lpstr>Актуальность</vt:lpstr>
      <vt:lpstr>Цель и задачи</vt:lpstr>
      <vt:lpstr>Личный вклад</vt:lpstr>
      <vt:lpstr>Постановка задачи</vt:lpstr>
      <vt:lpstr>Методы решения задачи оптимизации</vt:lpstr>
      <vt:lpstr>Работа CFD для получения целевой функции</vt:lpstr>
      <vt:lpstr>Зависимость результата от числа параметров </vt:lpstr>
      <vt:lpstr>Метод сопряженных градиентов</vt:lpstr>
      <vt:lpstr>Efficient global optimisation  </vt:lpstr>
      <vt:lpstr>Модификация параметризации</vt:lpstr>
      <vt:lpstr>Гибридный метод 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Andrey Savelyev</dc:creator>
  <cp:lastModifiedBy>Владимир Черных</cp:lastModifiedBy>
  <cp:revision>19</cp:revision>
  <dcterms:created xsi:type="dcterms:W3CDTF">2025-06-09T19:51:00Z</dcterms:created>
  <dcterms:modified xsi:type="dcterms:W3CDTF">2026-05-25T07:15:12Z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BACF7E7CFC754C888CF39B229274FA6A_12</vt:lpwstr>
  </property>
  <property fmtid="{D5CDD505-2E9C-101B-9397-08002B2CF9AE}" pid="3" name="KSOProductBuildVer">
    <vt:lpwstr>1033-12.2.0.23196</vt:lpwstr>
  </property>
</Properties>
</file>