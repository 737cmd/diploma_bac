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96" r:id="rId3"/>
    <p:sldId id="257" r:id="rId4"/>
    <p:sldId id="283" r:id="rId5"/>
    <p:sldId id="295" r:id="rId6"/>
    <p:sldId id="297" r:id="rId7"/>
    <p:sldId id="298" r:id="rId8"/>
    <p:sldId id="259" r:id="rId9"/>
    <p:sldId id="260" r:id="rId10"/>
    <p:sldId id="300" r:id="rId11"/>
    <p:sldId id="262" r:id="rId12"/>
    <p:sldId id="301" r:id="rId13"/>
    <p:sldId id="268" r:id="rId14"/>
    <p:sldId id="286" r:id="rId15"/>
    <p:sldId id="273" r:id="rId16"/>
    <p:sldId id="272" r:id="rId17"/>
    <p:sldId id="274" r:id="rId18"/>
    <p:sldId id="284" r:id="rId19"/>
    <p:sldId id="293" r:id="rId20"/>
    <p:sldId id="276" r:id="rId21"/>
    <p:sldId id="278" r:id="rId22"/>
    <p:sldId id="279" r:id="rId23"/>
    <p:sldId id="280" r:id="rId24"/>
    <p:sldId id="281" r:id="rId25"/>
    <p:sldId id="282" r:id="rId26"/>
    <p:sldId id="302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33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68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CFECF-56E2-4ED8-B080-1052559E44A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15F93-07EA-4323-82FD-7E2B9FD706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774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7CB1F-79CE-4913-89E9-185B416F886A}" type="datetime1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6356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057491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3FDEC-834B-4F0D-BDEA-6A3D89BE7C49}" type="datetime1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95691" y="474323"/>
            <a:ext cx="2021989" cy="75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04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D89C-0AAE-40DA-A781-6D8009B0045A}" type="datetime1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95691" y="474323"/>
            <a:ext cx="2021989" cy="75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46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057491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04E-A9BE-480D-8B96-C1D573A5BBAB}" type="datetime1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95691" y="474323"/>
            <a:ext cx="2021989" cy="75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59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9055903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924-5FF4-4040-8294-453D4EC7A65F}" type="datetime1">
              <a:rPr lang="ru-RU" smtClean="0"/>
              <a:t>23.05.2026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95691" y="474323"/>
            <a:ext cx="2021989" cy="75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899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057491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FBACD-2B68-419F-B335-8A4237FA4061}" type="datetime1">
              <a:rPr lang="ru-RU" smtClean="0"/>
              <a:t>23.05.2026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‹#›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95691" y="474323"/>
            <a:ext cx="2021989" cy="75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53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2C4C-29F9-4886-AEAA-F1BA578B5EA6}" type="datetime1">
              <a:rPr lang="ru-RU" smtClean="0"/>
              <a:t>23.05.2026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‹#›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95691" y="474323"/>
            <a:ext cx="2021989" cy="75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7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1D716-03F1-422D-AE87-4E2194DB9A3D}" type="datetime1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95691" y="474323"/>
            <a:ext cx="2021989" cy="75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52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7C250-98C2-4501-840C-EDFE4B6F54DA}" type="datetime1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95691" y="474323"/>
            <a:ext cx="2021989" cy="75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10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057491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AA1E9-9602-4F7B-962F-A62D5FD3D693}" type="datetime1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95691" y="474323"/>
            <a:ext cx="2021989" cy="75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399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FA40-B0C8-4797-B08E-CD576EEEE7DE}" type="datetime1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95691" y="474323"/>
            <a:ext cx="2021989" cy="75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38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AF4E2-BDBA-4A21-A9E2-571356E45B1A}" type="datetime1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Мастер-класс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EDB4E-F691-43FC-84CA-E8FB1611D7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80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42416" y="2633473"/>
            <a:ext cx="9887712" cy="1473598"/>
          </a:xfrm>
        </p:spPr>
        <p:txBody>
          <a:bodyPr>
            <a:noAutofit/>
          </a:bodyPr>
          <a:lstStyle/>
          <a:p>
            <a:r>
              <a:rPr lang="ru-RU" sz="3400" dirty="0"/>
              <a:t>Оптимизация аэродинамической формы летательного аппарата на основе решения уравнений Рейнольдса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91336" y="5260192"/>
            <a:ext cx="9144000" cy="815923"/>
          </a:xfrm>
        </p:spPr>
        <p:txBody>
          <a:bodyPr>
            <a:normAutofit/>
          </a:bodyPr>
          <a:lstStyle/>
          <a:p>
            <a:r>
              <a:rPr lang="ru-RU" sz="2000" dirty="0"/>
              <a:t>Черных Владимир Владимирович</a:t>
            </a:r>
          </a:p>
          <a:p>
            <a:r>
              <a:rPr lang="ru-RU" sz="2000" dirty="0"/>
              <a:t>Научный руководитель: д.ф.-м.н. Судаков В. Г.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0" y="920133"/>
            <a:ext cx="2901489" cy="1079354"/>
          </a:xfrm>
          <a:prstGeom prst="rect">
            <a:avLst/>
          </a:prstGeom>
        </p:spPr>
      </p:pic>
      <p:sp>
        <p:nvSpPr>
          <p:cNvPr id="9" name="Подзаголовок 2"/>
          <p:cNvSpPr txBox="1">
            <a:spLocks/>
          </p:cNvSpPr>
          <p:nvPr/>
        </p:nvSpPr>
        <p:spPr>
          <a:xfrm>
            <a:off x="1291336" y="4446235"/>
            <a:ext cx="9144000" cy="7457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Направление подготовки: </a:t>
            </a:r>
            <a:r>
              <a:rPr lang="en-US" b="0" i="0" dirty="0">
                <a:solidFill>
                  <a:srgbClr val="000000"/>
                </a:solidFill>
                <a:effectLst/>
                <a:latin typeface="ALSAhner"/>
              </a:rPr>
              <a:t>03.03.01</a:t>
            </a:r>
          </a:p>
          <a:p>
            <a:r>
              <a:rPr lang="ru-RU" dirty="0"/>
              <a:t>«Прикладная математика и физика»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948680-9008-6019-4FAD-2CE1401950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236" y="781884"/>
            <a:ext cx="3315044" cy="135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44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2642" y="161018"/>
            <a:ext cx="9057491" cy="1325563"/>
          </a:xfrm>
        </p:spPr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625928" y="1507218"/>
            <a:ext cx="8487592" cy="4351338"/>
          </a:xfrm>
        </p:spPr>
        <p:txBody>
          <a:bodyPr>
            <a:normAutofit/>
          </a:bodyPr>
          <a:lstStyle/>
          <a:p>
            <a:pPr>
              <a:buSzPct val="90000"/>
            </a:pPr>
            <a:r>
              <a:rPr lang="ru-RU" dirty="0"/>
              <a:t> Введение</a:t>
            </a:r>
          </a:p>
          <a:p>
            <a:pPr>
              <a:buSzPct val="90000"/>
            </a:pPr>
            <a:r>
              <a:rPr lang="ru-RU" dirty="0"/>
              <a:t> 1. Постановка задачи оптимизации и обзор методов</a:t>
            </a:r>
          </a:p>
          <a:p>
            <a:pPr>
              <a:buSzPct val="90000"/>
            </a:pPr>
            <a:r>
              <a:rPr lang="ru-RU" dirty="0"/>
              <a:t> 2. Моделирование обтекания на основе </a:t>
            </a:r>
            <a:r>
              <a:rPr lang="en-US" dirty="0"/>
              <a:t>RANS</a:t>
            </a:r>
            <a:endParaRPr lang="ru-RU" dirty="0"/>
          </a:p>
          <a:p>
            <a:pPr>
              <a:buSzPct val="90000"/>
            </a:pPr>
            <a:r>
              <a:rPr lang="ru-RU" dirty="0"/>
              <a:t> 3. Решение задачи и анализ результатов</a:t>
            </a:r>
          </a:p>
          <a:p>
            <a:pPr>
              <a:buSzPct val="90000"/>
            </a:pPr>
            <a:r>
              <a:rPr lang="ru-RU" dirty="0"/>
              <a:t> Заключение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3FDEC-834B-4F0D-BDEA-6A3D89BE7C49}" type="datetime1">
              <a:rPr lang="ru-RU" smtClean="0"/>
              <a:t>23.05.2026</a:t>
            </a:fld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322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67157"/>
            <a:ext cx="9057491" cy="1325563"/>
          </a:xfrm>
        </p:spPr>
        <p:txBody>
          <a:bodyPr>
            <a:normAutofit/>
          </a:bodyPr>
          <a:lstStyle/>
          <a:p>
            <a:r>
              <a:rPr lang="ru-RU" sz="3600" dirty="0"/>
              <a:t>Цели и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420586"/>
            <a:ext cx="8982457" cy="4756377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ru-RU" sz="1800" b="1" dirty="0"/>
              <a:t>Цель</a:t>
            </a:r>
            <a:r>
              <a:rPr lang="ru-RU" sz="1800" dirty="0"/>
              <a:t> работы –  разработка и применение вычислительного комплекса оптимизации формы летательного аппарата на примере минимизации аэродинамического сопротивления профиля в трансзвуковом потоке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ru-RU" sz="1800" b="1" dirty="0"/>
              <a:t>Задачи</a:t>
            </a:r>
            <a:r>
              <a:rPr lang="ru-RU" sz="1800" dirty="0"/>
              <a:t> работы</a:t>
            </a:r>
            <a:r>
              <a:rPr lang="en-US" sz="1800" dirty="0"/>
              <a:t>:</a:t>
            </a:r>
            <a:endParaRPr lang="ru-RU" sz="1800" dirty="0"/>
          </a:p>
          <a:p>
            <a:pPr>
              <a:lnSpc>
                <a:spcPct val="170000"/>
              </a:lnSpc>
            </a:pPr>
            <a:r>
              <a:rPr lang="ru-RU" sz="1800" dirty="0"/>
              <a:t>Анализ существующих подходов к оптимизации аэродинамических профилей </a:t>
            </a:r>
          </a:p>
          <a:p>
            <a:pPr>
              <a:lnSpc>
                <a:spcPct val="170000"/>
              </a:lnSpc>
            </a:pPr>
            <a:r>
              <a:rPr lang="ru-RU" sz="1800" dirty="0"/>
              <a:t>Создание программного кода автоматизированного расчетного комплекса</a:t>
            </a:r>
          </a:p>
          <a:p>
            <a:pPr>
              <a:lnSpc>
                <a:spcPct val="170000"/>
              </a:lnSpc>
            </a:pPr>
            <a:r>
              <a:rPr lang="ru-RU" sz="1800" dirty="0"/>
              <a:t>Сравнительный анализ методов поиска и способов постановки задач с ограничениями</a:t>
            </a:r>
          </a:p>
          <a:p>
            <a:pPr marL="0" indent="0">
              <a:buNone/>
            </a:pPr>
            <a:endParaRPr lang="ru-RU" sz="180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E39-79AB-42A0-8B95-4C3932998836}" type="datetime1">
              <a:rPr lang="ru-RU" smtClean="0"/>
              <a:t>23.05.2026</a:t>
            </a:fld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375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6756" y="185517"/>
            <a:ext cx="9057491" cy="1325563"/>
          </a:xfrm>
        </p:spPr>
        <p:txBody>
          <a:bodyPr>
            <a:normAutofit/>
          </a:bodyPr>
          <a:lstStyle/>
          <a:p>
            <a:r>
              <a:rPr lang="ru-RU" sz="3600" dirty="0"/>
              <a:t>Актуальность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47007" y="1531721"/>
            <a:ext cx="7217229" cy="4351338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ru-RU" sz="1600" b="1" dirty="0"/>
              <a:t>Актуальность</a:t>
            </a:r>
            <a:r>
              <a:rPr lang="en-US" sz="1600" b="1" dirty="0"/>
              <a:t>:</a:t>
            </a:r>
            <a:endParaRPr lang="ru-RU" sz="1600" b="1" dirty="0"/>
          </a:p>
          <a:p>
            <a:pPr lvl="0"/>
            <a:r>
              <a:rPr lang="ru-RU" sz="1600" dirty="0"/>
              <a:t>Определяется потребностями учебного процесса, частью которого является научение </a:t>
            </a:r>
            <a:r>
              <a:rPr lang="ru-RU" sz="1600" dirty="0" err="1"/>
              <a:t>презентованию</a:t>
            </a:r>
            <a:r>
              <a:rPr lang="ru-RU" sz="1600" dirty="0"/>
              <a:t> своих и</a:t>
            </a:r>
            <a:r>
              <a:rPr lang="en-US" sz="1600" dirty="0"/>
              <a:t>/</a:t>
            </a:r>
            <a:r>
              <a:rPr lang="ru-RU" sz="1600" dirty="0"/>
              <a:t>или чужих материалов</a:t>
            </a:r>
          </a:p>
          <a:p>
            <a:pPr lvl="0"/>
            <a:r>
              <a:rPr lang="ru-RU" sz="1600" dirty="0"/>
              <a:t>При расширении спектра решаемых на кафедре задач растет время понимания постановки задачи и путей ее решения</a:t>
            </a:r>
            <a:r>
              <a:rPr lang="en-US" sz="1600" dirty="0"/>
              <a:t>.</a:t>
            </a:r>
            <a:endParaRPr lang="ru-RU" sz="1600" dirty="0"/>
          </a:p>
          <a:p>
            <a:pPr marL="0" lvl="0" indent="0">
              <a:buNone/>
            </a:pPr>
            <a:r>
              <a:rPr lang="ru-RU" sz="1600" b="1" dirty="0"/>
              <a:t>Аналитический обзор состояния проблемы</a:t>
            </a:r>
            <a:r>
              <a:rPr lang="en-US" sz="1600" b="1" dirty="0"/>
              <a:t>:</a:t>
            </a:r>
            <a:endParaRPr lang="ru-RU" sz="1600" b="1" dirty="0"/>
          </a:p>
          <a:p>
            <a:pPr lvl="0"/>
            <a:r>
              <a:rPr lang="ru-RU" sz="1600" dirty="0"/>
              <a:t>Имеются нормативные документы по требованиям к квалификационным работам</a:t>
            </a:r>
            <a:r>
              <a:rPr lang="en-US" sz="1600" dirty="0"/>
              <a:t>;</a:t>
            </a:r>
            <a:endParaRPr lang="ru-RU" sz="1600" dirty="0"/>
          </a:p>
          <a:p>
            <a:pPr lvl="0"/>
            <a:r>
              <a:rPr lang="ru-RU" sz="1600" dirty="0"/>
              <a:t>Требования к презентациям существуют в устной форме</a:t>
            </a:r>
            <a:r>
              <a:rPr lang="en-US" sz="1600" dirty="0"/>
              <a:t>;</a:t>
            </a:r>
            <a:endParaRPr lang="ru-RU" sz="1600" dirty="0"/>
          </a:p>
          <a:p>
            <a:pPr lvl="0"/>
            <a:r>
              <a:rPr lang="ru-RU" sz="1600" dirty="0"/>
              <a:t>Большинство рекомендаций сводятся к фразе</a:t>
            </a:r>
            <a:r>
              <a:rPr lang="en-US" sz="1600" dirty="0"/>
              <a:t>:</a:t>
            </a:r>
            <a:r>
              <a:rPr lang="ru-RU" sz="1600" dirty="0"/>
              <a:t> «сделайте хорошо»</a:t>
            </a:r>
            <a:r>
              <a:rPr lang="en-US" sz="1600" dirty="0"/>
              <a:t>.</a:t>
            </a:r>
            <a:endParaRPr lang="ru-RU" sz="1600" dirty="0"/>
          </a:p>
          <a:p>
            <a:endParaRPr lang="ru-RU" sz="1600" dirty="0"/>
          </a:p>
        </p:txBody>
      </p:sp>
      <p:sp>
        <p:nvSpPr>
          <p:cNvPr id="7" name="Объект 6"/>
          <p:cNvSpPr>
            <a:spLocks noGrp="1"/>
          </p:cNvSpPr>
          <p:nvPr>
            <p:ph sz="half" idx="2"/>
          </p:nvPr>
        </p:nvSpPr>
        <p:spPr>
          <a:xfrm>
            <a:off x="8082644" y="1825625"/>
            <a:ext cx="3271156" cy="4351338"/>
          </a:xfrm>
        </p:spPr>
        <p:txBody>
          <a:bodyPr/>
          <a:lstStyle/>
          <a:p>
            <a:r>
              <a:rPr lang="ru-RU" sz="2400" dirty="0"/>
              <a:t>Жесткий </a:t>
            </a:r>
            <a:r>
              <a:rPr lang="ru-RU" sz="2400" dirty="0" err="1"/>
              <a:t>тайминг</a:t>
            </a:r>
            <a:r>
              <a:rPr lang="ru-RU" sz="2400" dirty="0"/>
              <a:t> сохраняется</a:t>
            </a:r>
          </a:p>
          <a:p>
            <a:pPr marL="685800" lvl="2">
              <a:spcBef>
                <a:spcPts val="1000"/>
              </a:spcBef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10-20 секунд на такой слайд</a:t>
            </a:r>
          </a:p>
          <a:p>
            <a:r>
              <a:rPr lang="ru-RU" sz="2000" dirty="0"/>
              <a:t>Обычно все формальности укладываются в два слайда</a:t>
            </a:r>
          </a:p>
          <a:p>
            <a:r>
              <a:rPr lang="ru-RU" sz="2000" dirty="0"/>
              <a:t>Если не помещается в два, то не стесняемся сделать три, но третий слайд должен проскочить буквально за 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</a:rPr>
              <a:t>5 сек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C4E4-DD05-4C9A-A36E-8E32A3A3CBCF}" type="datetime1">
              <a:rPr lang="ru-RU" smtClean="0"/>
              <a:t>23.05.2026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38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Личный вклад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2000" b="1" dirty="0"/>
              <a:t>Личный вклад </a:t>
            </a:r>
            <a:r>
              <a:rPr lang="ru-RU" sz="2000" dirty="0"/>
              <a:t>автора</a:t>
            </a:r>
            <a:r>
              <a:rPr lang="en-US" sz="2000" dirty="0"/>
              <a:t>:</a:t>
            </a:r>
            <a:endParaRPr lang="ru-RU" sz="2000" dirty="0"/>
          </a:p>
          <a:p>
            <a:pPr>
              <a:spcBef>
                <a:spcPts val="600"/>
              </a:spcBef>
            </a:pPr>
            <a:r>
              <a:rPr lang="ru-RU" sz="2000" dirty="0"/>
              <a:t>Ознакомился и проанализировал нормативные документы</a:t>
            </a:r>
            <a:r>
              <a:rPr lang="en-US" sz="2000" dirty="0"/>
              <a:t>;</a:t>
            </a:r>
          </a:p>
          <a:p>
            <a:pPr>
              <a:spcBef>
                <a:spcPts val="600"/>
              </a:spcBef>
            </a:pPr>
            <a:r>
              <a:rPr lang="ru-RU" sz="2000" dirty="0"/>
              <a:t>Сбор и анализ экспериментальных данных</a:t>
            </a:r>
            <a:r>
              <a:rPr lang="en-US" sz="2000" dirty="0"/>
              <a:t>;</a:t>
            </a:r>
            <a:endParaRPr lang="ru-RU" sz="2000" dirty="0"/>
          </a:p>
          <a:p>
            <a:pPr>
              <a:spcBef>
                <a:spcPts val="600"/>
              </a:spcBef>
            </a:pPr>
            <a:r>
              <a:rPr lang="ru-RU" sz="2000" dirty="0"/>
              <a:t>Выработка рекомендаций и подготовка презентации</a:t>
            </a:r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r>
              <a:rPr lang="ru-RU" sz="2000" dirty="0"/>
              <a:t>Имеющиеся </a:t>
            </a:r>
            <a:r>
              <a:rPr lang="ru-RU" sz="2000" b="1" dirty="0"/>
              <a:t>публикации</a:t>
            </a:r>
            <a:r>
              <a:rPr lang="en-US" sz="2000" dirty="0"/>
              <a:t>:</a:t>
            </a:r>
            <a:endParaRPr lang="ru-RU" sz="2000" dirty="0"/>
          </a:p>
          <a:p>
            <a:pPr>
              <a:spcBef>
                <a:spcPts val="600"/>
              </a:spcBef>
            </a:pPr>
            <a:r>
              <a:rPr lang="ru-RU" sz="2000" dirty="0"/>
              <a:t>Публикации по теме работы</a:t>
            </a:r>
            <a:r>
              <a:rPr lang="en-US" sz="2000" dirty="0"/>
              <a:t>:</a:t>
            </a:r>
            <a:r>
              <a:rPr lang="ru-RU" sz="2000" dirty="0"/>
              <a:t> </a:t>
            </a:r>
          </a:p>
          <a:p>
            <a:pPr lvl="1">
              <a:spcBef>
                <a:spcPts val="600"/>
              </a:spcBef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&lt;</a:t>
            </a:r>
            <a:r>
              <a:rPr lang="ru-RU" sz="1600" i="1" dirty="0" err="1">
                <a:solidFill>
                  <a:schemeClr val="bg2">
                    <a:lumMod val="50000"/>
                  </a:schemeClr>
                </a:solidFill>
              </a:rPr>
              <a:t>Реквезиты</a:t>
            </a:r>
            <a:r>
              <a:rPr lang="ru-RU" sz="1600" i="1" dirty="0">
                <a:solidFill>
                  <a:schemeClr val="bg2">
                    <a:lumMod val="50000"/>
                  </a:schemeClr>
                </a:solidFill>
              </a:rPr>
              <a:t> публикации 1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&gt;</a:t>
            </a:r>
          </a:p>
          <a:p>
            <a:pPr lvl="1">
              <a:spcBef>
                <a:spcPts val="600"/>
              </a:spcBef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….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 </a:t>
            </a:r>
            <a:r>
              <a:rPr lang="ru-RU" sz="2000" dirty="0"/>
              <a:t>Работа апробирована на конференциях</a:t>
            </a:r>
            <a:r>
              <a:rPr lang="en-US" sz="2000" dirty="0"/>
              <a:t>:</a:t>
            </a:r>
            <a:r>
              <a:rPr lang="ru-RU" sz="2000" dirty="0"/>
              <a:t> </a:t>
            </a:r>
            <a:endParaRPr lang="en-US" sz="2000" dirty="0"/>
          </a:p>
          <a:p>
            <a:pPr lvl="1">
              <a:spcBef>
                <a:spcPts val="600"/>
              </a:spcBef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&lt;</a:t>
            </a:r>
            <a:r>
              <a:rPr lang="ru-RU" sz="1800" i="1" dirty="0">
                <a:solidFill>
                  <a:schemeClr val="bg2">
                    <a:lumMod val="50000"/>
                  </a:schemeClr>
                </a:solidFill>
              </a:rPr>
              <a:t>Название конференции 1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&gt;</a:t>
            </a:r>
            <a:endParaRPr lang="ru-RU" sz="1800" dirty="0">
              <a:solidFill>
                <a:schemeClr val="bg2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ru-RU" sz="1800" dirty="0">
                <a:solidFill>
                  <a:schemeClr val="bg2">
                    <a:lumMod val="50000"/>
                  </a:schemeClr>
                </a:solidFill>
              </a:rPr>
              <a:t>….</a:t>
            </a:r>
            <a:endParaRPr lang="en-US" sz="1800" dirty="0">
              <a:solidFill>
                <a:schemeClr val="bg2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endParaRPr lang="ru-RU" dirty="0"/>
          </a:p>
          <a:p>
            <a:pPr>
              <a:spcBef>
                <a:spcPts val="600"/>
              </a:spcBef>
            </a:pPr>
            <a:endParaRPr lang="ru-RU" sz="200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3FDEC-834B-4F0D-BDEA-6A3D89BE7C49}" type="datetime1">
              <a:rPr lang="ru-RU" smtClean="0"/>
              <a:t>23.05.2026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5</a:t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7388678" y="4196443"/>
            <a:ext cx="43842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>
                <a:solidFill>
                  <a:schemeClr val="accent1">
                    <a:lumMod val="50000"/>
                  </a:schemeClr>
                </a:solidFill>
              </a:rPr>
              <a:t>«По теме работы имеется публикация в журнале «Труды МФТИ», апробация проведена на 3-х конференциях, свой личный вклад в работу я оцениваю 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ru-RU" i="1" dirty="0">
                <a:solidFill>
                  <a:schemeClr val="accent1">
                    <a:lumMod val="50000"/>
                  </a:schemeClr>
                </a:solidFill>
              </a:rPr>
              <a:t>свой критерий оценки, не стесняемся похвалить себя, даже если это 5%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&gt;</a:t>
            </a:r>
            <a:r>
              <a:rPr lang="ru-RU" i="1" dirty="0">
                <a:solidFill>
                  <a:schemeClr val="accent1">
                    <a:lumMod val="50000"/>
                  </a:schemeClr>
                </a:solidFill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3566903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</a:t>
            </a:r>
            <a:r>
              <a:rPr lang="ru-RU" dirty="0"/>
              <a:t>Название раздела 1</a:t>
            </a:r>
            <a:r>
              <a:rPr lang="en-US" dirty="0"/>
              <a:t>&gt;</a:t>
            </a:r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Можно не делать такой слайд. Но слова-связки необходимо сказать.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3FDEC-834B-4F0D-BDEA-6A3D89BE7C49}" type="datetime1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6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935436" y="1641021"/>
            <a:ext cx="5551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Если решили делать такой слайд, то время его показа 2 секунды. Говорим </a:t>
            </a:r>
            <a:r>
              <a:rPr lang="ru-RU" i="1" dirty="0">
                <a:solidFill>
                  <a:schemeClr val="accent1">
                    <a:lumMod val="50000"/>
                  </a:schemeClr>
                </a:solidFill>
              </a:rPr>
              <a:t>«Переходим к изложению первого раздела работы»</a:t>
            </a:r>
          </a:p>
        </p:txBody>
      </p:sp>
    </p:spTree>
    <p:extLst>
      <p:ext uri="{BB962C8B-B14F-4D97-AF65-F5344CB8AC3E}">
        <p14:creationId xmlns:p14="http://schemas.microsoft.com/office/powerpoint/2010/main" val="2516640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F:\Haynes-Death-Star-Cutaway.jpe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5" t="9817" r="2009"/>
          <a:stretch/>
        </p:blipFill>
        <p:spPr bwMode="auto">
          <a:xfrm>
            <a:off x="6969626" y="1854200"/>
            <a:ext cx="4333374" cy="26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838200" y="365126"/>
            <a:ext cx="9057491" cy="1096282"/>
          </a:xfrm>
        </p:spPr>
        <p:txBody>
          <a:bodyPr/>
          <a:lstStyle/>
          <a:p>
            <a:r>
              <a:rPr lang="ru-RU" dirty="0"/>
              <a:t>Предыстория вопроса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D89C-0AAE-40DA-A781-6D8009B0045A}" type="datetime1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7</a:t>
            </a:fld>
            <a:endParaRPr lang="ru-RU"/>
          </a:p>
        </p:txBody>
      </p:sp>
      <p:pic>
        <p:nvPicPr>
          <p:cNvPr id="2051" name="Picture 3" descr="F:\28bf69f9048b439463efacbd65536b4a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5" t="7661" r="5789" b="36901"/>
          <a:stretch/>
        </p:blipFill>
        <p:spPr bwMode="auto">
          <a:xfrm>
            <a:off x="8203770" y="0"/>
            <a:ext cx="3988230" cy="252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F:\5ee1071584f911ee99d3ca123cab517e_upscaled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3860800"/>
            <a:ext cx="28956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579665" y="1639207"/>
            <a:ext cx="8215993" cy="446246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Расскажите с каким явлением, сущностью, предметом и т.п. вы работаете</a:t>
            </a:r>
          </a:p>
          <a:p>
            <a:r>
              <a:rPr lang="ru-RU" dirty="0"/>
              <a:t>Что с этим не так</a:t>
            </a:r>
          </a:p>
          <a:p>
            <a:r>
              <a:rPr lang="ru-RU" dirty="0"/>
              <a:t>Ответьте на вопросы:</a:t>
            </a:r>
          </a:p>
          <a:p>
            <a:pPr lvl="1"/>
            <a:r>
              <a:rPr lang="ru-RU" dirty="0"/>
              <a:t>Как решали эту или похожую задачу до вас</a:t>
            </a:r>
          </a:p>
          <a:p>
            <a:pPr lvl="1"/>
            <a:r>
              <a:rPr lang="ru-RU" dirty="0"/>
              <a:t>Что у них получилось и не получилось</a:t>
            </a:r>
          </a:p>
          <a:p>
            <a:pPr lvl="1"/>
            <a:r>
              <a:rPr lang="ru-RU" dirty="0"/>
              <a:t>Чем вы можете помочь решению задачи</a:t>
            </a:r>
          </a:p>
          <a:p>
            <a:pPr lvl="1"/>
            <a:r>
              <a:rPr lang="ru-RU" strike="sngStrike" dirty="0"/>
              <a:t>Расскажите кем вы себя видите через пять лет, решив эту задачу</a:t>
            </a:r>
          </a:p>
          <a:p>
            <a:r>
              <a:rPr lang="ru-RU" dirty="0"/>
              <a:t>Уместное место для схем, представления </a:t>
            </a:r>
            <a:br>
              <a:rPr lang="ru-RU" dirty="0"/>
            </a:br>
            <a:r>
              <a:rPr lang="ru-RU" dirty="0"/>
              <a:t>принятых упрощений</a:t>
            </a:r>
          </a:p>
        </p:txBody>
      </p:sp>
    </p:spTree>
    <p:extLst>
      <p:ext uri="{BB962C8B-B14F-4D97-AF65-F5344CB8AC3E}">
        <p14:creationId xmlns:p14="http://schemas.microsoft.com/office/powerpoint/2010/main" val="3217640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1628" y="267154"/>
            <a:ext cx="9057491" cy="1325563"/>
          </a:xfrm>
        </p:spPr>
        <p:txBody>
          <a:bodyPr/>
          <a:lstStyle/>
          <a:p>
            <a:r>
              <a:rPr lang="ru-RU" dirty="0"/>
              <a:t>Постановка задачи 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4923D-55D7-4485-9C9E-61CD3BE2EE53}" type="datetime1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8</a:t>
            </a:fld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585107" y="1412420"/>
            <a:ext cx="7293429" cy="4351338"/>
          </a:xfrm>
        </p:spPr>
        <p:txBody>
          <a:bodyPr/>
          <a:lstStyle/>
          <a:p>
            <a:r>
              <a:rPr lang="ru-RU" dirty="0"/>
              <a:t>Изложение работы необходимо построить так, чтобы комиссии было понятно какую задачу вы решаете</a:t>
            </a:r>
          </a:p>
          <a:p>
            <a:r>
              <a:rPr lang="ru-RU" dirty="0"/>
              <a:t>Математическая постановка задачи:</a:t>
            </a:r>
          </a:p>
          <a:p>
            <a:pPr lvl="1"/>
            <a:r>
              <a:rPr lang="ru-RU" dirty="0"/>
              <a:t>Уравнения, область определения, начальные и граничные условия</a:t>
            </a:r>
          </a:p>
          <a:p>
            <a:r>
              <a:rPr lang="ru-RU" dirty="0"/>
              <a:t>Описательная постановка задачи</a:t>
            </a:r>
          </a:p>
          <a:p>
            <a:pPr lvl="1"/>
            <a:r>
              <a:rPr lang="ru-RU" dirty="0"/>
              <a:t>Условия, что нужно получить, какие инструменты</a:t>
            </a:r>
          </a:p>
          <a:p>
            <a:pPr lvl="1"/>
            <a:endParaRPr lang="ru-RU" dirty="0"/>
          </a:p>
        </p:txBody>
      </p:sp>
      <p:pic>
        <p:nvPicPr>
          <p:cNvPr id="1026" name="Picture 2" descr="F:\154822471216984999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397" y="1412420"/>
            <a:ext cx="3670280" cy="4906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130300" y="5217467"/>
            <a:ext cx="5504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accent1">
                    <a:lumMod val="50000"/>
                  </a:schemeClr>
                </a:solidFill>
              </a:rPr>
              <a:t>На слайд 1, максимум полторы минуты</a:t>
            </a:r>
          </a:p>
        </p:txBody>
      </p:sp>
    </p:spTree>
    <p:extLst>
      <p:ext uri="{BB962C8B-B14F-4D97-AF65-F5344CB8AC3E}">
        <p14:creationId xmlns:p14="http://schemas.microsoft.com/office/powerpoint/2010/main" val="3538137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F:\i (2)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0" r="9948"/>
          <a:stretch/>
        </p:blipFill>
        <p:spPr bwMode="auto">
          <a:xfrm>
            <a:off x="7683500" y="1536190"/>
            <a:ext cx="4140200" cy="3402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6700" y="-142875"/>
            <a:ext cx="9057491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Методы и методика решения задач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4332" y="1004093"/>
            <a:ext cx="7315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Метод</a:t>
            </a:r>
            <a:r>
              <a:rPr lang="ru-RU" sz="2000" dirty="0"/>
              <a:t> – это обобщенное название того как решалась задача</a:t>
            </a:r>
          </a:p>
          <a:p>
            <a:pPr marL="0" indent="0">
              <a:buNone/>
            </a:pPr>
            <a:r>
              <a:rPr lang="ru-RU" sz="2000" dirty="0"/>
              <a:t>(научного </a:t>
            </a:r>
            <a:r>
              <a:rPr lang="ru-RU" sz="2000" dirty="0" err="1"/>
              <a:t>тыка</a:t>
            </a:r>
            <a:r>
              <a:rPr lang="ru-RU" sz="2000" dirty="0"/>
              <a:t>, пристального всматривания, решения СДУ численно, метод </a:t>
            </a:r>
            <a:r>
              <a:rPr lang="en-US" sz="2000" dirty="0"/>
              <a:t>RANS, </a:t>
            </a:r>
            <a:r>
              <a:rPr lang="ru-RU" sz="2000" dirty="0"/>
              <a:t>с использованием нейронных сетей)</a:t>
            </a:r>
          </a:p>
          <a:p>
            <a:pPr marL="0" indent="0">
              <a:buNone/>
            </a:pPr>
            <a:r>
              <a:rPr lang="ru-RU" sz="2000" b="1" dirty="0"/>
              <a:t>Методика</a:t>
            </a:r>
            <a:r>
              <a:rPr lang="en-US" sz="2000" dirty="0"/>
              <a:t>:</a:t>
            </a:r>
            <a:endParaRPr lang="ru-RU" sz="2000" dirty="0"/>
          </a:p>
          <a:p>
            <a:r>
              <a:rPr lang="ru-RU" sz="2000" dirty="0"/>
              <a:t>Последовательность действий, которую делали</a:t>
            </a:r>
          </a:p>
          <a:p>
            <a:r>
              <a:rPr lang="ru-RU" sz="2000" dirty="0"/>
              <a:t>Объяснить, почему так а не иначе</a:t>
            </a:r>
          </a:p>
          <a:p>
            <a:r>
              <a:rPr lang="ru-RU" sz="2000" dirty="0"/>
              <a:t>Последовательность должна быть логически стройной,</a:t>
            </a:r>
            <a:br>
              <a:rPr lang="ru-RU" sz="2000" dirty="0"/>
            </a:br>
            <a:r>
              <a:rPr lang="ru-RU" sz="2000" dirty="0"/>
              <a:t>но без перегрузки мелкими деталями</a:t>
            </a:r>
          </a:p>
          <a:p>
            <a:pPr lvl="1"/>
            <a:r>
              <a:rPr lang="ru-RU" sz="1600" dirty="0"/>
              <a:t>Примерно как рецепт в кулинарной книге</a:t>
            </a:r>
          </a:p>
          <a:p>
            <a:endParaRPr lang="ru-RU" sz="200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CC1F-1DB8-4D75-93D8-27798C8890E6}" type="datetime1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9</a:t>
            </a:fld>
            <a:endParaRPr lang="ru-RU"/>
          </a:p>
        </p:txBody>
      </p:sp>
      <p:pic>
        <p:nvPicPr>
          <p:cNvPr id="3074" name="Picture 2" descr="F:\i (1)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260055"/>
            <a:ext cx="3860799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\\ANSCHLUSS\exchange\297261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67" y="4163862"/>
            <a:ext cx="2303733" cy="2262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Стрелка вправо 7"/>
          <p:cNvSpPr/>
          <p:nvPr/>
        </p:nvSpPr>
        <p:spPr>
          <a:xfrm>
            <a:off x="2895600" y="4780320"/>
            <a:ext cx="825500" cy="11311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3035300" y="4202110"/>
            <a:ext cx="54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?</a:t>
            </a:r>
          </a:p>
        </p:txBody>
      </p:sp>
      <p:sp>
        <p:nvSpPr>
          <p:cNvPr id="12" name="Стрелка вправо 11"/>
          <p:cNvSpPr/>
          <p:nvPr/>
        </p:nvSpPr>
        <p:spPr>
          <a:xfrm rot="15499949">
            <a:off x="9008249" y="4457986"/>
            <a:ext cx="901700" cy="7425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8216900" y="5333131"/>
            <a:ext cx="3708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/>
              <a:t>Внезапно что-то появилось ещё?</a:t>
            </a:r>
          </a:p>
          <a:p>
            <a:pPr marL="285750" indent="-285750">
              <a:buFontTx/>
              <a:buChar char="-"/>
            </a:pPr>
            <a:r>
              <a:rPr lang="ru-RU" dirty="0"/>
              <a:t>Объясни откуда!</a:t>
            </a:r>
          </a:p>
        </p:txBody>
      </p:sp>
    </p:spTree>
    <p:extLst>
      <p:ext uri="{BB962C8B-B14F-4D97-AF65-F5344CB8AC3E}">
        <p14:creationId xmlns:p14="http://schemas.microsoft.com/office/powerpoint/2010/main" val="1765241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Результаты, их анализ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Требуется описание результатов</a:t>
            </a:r>
          </a:p>
          <a:p>
            <a:pPr lvl="0"/>
            <a:r>
              <a:rPr lang="ru-RU" dirty="0"/>
              <a:t>Анализ результатов включает ответы на вопросы</a:t>
            </a:r>
          </a:p>
          <a:p>
            <a:pPr lvl="1"/>
            <a:r>
              <a:rPr lang="ru-RU" sz="2800" dirty="0"/>
              <a:t>Почему полученным результатам можно верить?</a:t>
            </a:r>
          </a:p>
          <a:p>
            <a:pPr lvl="1"/>
            <a:r>
              <a:rPr lang="ru-RU" sz="2800" dirty="0"/>
              <a:t>Полученные результаты соответствуют тому, что нужно было получить?</a:t>
            </a:r>
          </a:p>
          <a:p>
            <a:pPr lvl="1"/>
            <a:r>
              <a:rPr lang="ru-RU" sz="2800" dirty="0">
                <a:solidFill>
                  <a:schemeClr val="accent1">
                    <a:lumMod val="50000"/>
                  </a:schemeClr>
                </a:solidFill>
              </a:rPr>
              <a:t>Например решали уравнение с неизвестным 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</a:rPr>
              <a:t>x.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</a:rPr>
              <a:t>Нужно подставить этот 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</a:rPr>
              <a:t>x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</a:rPr>
              <a:t>в уравнение. Вероятно, что левая и правая часть уравнения не будут равны друг другу. Тогда нужно описать насколько они отличаются. Допустимо ли такое отличие.</a:t>
            </a:r>
            <a:endParaRPr lang="ru-RU" sz="2800" i="1" dirty="0">
              <a:solidFill>
                <a:schemeClr val="accent1">
                  <a:lumMod val="50000"/>
                </a:schemeClr>
              </a:solidFill>
            </a:endParaRPr>
          </a:p>
          <a:p>
            <a:pPr lvl="0"/>
            <a:endParaRPr lang="ru-RU" dirty="0"/>
          </a:p>
          <a:p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3FDEC-834B-4F0D-BDEA-6A3D89BE7C49}" type="datetime1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811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0100" y="1422400"/>
            <a:ext cx="6654800" cy="4284663"/>
          </a:xfrm>
        </p:spPr>
        <p:txBody>
          <a:bodyPr>
            <a:noAutofit/>
          </a:bodyPr>
          <a:lstStyle/>
          <a:p>
            <a:r>
              <a:rPr lang="ru-RU" sz="2000" dirty="0"/>
              <a:t>Последовательное логически стройное изложение итогов исследования в соответствии с целью и задачами, поставленными и сформулированными во введении. Заключение может включать в себя практические предложения, что повышает ценность теоретического материала, но не должно повторять введение.</a:t>
            </a:r>
          </a:p>
          <a:p>
            <a:endParaRPr lang="ru-RU" sz="2000" dirty="0"/>
          </a:p>
          <a:p>
            <a:r>
              <a:rPr lang="ru-RU" sz="2000" dirty="0"/>
              <a:t>Лишь ограниченное число пунктов может нести аннотационный характер</a:t>
            </a:r>
          </a:p>
          <a:p>
            <a:pPr lvl="1"/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Проведен расчёт, выполнено исследование и т.п.</a:t>
            </a:r>
          </a:p>
          <a:p>
            <a:pPr lvl="1"/>
            <a:endParaRPr lang="ru-RU" sz="20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ru-RU" sz="2000" dirty="0"/>
              <a:t>Заключение должно содержать конкретный вывод или выводы</a:t>
            </a:r>
          </a:p>
          <a:p>
            <a:pPr lvl="1"/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В результате исследования установлено, что…</a:t>
            </a:r>
          </a:p>
          <a:p>
            <a:pPr lvl="1"/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Скорость расчётов повысилась на 100500%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9233D-CCC3-4054-812F-C10EC52BE4BA}" type="datetime1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11</a:t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7721600" y="2463800"/>
            <a:ext cx="4470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Заключение зачитывается как есть со слайда.</a:t>
            </a:r>
          </a:p>
          <a:p>
            <a:r>
              <a:rPr lang="ru-RU" i="1" dirty="0"/>
              <a:t>Если не хватает времени, то допустимы следующие схемы:</a:t>
            </a:r>
          </a:p>
          <a:p>
            <a:r>
              <a:rPr lang="ru-RU" i="1" dirty="0">
                <a:solidFill>
                  <a:schemeClr val="accent1">
                    <a:lumMod val="50000"/>
                  </a:schemeClr>
                </a:solidFill>
              </a:rPr>
              <a:t>«Переходим к заключению. Среди всех выводов, представленных на слайде, особого внимания заслуживает вывод о том, что 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ru-RU" i="1" dirty="0">
                <a:solidFill>
                  <a:schemeClr val="accent1">
                    <a:lumMod val="50000"/>
                  </a:schemeClr>
                </a:solidFill>
              </a:rPr>
              <a:t>зачитываете вывод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&gt;. </a:t>
            </a:r>
            <a:r>
              <a:rPr lang="ru-RU" i="1" dirty="0">
                <a:solidFill>
                  <a:schemeClr val="accent1">
                    <a:lumMod val="50000"/>
                  </a:schemeClr>
                </a:solidFill>
              </a:rPr>
              <a:t>Позвольте на этом закончить доклад»</a:t>
            </a:r>
          </a:p>
          <a:p>
            <a:r>
              <a:rPr lang="ru-RU" i="1" dirty="0"/>
              <a:t>ИЛИ</a:t>
            </a:r>
          </a:p>
          <a:p>
            <a:r>
              <a:rPr lang="ru-RU" i="1" dirty="0">
                <a:solidFill>
                  <a:schemeClr val="accent1">
                    <a:lumMod val="50000"/>
                  </a:schemeClr>
                </a:solidFill>
              </a:rPr>
              <a:t>«Переходим к выводам. Они представлены на слайде. Позвольте на этом закончить доклад»</a:t>
            </a:r>
          </a:p>
        </p:txBody>
      </p:sp>
    </p:spTree>
    <p:extLst>
      <p:ext uri="{BB962C8B-B14F-4D97-AF65-F5344CB8AC3E}">
        <p14:creationId xmlns:p14="http://schemas.microsoft.com/office/powerpoint/2010/main" val="1111469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</a:t>
            </a:r>
            <a:r>
              <a:rPr lang="ru-RU" dirty="0"/>
              <a:t>Некоторые советы</a:t>
            </a:r>
            <a:r>
              <a:rPr lang="en-US" dirty="0"/>
              <a:t>&gt;</a:t>
            </a:r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3FDEC-834B-4F0D-BDEA-6A3D89BE7C49}" type="datetime1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225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/>
              <a:t>Структурированность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48740"/>
            <a:ext cx="10515600" cy="4381499"/>
          </a:xfrm>
        </p:spPr>
        <p:txBody>
          <a:bodyPr>
            <a:noAutofit/>
          </a:bodyPr>
          <a:lstStyle/>
          <a:p>
            <a:r>
              <a:rPr lang="ru-RU" sz="2000" dirty="0"/>
              <a:t>Четкий план доклада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dirty="0"/>
              <a:t>Последовательность изложения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dirty="0"/>
              <a:t>Наличие обязательных частей</a:t>
            </a:r>
            <a:r>
              <a:rPr lang="en-US" sz="2000" dirty="0"/>
              <a:t>:</a:t>
            </a:r>
            <a:endParaRPr lang="ru-RU" sz="2000" dirty="0"/>
          </a:p>
          <a:p>
            <a:pPr marL="541338">
              <a:buFont typeface="Wingdings" panose="05000000000000000000" pitchFamily="2" charset="2"/>
              <a:buChar char="Ø"/>
            </a:pPr>
            <a:r>
              <a:rPr lang="ru-RU" sz="2000" dirty="0"/>
              <a:t>План доклада</a:t>
            </a:r>
            <a:r>
              <a:rPr lang="en-US" sz="2000" dirty="0"/>
              <a:t>;</a:t>
            </a:r>
            <a:endParaRPr lang="ru-RU" sz="2000" dirty="0"/>
          </a:p>
          <a:p>
            <a:pPr marL="541338">
              <a:buFont typeface="Wingdings" panose="05000000000000000000" pitchFamily="2" charset="2"/>
              <a:buChar char="Ø"/>
            </a:pPr>
            <a:r>
              <a:rPr lang="ru-RU" sz="2000" b="1" dirty="0"/>
              <a:t>Цели и задачи работы</a:t>
            </a:r>
            <a:r>
              <a:rPr lang="en-US" sz="2000" b="1" dirty="0"/>
              <a:t>;</a:t>
            </a:r>
            <a:endParaRPr lang="ru-RU" sz="2000" b="1" dirty="0"/>
          </a:p>
          <a:p>
            <a:pPr marL="541338">
              <a:buFont typeface="Wingdings" panose="05000000000000000000" pitchFamily="2" charset="2"/>
              <a:buChar char="Ø"/>
            </a:pPr>
            <a:r>
              <a:rPr lang="ru-RU" sz="2000" b="1" dirty="0"/>
              <a:t>Вводная часть</a:t>
            </a:r>
            <a:r>
              <a:rPr lang="en-US" sz="2000" b="1" dirty="0"/>
              <a:t>;</a:t>
            </a:r>
            <a:endParaRPr lang="ru-RU" sz="2000" b="1" dirty="0"/>
          </a:p>
          <a:p>
            <a:pPr marL="541338">
              <a:buFont typeface="Wingdings" panose="05000000000000000000" pitchFamily="2" charset="2"/>
              <a:buChar char="Ø"/>
            </a:pPr>
            <a:r>
              <a:rPr lang="ru-RU" sz="2000" b="1" dirty="0"/>
              <a:t>Аналитический обзор состояния проблемы (обзор литературы)</a:t>
            </a:r>
            <a:r>
              <a:rPr lang="en-US" sz="2000" b="1" dirty="0"/>
              <a:t>;</a:t>
            </a:r>
            <a:endParaRPr lang="ru-RU" sz="2000" b="1" dirty="0"/>
          </a:p>
          <a:p>
            <a:pPr marL="541338">
              <a:buFont typeface="Wingdings" panose="05000000000000000000" pitchFamily="2" charset="2"/>
              <a:buChar char="Ø"/>
            </a:pPr>
            <a:r>
              <a:rPr lang="ru-RU" sz="2000" b="1" dirty="0"/>
              <a:t>Физико-математическая постановка задачи</a:t>
            </a:r>
            <a:r>
              <a:rPr lang="en-US" sz="2000" b="1" dirty="0"/>
              <a:t>;</a:t>
            </a:r>
            <a:endParaRPr lang="ru-RU" sz="2000" b="1" dirty="0"/>
          </a:p>
          <a:p>
            <a:pPr marL="541338">
              <a:buFont typeface="Wingdings" panose="05000000000000000000" pitchFamily="2" charset="2"/>
              <a:buChar char="Ø"/>
            </a:pPr>
            <a:r>
              <a:rPr lang="ru-RU" sz="2000" b="1" dirty="0"/>
              <a:t>Методы и методика решения задачи</a:t>
            </a:r>
            <a:r>
              <a:rPr lang="en-US" sz="2000" b="1" dirty="0"/>
              <a:t>;</a:t>
            </a:r>
            <a:endParaRPr lang="ru-RU" sz="2000" b="1" dirty="0"/>
          </a:p>
          <a:p>
            <a:pPr marL="541338">
              <a:buFont typeface="Wingdings" panose="05000000000000000000" pitchFamily="2" charset="2"/>
              <a:buChar char="Ø"/>
            </a:pPr>
            <a:r>
              <a:rPr lang="ru-RU" sz="2000" i="1" dirty="0"/>
              <a:t>Анализ основных результатов</a:t>
            </a:r>
            <a:r>
              <a:rPr lang="en-US" sz="2000" i="1" dirty="0"/>
              <a:t>;</a:t>
            </a:r>
            <a:endParaRPr lang="ru-RU" sz="2000" i="1" dirty="0"/>
          </a:p>
          <a:p>
            <a:pPr marL="541338">
              <a:buFont typeface="Wingdings" panose="05000000000000000000" pitchFamily="2" charset="2"/>
              <a:buChar char="Ø"/>
            </a:pPr>
            <a:r>
              <a:rPr lang="ru-RU" sz="2000" b="1" dirty="0"/>
              <a:t>Заключение</a:t>
            </a:r>
            <a:r>
              <a:rPr lang="en-US" sz="2000" b="1" dirty="0"/>
              <a:t>.</a:t>
            </a:r>
            <a:endParaRPr lang="ru-RU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28700" y="5859780"/>
            <a:ext cx="8349209" cy="40011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ru-RU" sz="2000" dirty="0"/>
              <a:t>Основная цель презентации – показать, что все формальности выполнены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276A-493A-4766-9CDA-3FE773C31C09}" type="datetime1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081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Связанность мыслей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08761"/>
            <a:ext cx="10515600" cy="3970020"/>
          </a:xfrm>
        </p:spPr>
        <p:txBody>
          <a:bodyPr>
            <a:normAutofit/>
          </a:bodyPr>
          <a:lstStyle/>
          <a:p>
            <a:r>
              <a:rPr lang="ru-RU" sz="2400" dirty="0"/>
              <a:t>Мысли в презентации должны развиваться последовательно от названия и цели к результатам и заключению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Используйте уточняющие переходы между мыслями</a:t>
            </a:r>
            <a:r>
              <a:rPr lang="en-US" sz="2400" dirty="0"/>
              <a:t>:</a:t>
            </a:r>
            <a:r>
              <a:rPr lang="ru-RU" sz="2400" dirty="0"/>
              <a:t> для этого нужно…</a:t>
            </a:r>
            <a:r>
              <a:rPr lang="en-US" sz="2400" dirty="0"/>
              <a:t>;</a:t>
            </a:r>
            <a:r>
              <a:rPr lang="ru-RU" sz="2400" dirty="0"/>
              <a:t> это нас приводит к…</a:t>
            </a:r>
            <a:r>
              <a:rPr lang="en-US" sz="2400" dirty="0"/>
              <a:t>;</a:t>
            </a:r>
            <a:r>
              <a:rPr lang="ru-RU" sz="2400" dirty="0"/>
              <a:t> не спешите критиковать, я сейчас поясню…</a:t>
            </a:r>
          </a:p>
          <a:p>
            <a:r>
              <a:rPr lang="ru-RU" sz="2400" dirty="0"/>
              <a:t>Проверьте, нет ли противоречий в Ваших мыслях.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5859780"/>
            <a:ext cx="5458033" cy="40011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ru-RU" sz="2000" dirty="0"/>
              <a:t>Название, цель и выводы должны быть связаны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EF243-C8DB-4874-851D-375D95F53397}" type="datetime1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944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Лаконичность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6711299" cy="4351338"/>
          </a:xfrm>
        </p:spPr>
        <p:txBody>
          <a:bodyPr>
            <a:normAutofit/>
          </a:bodyPr>
          <a:lstStyle/>
          <a:p>
            <a:r>
              <a:rPr lang="ru-RU" sz="2400" dirty="0"/>
              <a:t>Не нужно превращать доклад на защите в лекцию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Не нужно «перегружать» слайды</a:t>
            </a:r>
            <a:r>
              <a:rPr lang="en-US" sz="2400" dirty="0"/>
              <a:t>;</a:t>
            </a:r>
            <a:endParaRPr lang="ru-RU" sz="2400" dirty="0"/>
          </a:p>
          <a:p>
            <a:endParaRPr lang="ru-RU" sz="2400" u="sng" dirty="0"/>
          </a:p>
          <a:p>
            <a:endParaRPr lang="ru-RU" sz="2400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939800" y="5699760"/>
            <a:ext cx="2153154" cy="40011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ru-RU" sz="2000" dirty="0"/>
              <a:t>1 слайд – 1 мысль</a:t>
            </a:r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CFED-71C3-4C9C-BD9F-26C6B4C34C93}" type="datetime1">
              <a:rPr lang="ru-RU" smtClean="0"/>
              <a:t>23.05.2026</a:t>
            </a:fld>
            <a:endParaRPr lang="ru-RU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15</a:t>
            </a:fld>
            <a:endParaRPr lang="ru-RU"/>
          </a:p>
        </p:txBody>
      </p:sp>
      <p:pic>
        <p:nvPicPr>
          <p:cNvPr id="3074" name="Picture 2" descr="Фон для презентации студенты (73 фото) 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447" y="2467641"/>
            <a:ext cx="5019554" cy="3432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081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Ограничение по времени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На выступления всегда есть ограничение по времени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u="sng" dirty="0"/>
              <a:t>Не старайтесь рассказать абсолютно все, что Вы сделали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u="sng" dirty="0"/>
              <a:t>Выделяйте самое важное в вашей работе</a:t>
            </a:r>
            <a:r>
              <a:rPr lang="en-US" sz="2400" u="sng" dirty="0"/>
              <a:t>;</a:t>
            </a:r>
            <a:endParaRPr lang="ru-RU" sz="2400" u="sng" dirty="0"/>
          </a:p>
          <a:p>
            <a:r>
              <a:rPr lang="ru-RU" sz="2400" dirty="0"/>
              <a:t>Постройте план доклада так, чтобы точно успеть рассказать самое важное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Слайды не должны «висеть» долго и не должны мелькать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Делайте запасные слайды.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5859780"/>
            <a:ext cx="2234907" cy="40011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ru-RU" sz="2000" dirty="0"/>
              <a:t>1 слайд – 1 минута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07640-1333-45A2-AB25-984C4874817D}" type="datetime1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399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Нейтральное оформление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Выделение цветом только в крайних случаях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Лучшее сочетание цветов – черное на белом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Одинаковый размер и начертание шрифта на разных слайдах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u="sng" dirty="0"/>
              <a:t>Презентация для читающих и для слушающих</a:t>
            </a:r>
            <a:r>
              <a:rPr lang="en-US" sz="2400" u="sng" dirty="0"/>
              <a:t>;</a:t>
            </a:r>
            <a:endParaRPr lang="ru-RU" sz="2400" u="sng" dirty="0"/>
          </a:p>
          <a:p>
            <a:pPr lvl="1"/>
            <a:r>
              <a:rPr lang="ru-RU" sz="1800" dirty="0"/>
              <a:t>Человек должен понять работу только слушая</a:t>
            </a:r>
          </a:p>
          <a:p>
            <a:pPr lvl="1"/>
            <a:r>
              <a:rPr lang="ru-RU" sz="1800" dirty="0"/>
              <a:t>Человек должен понять работу, только глядя на слайды</a:t>
            </a:r>
          </a:p>
          <a:p>
            <a:pPr lvl="1"/>
            <a:r>
              <a:rPr lang="ru-RU" sz="1800" dirty="0"/>
              <a:t>Рассказ и слайды дополняют друг друга</a:t>
            </a:r>
          </a:p>
          <a:p>
            <a:r>
              <a:rPr lang="ru-RU" sz="2400" dirty="0"/>
              <a:t>Не читать презентацию, кроме формальных частей</a:t>
            </a:r>
            <a:r>
              <a:rPr lang="en-US" sz="2400" dirty="0"/>
              <a:t>:</a:t>
            </a:r>
            <a:r>
              <a:rPr lang="ru-RU" sz="2400" dirty="0"/>
              <a:t> вводной части и заключения</a:t>
            </a:r>
            <a:r>
              <a:rPr lang="en-US" sz="2400" dirty="0"/>
              <a:t>.</a:t>
            </a:r>
          </a:p>
          <a:p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028700" y="5859780"/>
            <a:ext cx="4171078" cy="40011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ru-RU" sz="2000" dirty="0"/>
              <a:t>Презентация не должна раздражать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C2D78-3EE0-47BB-91A7-F7EC5284394F}" type="datetime1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689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Важные</a:t>
            </a:r>
            <a:r>
              <a:rPr lang="ru-RU" dirty="0"/>
              <a:t> слова можно выделять «жирным»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Основная мысль на слайде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Хорошо, когда результат сопровождается графическим материалом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Формулируйте фразы </a:t>
            </a:r>
            <a:r>
              <a:rPr lang="ru-RU" b="1" dirty="0" err="1"/>
              <a:t>тезисно</a:t>
            </a:r>
            <a:r>
              <a:rPr lang="ru-RU" dirty="0"/>
              <a:t>, но понятно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Нумеруйте слайды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Дата и тема – хороший тон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28700" y="5859780"/>
            <a:ext cx="6407523" cy="40011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ru-RU" sz="2000" dirty="0"/>
              <a:t>На слайде все должно быть понятно без слов и нескучно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BFE-4ACA-4EA3-A57F-D2884B6EFB7F}" type="datetime1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908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Предложенный EDi способ - лучший.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5321" y="1464560"/>
            <a:ext cx="3416300" cy="1878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Графики и рисунки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1" y="1825625"/>
            <a:ext cx="5711232" cy="4351338"/>
          </a:xfrm>
        </p:spPr>
        <p:txBody>
          <a:bodyPr>
            <a:normAutofit/>
          </a:bodyPr>
          <a:lstStyle/>
          <a:p>
            <a:r>
              <a:rPr lang="ru-RU" sz="2000" dirty="0"/>
              <a:t>На одном рисунке – не больше 2-3 графиков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dirty="0"/>
              <a:t>На одном слайде не более 4 рисунков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u="sng" dirty="0"/>
              <a:t>Оси должны быть подписаны</a:t>
            </a:r>
            <a:r>
              <a:rPr lang="en-US" sz="2000" u="sng" dirty="0"/>
              <a:t>;</a:t>
            </a:r>
          </a:p>
          <a:p>
            <a:r>
              <a:rPr lang="ru-RU" sz="2000" u="sng" dirty="0"/>
              <a:t>Должна быть понятная легенда</a:t>
            </a:r>
            <a:r>
              <a:rPr lang="en-US" sz="2000" u="sng" dirty="0"/>
              <a:t>;</a:t>
            </a:r>
            <a:endParaRPr lang="ru-RU" sz="2000" u="sng" dirty="0"/>
          </a:p>
          <a:p>
            <a:r>
              <a:rPr lang="ru-RU" sz="2000" u="sng" dirty="0"/>
              <a:t>Величины должны быть понятны</a:t>
            </a:r>
            <a:r>
              <a:rPr lang="en-US" sz="2000" u="sng" dirty="0"/>
              <a:t>;</a:t>
            </a:r>
            <a:endParaRPr lang="ru-RU" sz="2000" u="sng" dirty="0"/>
          </a:p>
          <a:p>
            <a:r>
              <a:rPr lang="ru-RU" sz="2000" dirty="0"/>
              <a:t>Пояснительные слова на слайде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u="sng" dirty="0"/>
              <a:t>Размер шрифта на рисунках читаемый </a:t>
            </a:r>
          </a:p>
          <a:p>
            <a:r>
              <a:rPr lang="ru-RU" sz="2000" dirty="0"/>
              <a:t>Язык презентаций - русский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5859780"/>
            <a:ext cx="4915898" cy="40011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ru-RU" sz="2000" dirty="0"/>
              <a:t>Рисунки нужно помещать только основные</a:t>
            </a:r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CFED-71C3-4C9C-BD9F-26C6B4C34C93}" type="datetime1">
              <a:rPr lang="ru-RU" smtClean="0"/>
              <a:t>23.05.2026</a:t>
            </a:fld>
            <a:endParaRPr lang="ru-RU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19</a:t>
            </a:fld>
            <a:endParaRPr lang="ru-RU"/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566" y="4125978"/>
            <a:ext cx="5039287" cy="230781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868175" y="4879775"/>
            <a:ext cx="2131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Подписанные оси</a:t>
            </a:r>
          </a:p>
        </p:txBody>
      </p:sp>
      <p:cxnSp>
        <p:nvCxnSpPr>
          <p:cNvPr id="36" name="Прямая со стрелкой 35"/>
          <p:cNvCxnSpPr/>
          <p:nvPr/>
        </p:nvCxnSpPr>
        <p:spPr>
          <a:xfrm>
            <a:off x="6981783" y="5118293"/>
            <a:ext cx="26967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317529" y="3468473"/>
            <a:ext cx="19264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Крупный шрифт</a:t>
            </a:r>
          </a:p>
        </p:txBody>
      </p:sp>
      <p:cxnSp>
        <p:nvCxnSpPr>
          <p:cNvPr id="38" name="Прямая со стрелкой 37"/>
          <p:cNvCxnSpPr>
            <a:stCxn id="37" idx="2"/>
          </p:cNvCxnSpPr>
          <p:nvPr/>
        </p:nvCxnSpPr>
        <p:spPr>
          <a:xfrm>
            <a:off x="9280742" y="3868583"/>
            <a:ext cx="701458" cy="6523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707587" y="3801239"/>
            <a:ext cx="1087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Легенда</a:t>
            </a:r>
          </a:p>
        </p:txBody>
      </p:sp>
      <p:cxnSp>
        <p:nvCxnSpPr>
          <p:cNvPr id="40" name="Прямая со стрелкой 39"/>
          <p:cNvCxnSpPr/>
          <p:nvPr/>
        </p:nvCxnSpPr>
        <p:spPr>
          <a:xfrm>
            <a:off x="7702254" y="4146217"/>
            <a:ext cx="1263946" cy="2345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766162" y="3293144"/>
            <a:ext cx="16104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Понятный результат</a:t>
            </a:r>
          </a:p>
        </p:txBody>
      </p:sp>
      <p:cxnSp>
        <p:nvCxnSpPr>
          <p:cNvPr id="42" name="Прямая со стрелкой 41"/>
          <p:cNvCxnSpPr>
            <a:stCxn id="41" idx="2"/>
          </p:cNvCxnSpPr>
          <p:nvPr/>
        </p:nvCxnSpPr>
        <p:spPr>
          <a:xfrm>
            <a:off x="11571379" y="4001030"/>
            <a:ext cx="162450" cy="3247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600403" y="1251616"/>
            <a:ext cx="1806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Плохой график</a:t>
            </a:r>
          </a:p>
        </p:txBody>
      </p:sp>
    </p:spTree>
    <p:extLst>
      <p:ext uri="{BB962C8B-B14F-4D97-AF65-F5344CB8AC3E}">
        <p14:creationId xmlns:p14="http://schemas.microsoft.com/office/powerpoint/2010/main" val="792396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к целям и задачам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Цель должна быть </a:t>
            </a:r>
            <a:r>
              <a:rPr lang="en-US" sz="2400" dirty="0"/>
              <a:t>SMART:</a:t>
            </a:r>
            <a:r>
              <a:rPr lang="ru-RU" sz="2400" dirty="0"/>
              <a:t> </a:t>
            </a:r>
            <a:r>
              <a:rPr lang="ru-RU" sz="2400" u="sng" dirty="0"/>
              <a:t>конкретной</a:t>
            </a:r>
            <a:r>
              <a:rPr lang="ru-RU" sz="2400" dirty="0"/>
              <a:t>, достижимой, измеримой, значимой, ограниченной во времени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Цель не должна быть процессом, не рекомендуется</a:t>
            </a:r>
            <a:r>
              <a:rPr lang="en-US" sz="2400" dirty="0"/>
              <a:t>:</a:t>
            </a:r>
            <a:r>
              <a:rPr lang="ru-RU" sz="2400" dirty="0"/>
              <a:t> исследование, расчет, изучение, анализ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Цель – лучше одна (максимум 2)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u="sng" dirty="0"/>
              <a:t>Задачи должны отражать этапы достижения цели </a:t>
            </a:r>
            <a:r>
              <a:rPr lang="ru-RU" sz="2400" dirty="0"/>
              <a:t>(аннотация)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В задачах указывают конкретные работы</a:t>
            </a:r>
            <a:r>
              <a:rPr lang="en-US" sz="2400" dirty="0"/>
              <a:t>: </a:t>
            </a:r>
            <a:r>
              <a:rPr lang="ru-RU" sz="2400" dirty="0"/>
              <a:t>исследования…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Для бакалавров</a:t>
            </a:r>
            <a:r>
              <a:rPr lang="en-US" sz="2400" dirty="0"/>
              <a:t>:</a:t>
            </a:r>
            <a:r>
              <a:rPr lang="ru-RU" sz="2400" dirty="0"/>
              <a:t> 2-3 задачи, для магистров</a:t>
            </a:r>
            <a:r>
              <a:rPr lang="en-US" sz="2400" dirty="0"/>
              <a:t>:</a:t>
            </a:r>
            <a:r>
              <a:rPr lang="ru-RU" sz="2400" dirty="0"/>
              <a:t> 3-4, для кандидатов</a:t>
            </a:r>
            <a:r>
              <a:rPr lang="en-US" sz="2400" dirty="0"/>
              <a:t>:</a:t>
            </a:r>
            <a:r>
              <a:rPr lang="ru-RU" sz="2400" dirty="0"/>
              <a:t> 4-5</a:t>
            </a:r>
            <a:r>
              <a:rPr lang="en-US" sz="2400" dirty="0"/>
              <a:t>.</a:t>
            </a:r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028700" y="5859780"/>
            <a:ext cx="3552832" cy="40011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ru-RU" sz="2000" dirty="0"/>
              <a:t>Цель – одна, задач - несколько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8A-53FA-4778-A777-9B865B7B0C6B}" type="datetime1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136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к аналитическому обзору состояния проблемы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u="sng" dirty="0"/>
              <a:t>Обзор литературы должен быть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Кто работал по этой теме до Вас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Преимущества и недостатки предшествующих работ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Что Вы взяли от других авторов, а что свое (вариант все взял из литературы – тоже вариант)</a:t>
            </a:r>
            <a:r>
              <a:rPr lang="en-US" sz="2400" dirty="0"/>
              <a:t>.</a:t>
            </a:r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028700" y="5859780"/>
            <a:ext cx="5368842" cy="40011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ru-RU" sz="2000" dirty="0"/>
              <a:t>Хороший обзор литературы – половина работы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99F98-141B-44F9-B7A9-403C86DC5FA1}" type="datetime1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3661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Рекомендации к постановке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1. </a:t>
            </a:r>
            <a:r>
              <a:rPr lang="ru-RU" sz="2400" u="sng" dirty="0"/>
              <a:t>Физико-математическая постановка задачи</a:t>
            </a:r>
          </a:p>
          <a:p>
            <a:r>
              <a:rPr lang="ru-RU" sz="2400" dirty="0"/>
              <a:t>Допущения, в рамках которых решается задача</a:t>
            </a:r>
          </a:p>
          <a:p>
            <a:r>
              <a:rPr lang="ru-RU" sz="2400" dirty="0"/>
              <a:t>Решаемые уравнения</a:t>
            </a:r>
          </a:p>
          <a:p>
            <a:r>
              <a:rPr lang="ru-RU" sz="2400" dirty="0"/>
              <a:t>Геометрия объекта</a:t>
            </a:r>
          </a:p>
          <a:p>
            <a:r>
              <a:rPr lang="ru-RU" sz="2400" dirty="0"/>
              <a:t>Расчетная сетка</a:t>
            </a:r>
          </a:p>
          <a:p>
            <a:r>
              <a:rPr lang="ru-RU" sz="2400" dirty="0"/>
              <a:t>Начальные и граничные условия</a:t>
            </a:r>
          </a:p>
          <a:p>
            <a:endParaRPr lang="ru-RU" sz="2400" dirty="0"/>
          </a:p>
          <a:p>
            <a:pPr marL="0" indent="0">
              <a:buNone/>
            </a:pPr>
            <a:r>
              <a:rPr lang="ru-RU" sz="2400" dirty="0"/>
              <a:t>2. </a:t>
            </a:r>
            <a:r>
              <a:rPr lang="ru-RU" sz="2400" u="sng" dirty="0"/>
              <a:t>Получаемые величины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5859780"/>
            <a:ext cx="6075125" cy="40011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ru-RU" sz="2000" dirty="0"/>
              <a:t>Правильно поставленная задача – половина решения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A8356-F78B-445D-9AE6-F6DFE2014D83}" type="datetime1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70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Рекомендации к описанию методов и методик решения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четко указать какие методы используются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u="sng" dirty="0"/>
              <a:t>описать методику выполнения работ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dirty="0"/>
              <a:t>привести обоснование выбора методов исследования</a:t>
            </a:r>
            <a:r>
              <a:rPr lang="en-US" sz="2000" dirty="0"/>
              <a:t>.</a:t>
            </a:r>
            <a:endParaRPr lang="ru-RU" sz="2000" dirty="0"/>
          </a:p>
          <a:p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028700" y="5859780"/>
            <a:ext cx="7167090" cy="40011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ru-RU" sz="2000" dirty="0"/>
              <a:t>Необходимо разделять понятия</a:t>
            </a:r>
            <a:r>
              <a:rPr lang="en-US" sz="2000" dirty="0"/>
              <a:t>:</a:t>
            </a:r>
            <a:r>
              <a:rPr lang="ru-RU" sz="2000" dirty="0"/>
              <a:t> метод, методика, методология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FA87-CA94-41D4-A359-9087EC70C7E0}" type="datetime1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702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Рекомендации к описанию основных результатов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u="sng" dirty="0"/>
              <a:t>Нужно четко разделять результаты других авторов и Ваши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u="sng" dirty="0"/>
              <a:t>Сделать акцент на новых результатах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dirty="0"/>
              <a:t>Результаты должны быть понятны образованным, но не специалистам в Вашей теме = преподавателям кафедры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dirty="0"/>
              <a:t>Лучше, когда результат – число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dirty="0"/>
              <a:t>Избегать фраз</a:t>
            </a:r>
            <a:r>
              <a:rPr lang="en-US" sz="2000" dirty="0"/>
              <a:t>:</a:t>
            </a:r>
            <a:r>
              <a:rPr lang="ru-RU" sz="2000" dirty="0"/>
              <a:t> хорошо согласуется, почти совпадает</a:t>
            </a:r>
            <a:r>
              <a:rPr lang="en-US" sz="2000" dirty="0"/>
              <a:t>…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028700" y="5859780"/>
            <a:ext cx="9786975" cy="40011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ru-RU" sz="2000" dirty="0"/>
              <a:t>Доклад – отражение результатов Вашей работы, а не процесса достижения результатов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F827-B853-4100-ACE9-2920B82F2937}" type="datetime1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157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к заключению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Формальный и обязательный элемент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u="sng" dirty="0"/>
              <a:t>Должно совпадать с печатной работой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u="sng" dirty="0"/>
              <a:t>В заключении должны быть результаты, упомянутые в презентации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Заключение обычно состоит из аннотационной части и выводов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Аннотационная часть – описательная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u="sng" dirty="0"/>
              <a:t>Выводы – конкретные результаты с числами или рекомендациями</a:t>
            </a:r>
            <a:r>
              <a:rPr lang="en-US" sz="2400" u="sng" dirty="0"/>
              <a:t>.</a:t>
            </a:r>
            <a:endParaRPr lang="ru-RU" sz="2400" u="sng" dirty="0"/>
          </a:p>
          <a:p>
            <a:endParaRPr lang="ru-RU" sz="2400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1028700" y="5859780"/>
            <a:ext cx="5389489" cy="40011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ru-RU" sz="2000" dirty="0"/>
              <a:t>Конкретная формулировка результатов работы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E0DE8-58F8-45FC-BDF6-DBFF56A6E0D8}" type="datetime1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817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3FDEC-834B-4F0D-BDEA-6A3D89BE7C49}" type="datetime1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Мастер-класс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DB4E-F691-43FC-84CA-E8FB1611D78D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14427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3858</TotalTime>
  <Words>1541</Words>
  <Application>Microsoft Office PowerPoint</Application>
  <PresentationFormat>Widescreen</PresentationFormat>
  <Paragraphs>272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ALSAhner</vt:lpstr>
      <vt:lpstr>Arial</vt:lpstr>
      <vt:lpstr>Calibri</vt:lpstr>
      <vt:lpstr>Calibri Light</vt:lpstr>
      <vt:lpstr>Wingdings</vt:lpstr>
      <vt:lpstr>Тема Office</vt:lpstr>
      <vt:lpstr>Оптимизация аэродинамической формы летательного аппарата на основе решения уравнений Рейнольдса</vt:lpstr>
      <vt:lpstr>Содержание</vt:lpstr>
      <vt:lpstr>Цели и задачи</vt:lpstr>
      <vt:lpstr>Актуальность</vt:lpstr>
      <vt:lpstr>Личный вклад</vt:lpstr>
      <vt:lpstr>&lt;Название раздела 1&gt;</vt:lpstr>
      <vt:lpstr>Предыстория вопроса</vt:lpstr>
      <vt:lpstr>Постановка задачи </vt:lpstr>
      <vt:lpstr>Методы и методика решения задач</vt:lpstr>
      <vt:lpstr>Результаты, их анализ</vt:lpstr>
      <vt:lpstr>Заключение</vt:lpstr>
      <vt:lpstr>&lt;Некоторые советы&gt;</vt:lpstr>
      <vt:lpstr>Структурированность</vt:lpstr>
      <vt:lpstr>Связанность мыслей</vt:lpstr>
      <vt:lpstr>Лаконичность</vt:lpstr>
      <vt:lpstr>Ограничение по времени</vt:lpstr>
      <vt:lpstr>Нейтральное оформление</vt:lpstr>
      <vt:lpstr>Структура слайда</vt:lpstr>
      <vt:lpstr>Графики и рисунки</vt:lpstr>
      <vt:lpstr>Рекомендации к целям и задачам работы</vt:lpstr>
      <vt:lpstr>Рекомендации к аналитическому обзору состояния проблемы </vt:lpstr>
      <vt:lpstr>Рекомендации к постановке задачи</vt:lpstr>
      <vt:lpstr>Рекомендации к описанию методов и методик решения задачи</vt:lpstr>
      <vt:lpstr>Рекомендации к описанию основных результатов</vt:lpstr>
      <vt:lpstr>Рекомендации к заключению</vt:lpstr>
      <vt:lpstr>PowerPoint Presentation</vt:lpstr>
    </vt:vector>
  </TitlesOfParts>
  <Company>TsAGI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Методика подготовки презентаций по НИР</dc:title>
  <dc:creator>Alex</dc:creator>
  <cp:lastModifiedBy>Владимир Черных</cp:lastModifiedBy>
  <cp:revision>95</cp:revision>
  <dcterms:created xsi:type="dcterms:W3CDTF">2022-12-13T08:41:58Z</dcterms:created>
  <dcterms:modified xsi:type="dcterms:W3CDTF">2026-05-23T00:56:47Z</dcterms:modified>
</cp:coreProperties>
</file>