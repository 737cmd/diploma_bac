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9"/>
  </p:notesMasterIdLst>
  <p:handoutMasterIdLst>
    <p:handoutMasterId r:id="rId50"/>
  </p:handoutMasterIdLst>
  <p:sldIdLst>
    <p:sldId id="469" r:id="rId2"/>
    <p:sldId id="476" r:id="rId3"/>
    <p:sldId id="561" r:id="rId4"/>
    <p:sldId id="571" r:id="rId5"/>
    <p:sldId id="572" r:id="rId6"/>
    <p:sldId id="478" r:id="rId7"/>
    <p:sldId id="480" r:id="rId8"/>
    <p:sldId id="481" r:id="rId9"/>
    <p:sldId id="557" r:id="rId10"/>
    <p:sldId id="483" r:id="rId11"/>
    <p:sldId id="486" r:id="rId12"/>
    <p:sldId id="534" r:id="rId13"/>
    <p:sldId id="491" r:id="rId14"/>
    <p:sldId id="496" r:id="rId15"/>
    <p:sldId id="495" r:id="rId16"/>
    <p:sldId id="492" r:id="rId17"/>
    <p:sldId id="498" r:id="rId18"/>
    <p:sldId id="499" r:id="rId19"/>
    <p:sldId id="530" r:id="rId20"/>
    <p:sldId id="500" r:id="rId21"/>
    <p:sldId id="501" r:id="rId22"/>
    <p:sldId id="502" r:id="rId23"/>
    <p:sldId id="531" r:id="rId24"/>
    <p:sldId id="573" r:id="rId25"/>
    <p:sldId id="507" r:id="rId26"/>
    <p:sldId id="574" r:id="rId27"/>
    <p:sldId id="540" r:id="rId28"/>
    <p:sldId id="509" r:id="rId29"/>
    <p:sldId id="511" r:id="rId30"/>
    <p:sldId id="512" r:id="rId31"/>
    <p:sldId id="575" r:id="rId32"/>
    <p:sldId id="569" r:id="rId33"/>
    <p:sldId id="564" r:id="rId34"/>
    <p:sldId id="565" r:id="rId35"/>
    <p:sldId id="566" r:id="rId36"/>
    <p:sldId id="570" r:id="rId37"/>
    <p:sldId id="567" r:id="rId38"/>
    <p:sldId id="576" r:id="rId39"/>
    <p:sldId id="568" r:id="rId40"/>
    <p:sldId id="556" r:id="rId41"/>
    <p:sldId id="558" r:id="rId42"/>
    <p:sldId id="560" r:id="rId43"/>
    <p:sldId id="513" r:id="rId44"/>
    <p:sldId id="514" r:id="rId45"/>
    <p:sldId id="515" r:id="rId46"/>
    <p:sldId id="518" r:id="rId47"/>
    <p:sldId id="519" r:id="rId48"/>
  </p:sldIdLst>
  <p:sldSz cx="9144000" cy="6858000" type="screen4x3"/>
  <p:notesSz cx="6781800" cy="9918700"/>
  <p:defaultTextStyle>
    <a:defPPr>
      <a:defRPr lang="en-US"/>
    </a:defPPr>
    <a:lvl1pPr algn="l" rtl="0" fontAlgn="base">
      <a:spcBef>
        <a:spcPct val="0"/>
      </a:spcBef>
      <a:spcAft>
        <a:spcPct val="0"/>
      </a:spcAft>
      <a:defRPr sz="2800" b="1" kern="1200">
        <a:solidFill>
          <a:schemeClr val="tx1"/>
        </a:solidFill>
        <a:latin typeface="Arial" charset="0"/>
        <a:ea typeface="+mn-ea"/>
        <a:cs typeface="+mn-cs"/>
      </a:defRPr>
    </a:lvl1pPr>
    <a:lvl2pPr marL="457200" algn="l" rtl="0" fontAlgn="base">
      <a:spcBef>
        <a:spcPct val="0"/>
      </a:spcBef>
      <a:spcAft>
        <a:spcPct val="0"/>
      </a:spcAft>
      <a:defRPr sz="2800" b="1" kern="1200">
        <a:solidFill>
          <a:schemeClr val="tx1"/>
        </a:solidFill>
        <a:latin typeface="Arial" charset="0"/>
        <a:ea typeface="+mn-ea"/>
        <a:cs typeface="+mn-cs"/>
      </a:defRPr>
    </a:lvl2pPr>
    <a:lvl3pPr marL="914400" algn="l" rtl="0" fontAlgn="base">
      <a:spcBef>
        <a:spcPct val="0"/>
      </a:spcBef>
      <a:spcAft>
        <a:spcPct val="0"/>
      </a:spcAft>
      <a:defRPr sz="2800" b="1" kern="1200">
        <a:solidFill>
          <a:schemeClr val="tx1"/>
        </a:solidFill>
        <a:latin typeface="Arial" charset="0"/>
        <a:ea typeface="+mn-ea"/>
        <a:cs typeface="+mn-cs"/>
      </a:defRPr>
    </a:lvl3pPr>
    <a:lvl4pPr marL="1371600" algn="l" rtl="0" fontAlgn="base">
      <a:spcBef>
        <a:spcPct val="0"/>
      </a:spcBef>
      <a:spcAft>
        <a:spcPct val="0"/>
      </a:spcAft>
      <a:defRPr sz="2800" b="1" kern="1200">
        <a:solidFill>
          <a:schemeClr val="tx1"/>
        </a:solidFill>
        <a:latin typeface="Arial" charset="0"/>
        <a:ea typeface="+mn-ea"/>
        <a:cs typeface="+mn-cs"/>
      </a:defRPr>
    </a:lvl4pPr>
    <a:lvl5pPr marL="1828800" algn="l" rtl="0" fontAlgn="base">
      <a:spcBef>
        <a:spcPct val="0"/>
      </a:spcBef>
      <a:spcAft>
        <a:spcPct val="0"/>
      </a:spcAft>
      <a:defRPr sz="2800" b="1" kern="1200">
        <a:solidFill>
          <a:schemeClr val="tx1"/>
        </a:solidFill>
        <a:latin typeface="Arial" charset="0"/>
        <a:ea typeface="+mn-ea"/>
        <a:cs typeface="+mn-cs"/>
      </a:defRPr>
    </a:lvl5pPr>
    <a:lvl6pPr marL="2286000" algn="l" defTabSz="914400" rtl="0" eaLnBrk="1" latinLnBrk="0" hangingPunct="1">
      <a:defRPr sz="2800" b="1" kern="1200">
        <a:solidFill>
          <a:schemeClr val="tx1"/>
        </a:solidFill>
        <a:latin typeface="Arial" charset="0"/>
        <a:ea typeface="+mn-ea"/>
        <a:cs typeface="+mn-cs"/>
      </a:defRPr>
    </a:lvl6pPr>
    <a:lvl7pPr marL="2743200" algn="l" defTabSz="914400" rtl="0" eaLnBrk="1" latinLnBrk="0" hangingPunct="1">
      <a:defRPr sz="2800" b="1" kern="1200">
        <a:solidFill>
          <a:schemeClr val="tx1"/>
        </a:solidFill>
        <a:latin typeface="Arial" charset="0"/>
        <a:ea typeface="+mn-ea"/>
        <a:cs typeface="+mn-cs"/>
      </a:defRPr>
    </a:lvl7pPr>
    <a:lvl8pPr marL="3200400" algn="l" defTabSz="914400" rtl="0" eaLnBrk="1" latinLnBrk="0" hangingPunct="1">
      <a:defRPr sz="2800" b="1" kern="1200">
        <a:solidFill>
          <a:schemeClr val="tx1"/>
        </a:solidFill>
        <a:latin typeface="Arial" charset="0"/>
        <a:ea typeface="+mn-ea"/>
        <a:cs typeface="+mn-cs"/>
      </a:defRPr>
    </a:lvl8pPr>
    <a:lvl9pPr marL="3657600" algn="l" defTabSz="914400" rtl="0" eaLnBrk="1" latinLnBrk="0" hangingPunct="1">
      <a:defRPr sz="28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545C"/>
    <a:srgbClr val="1D6771"/>
    <a:srgbClr val="328E9A"/>
    <a:srgbClr val="CC0000"/>
    <a:srgbClr val="16707C"/>
    <a:srgbClr val="1A8B9A"/>
    <a:srgbClr val="22B4C8"/>
    <a:srgbClr val="1B8E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15" autoAdjust="0"/>
    <p:restoredTop sz="86385" autoAdjust="0"/>
  </p:normalViewPr>
  <p:slideViewPr>
    <p:cSldViewPr snapToGrid="0">
      <p:cViewPr varScale="1">
        <p:scale>
          <a:sx n="99" d="100"/>
          <a:sy n="99" d="100"/>
        </p:scale>
        <p:origin x="1566" y="90"/>
      </p:cViewPr>
      <p:guideLst>
        <p:guide orient="horz" pos="2160"/>
        <p:guide pos="2880"/>
      </p:guideLst>
    </p:cSldViewPr>
  </p:slideViewPr>
  <p:outlineViewPr>
    <p:cViewPr>
      <p:scale>
        <a:sx n="33" d="100"/>
        <a:sy n="33" d="100"/>
      </p:scale>
      <p:origin x="0" y="32604"/>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bwMode="auto">
          <a:xfrm>
            <a:off x="0" y="0"/>
            <a:ext cx="2936875" cy="496888"/>
          </a:xfrm>
          <a:prstGeom prst="rect">
            <a:avLst/>
          </a:prstGeom>
          <a:noFill/>
          <a:ln w="9525">
            <a:noFill/>
            <a:miter lim="800000"/>
            <a:headEnd/>
            <a:tailEnd/>
          </a:ln>
          <a:effectLst/>
        </p:spPr>
        <p:txBody>
          <a:bodyPr vert="horz" wrap="square" lIns="96499" tIns="48252" rIns="96499" bIns="48252" numCol="1" anchor="t" anchorCtr="0" compatLnSpc="1">
            <a:prstTxWarp prst="textNoShape">
              <a:avLst/>
            </a:prstTxWarp>
          </a:bodyPr>
          <a:lstStyle>
            <a:lvl1pPr algn="l" defTabSz="963465" eaLnBrk="0" hangingPunct="0">
              <a:defRPr sz="1200" b="0" dirty="0">
                <a:latin typeface="Arial" pitchFamily="34" charset="0"/>
              </a:defRPr>
            </a:lvl1pPr>
          </a:lstStyle>
          <a:p>
            <a:pPr>
              <a:defRPr/>
            </a:pPr>
            <a:endParaRPr lang="en-US"/>
          </a:p>
        </p:txBody>
      </p:sp>
      <p:sp>
        <p:nvSpPr>
          <p:cNvPr id="90115" name="Rectangle 3"/>
          <p:cNvSpPr>
            <a:spLocks noGrp="1" noChangeArrowheads="1"/>
          </p:cNvSpPr>
          <p:nvPr>
            <p:ph type="dt" sz="quarter" idx="1"/>
          </p:nvPr>
        </p:nvSpPr>
        <p:spPr bwMode="auto">
          <a:xfrm>
            <a:off x="3844925" y="0"/>
            <a:ext cx="2936875" cy="496888"/>
          </a:xfrm>
          <a:prstGeom prst="rect">
            <a:avLst/>
          </a:prstGeom>
          <a:noFill/>
          <a:ln w="9525">
            <a:noFill/>
            <a:miter lim="800000"/>
            <a:headEnd/>
            <a:tailEnd/>
          </a:ln>
          <a:effectLst/>
        </p:spPr>
        <p:txBody>
          <a:bodyPr vert="horz" wrap="square" lIns="96499" tIns="48252" rIns="96499" bIns="48252" numCol="1" anchor="t" anchorCtr="0" compatLnSpc="1">
            <a:prstTxWarp prst="textNoShape">
              <a:avLst/>
            </a:prstTxWarp>
          </a:bodyPr>
          <a:lstStyle>
            <a:lvl1pPr algn="r" defTabSz="963465" eaLnBrk="0" hangingPunct="0">
              <a:defRPr sz="1200" b="0" dirty="0">
                <a:latin typeface="Arial" pitchFamily="34" charset="0"/>
              </a:defRPr>
            </a:lvl1pPr>
          </a:lstStyle>
          <a:p>
            <a:pPr>
              <a:defRPr/>
            </a:pPr>
            <a:endParaRPr lang="en-US"/>
          </a:p>
        </p:txBody>
      </p:sp>
      <p:sp>
        <p:nvSpPr>
          <p:cNvPr id="90116" name="Rectangle 4"/>
          <p:cNvSpPr>
            <a:spLocks noGrp="1" noChangeArrowheads="1"/>
          </p:cNvSpPr>
          <p:nvPr>
            <p:ph type="ftr" sz="quarter" idx="2"/>
          </p:nvPr>
        </p:nvSpPr>
        <p:spPr bwMode="auto">
          <a:xfrm>
            <a:off x="0" y="9421813"/>
            <a:ext cx="2936875" cy="496887"/>
          </a:xfrm>
          <a:prstGeom prst="rect">
            <a:avLst/>
          </a:prstGeom>
          <a:noFill/>
          <a:ln w="9525">
            <a:noFill/>
            <a:miter lim="800000"/>
            <a:headEnd/>
            <a:tailEnd/>
          </a:ln>
          <a:effectLst/>
        </p:spPr>
        <p:txBody>
          <a:bodyPr vert="horz" wrap="square" lIns="96499" tIns="48252" rIns="96499" bIns="48252" numCol="1" anchor="b" anchorCtr="0" compatLnSpc="1">
            <a:prstTxWarp prst="textNoShape">
              <a:avLst/>
            </a:prstTxWarp>
          </a:bodyPr>
          <a:lstStyle>
            <a:lvl1pPr algn="l" defTabSz="963465" eaLnBrk="0" hangingPunct="0">
              <a:defRPr sz="1200" b="0" dirty="0">
                <a:latin typeface="Arial" pitchFamily="34" charset="0"/>
              </a:defRPr>
            </a:lvl1pPr>
          </a:lstStyle>
          <a:p>
            <a:pPr>
              <a:defRPr/>
            </a:pPr>
            <a:endParaRPr lang="en-US"/>
          </a:p>
        </p:txBody>
      </p:sp>
      <p:sp>
        <p:nvSpPr>
          <p:cNvPr id="90117" name="Rectangle 5"/>
          <p:cNvSpPr>
            <a:spLocks noGrp="1" noChangeArrowheads="1"/>
          </p:cNvSpPr>
          <p:nvPr>
            <p:ph type="sldNum" sz="quarter" idx="3"/>
          </p:nvPr>
        </p:nvSpPr>
        <p:spPr bwMode="auto">
          <a:xfrm>
            <a:off x="3844925" y="9421813"/>
            <a:ext cx="2936875" cy="496887"/>
          </a:xfrm>
          <a:prstGeom prst="rect">
            <a:avLst/>
          </a:prstGeom>
          <a:noFill/>
          <a:ln w="9525">
            <a:noFill/>
            <a:miter lim="800000"/>
            <a:headEnd/>
            <a:tailEnd/>
          </a:ln>
          <a:effectLst/>
        </p:spPr>
        <p:txBody>
          <a:bodyPr vert="horz" wrap="square" lIns="96499" tIns="48252" rIns="96499" bIns="48252" numCol="1" anchor="b" anchorCtr="0" compatLnSpc="1">
            <a:prstTxWarp prst="textNoShape">
              <a:avLst/>
            </a:prstTxWarp>
          </a:bodyPr>
          <a:lstStyle>
            <a:lvl1pPr algn="r" defTabSz="963465" eaLnBrk="0" hangingPunct="0">
              <a:defRPr sz="1200" b="0" dirty="0">
                <a:latin typeface="Arial" pitchFamily="34" charset="0"/>
              </a:defRPr>
            </a:lvl1pPr>
          </a:lstStyle>
          <a:p>
            <a:pPr>
              <a:defRPr/>
            </a:pPr>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36875" cy="496888"/>
          </a:xfrm>
          <a:prstGeom prst="rect">
            <a:avLst/>
          </a:prstGeom>
          <a:noFill/>
          <a:ln w="9525">
            <a:noFill/>
            <a:miter lim="800000"/>
            <a:headEnd/>
            <a:tailEnd/>
          </a:ln>
          <a:effectLst/>
        </p:spPr>
        <p:txBody>
          <a:bodyPr vert="horz" wrap="square" lIns="96499" tIns="48252" rIns="96499" bIns="48252" numCol="1" anchor="t" anchorCtr="0" compatLnSpc="1">
            <a:prstTxWarp prst="textNoShape">
              <a:avLst/>
            </a:prstTxWarp>
          </a:bodyPr>
          <a:lstStyle>
            <a:lvl1pPr algn="l" defTabSz="963465" eaLnBrk="0" hangingPunct="0">
              <a:defRPr sz="1200" b="0" dirty="0">
                <a:latin typeface="Arial" pitchFamily="34" charset="0"/>
              </a:defRPr>
            </a:lvl1pPr>
          </a:lstStyle>
          <a:p>
            <a:pPr>
              <a:defRPr/>
            </a:pPr>
            <a:endParaRPr lang="en-US"/>
          </a:p>
        </p:txBody>
      </p:sp>
      <p:sp>
        <p:nvSpPr>
          <p:cNvPr id="9219" name="Rectangle 3"/>
          <p:cNvSpPr>
            <a:spLocks noGrp="1" noChangeArrowheads="1"/>
          </p:cNvSpPr>
          <p:nvPr>
            <p:ph type="dt" idx="1"/>
          </p:nvPr>
        </p:nvSpPr>
        <p:spPr bwMode="auto">
          <a:xfrm>
            <a:off x="3844925" y="0"/>
            <a:ext cx="2936875" cy="496888"/>
          </a:xfrm>
          <a:prstGeom prst="rect">
            <a:avLst/>
          </a:prstGeom>
          <a:noFill/>
          <a:ln w="9525">
            <a:noFill/>
            <a:miter lim="800000"/>
            <a:headEnd/>
            <a:tailEnd/>
          </a:ln>
          <a:effectLst/>
        </p:spPr>
        <p:txBody>
          <a:bodyPr vert="horz" wrap="square" lIns="96499" tIns="48252" rIns="96499" bIns="48252" numCol="1" anchor="t" anchorCtr="0" compatLnSpc="1">
            <a:prstTxWarp prst="textNoShape">
              <a:avLst/>
            </a:prstTxWarp>
          </a:bodyPr>
          <a:lstStyle>
            <a:lvl1pPr algn="r" defTabSz="963465" eaLnBrk="0" hangingPunct="0">
              <a:defRPr sz="1200" b="0" dirty="0">
                <a:latin typeface="Arial" pitchFamily="34" charset="0"/>
              </a:defRPr>
            </a:lvl1pPr>
          </a:lstStyle>
          <a:p>
            <a:pPr>
              <a:defRPr/>
            </a:pPr>
            <a:endParaRPr lang="en-US"/>
          </a:p>
        </p:txBody>
      </p:sp>
      <p:sp>
        <p:nvSpPr>
          <p:cNvPr id="51204" name="Rectangle 4"/>
          <p:cNvSpPr>
            <a:spLocks noGrp="1" noRot="1" noChangeAspect="1" noChangeArrowheads="1" noTextEdit="1"/>
          </p:cNvSpPr>
          <p:nvPr>
            <p:ph type="sldImg" idx="2"/>
          </p:nvPr>
        </p:nvSpPr>
        <p:spPr bwMode="auto">
          <a:xfrm>
            <a:off x="914400" y="742950"/>
            <a:ext cx="4959350" cy="3719513"/>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903288" y="4713288"/>
            <a:ext cx="4975225" cy="4462462"/>
          </a:xfrm>
          <a:prstGeom prst="rect">
            <a:avLst/>
          </a:prstGeom>
          <a:noFill/>
          <a:ln w="9525">
            <a:noFill/>
            <a:miter lim="800000"/>
            <a:headEnd/>
            <a:tailEnd/>
          </a:ln>
          <a:effectLst/>
        </p:spPr>
        <p:txBody>
          <a:bodyPr vert="horz" wrap="square" lIns="96499" tIns="48252" rIns="96499" bIns="48252" numCol="1" anchor="t" anchorCtr="0" compatLnSpc="1">
            <a:prstTxWarp prst="textNoShape">
              <a:avLst/>
            </a:prstTxWarp>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sp>
        <p:nvSpPr>
          <p:cNvPr id="9222" name="Rectangle 6"/>
          <p:cNvSpPr>
            <a:spLocks noGrp="1" noChangeArrowheads="1"/>
          </p:cNvSpPr>
          <p:nvPr>
            <p:ph type="ftr" sz="quarter" idx="4"/>
          </p:nvPr>
        </p:nvSpPr>
        <p:spPr bwMode="auto">
          <a:xfrm>
            <a:off x="0" y="9421813"/>
            <a:ext cx="2936875" cy="496887"/>
          </a:xfrm>
          <a:prstGeom prst="rect">
            <a:avLst/>
          </a:prstGeom>
          <a:noFill/>
          <a:ln w="9525">
            <a:noFill/>
            <a:miter lim="800000"/>
            <a:headEnd/>
            <a:tailEnd/>
          </a:ln>
          <a:effectLst/>
        </p:spPr>
        <p:txBody>
          <a:bodyPr vert="horz" wrap="square" lIns="96499" tIns="48252" rIns="96499" bIns="48252" numCol="1" anchor="b" anchorCtr="0" compatLnSpc="1">
            <a:prstTxWarp prst="textNoShape">
              <a:avLst/>
            </a:prstTxWarp>
          </a:bodyPr>
          <a:lstStyle>
            <a:lvl1pPr algn="l" defTabSz="963465" eaLnBrk="0" hangingPunct="0">
              <a:defRPr sz="1200" b="0" dirty="0">
                <a:latin typeface="Arial" pitchFamily="34" charset="0"/>
              </a:defRPr>
            </a:lvl1pPr>
          </a:lstStyle>
          <a:p>
            <a:pPr>
              <a:defRPr/>
            </a:pPr>
            <a:endParaRPr lang="en-US"/>
          </a:p>
        </p:txBody>
      </p:sp>
      <p:sp>
        <p:nvSpPr>
          <p:cNvPr id="9223" name="Rectangle 7"/>
          <p:cNvSpPr>
            <a:spLocks noGrp="1" noChangeArrowheads="1"/>
          </p:cNvSpPr>
          <p:nvPr>
            <p:ph type="sldNum" sz="quarter" idx="5"/>
          </p:nvPr>
        </p:nvSpPr>
        <p:spPr bwMode="auto">
          <a:xfrm>
            <a:off x="3844925" y="9421813"/>
            <a:ext cx="2936875" cy="496887"/>
          </a:xfrm>
          <a:prstGeom prst="rect">
            <a:avLst/>
          </a:prstGeom>
          <a:noFill/>
          <a:ln w="9525">
            <a:noFill/>
            <a:miter lim="800000"/>
            <a:headEnd/>
            <a:tailEnd/>
          </a:ln>
          <a:effectLst/>
        </p:spPr>
        <p:txBody>
          <a:bodyPr vert="horz" wrap="square" lIns="96499" tIns="48252" rIns="96499" bIns="48252" numCol="1" anchor="b" anchorCtr="0" compatLnSpc="1">
            <a:prstTxWarp prst="textNoShape">
              <a:avLst/>
            </a:prstTxWarp>
          </a:bodyPr>
          <a:lstStyle>
            <a:lvl1pPr algn="r" defTabSz="963465" eaLnBrk="0" hangingPunct="0">
              <a:defRPr sz="1200" b="0" smtClean="0">
                <a:latin typeface="Arial" pitchFamily="34" charset="0"/>
              </a:defRPr>
            </a:lvl1pPr>
          </a:lstStyle>
          <a:p>
            <a:pPr>
              <a:defRPr/>
            </a:pPr>
            <a:fld id="{E9B3CA79-276B-4158-A191-624163955E2A}"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CA" smtClean="0">
              <a:latin typeface="Arial" charset="0"/>
            </a:endParaRPr>
          </a:p>
        </p:txBody>
      </p:sp>
      <p:sp>
        <p:nvSpPr>
          <p:cNvPr id="52228" name="Slide Number Placeholder 3"/>
          <p:cNvSpPr>
            <a:spLocks noGrp="1"/>
          </p:cNvSpPr>
          <p:nvPr>
            <p:ph type="sldNum" sz="quarter" idx="5"/>
          </p:nvPr>
        </p:nvSpPr>
        <p:spPr>
          <a:noFill/>
        </p:spPr>
        <p:txBody>
          <a:bodyPr/>
          <a:lstStyle/>
          <a:p>
            <a:pPr defTabSz="962025"/>
            <a:fld id="{1F3D92F4-F18F-4C4B-BFE7-6658888715F2}" type="slidenum">
              <a:rPr lang="en-US">
                <a:latin typeface="Arial" charset="0"/>
              </a:rPr>
              <a:pPr defTabSz="962025"/>
              <a:t>1</a:t>
            </a:fld>
            <a:endParaRPr lang="en-US">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CA" smtClean="0">
              <a:latin typeface="Arial" charset="0"/>
            </a:endParaRPr>
          </a:p>
        </p:txBody>
      </p:sp>
      <p:sp>
        <p:nvSpPr>
          <p:cNvPr id="52228" name="Slide Number Placeholder 3"/>
          <p:cNvSpPr>
            <a:spLocks noGrp="1"/>
          </p:cNvSpPr>
          <p:nvPr>
            <p:ph type="sldNum" sz="quarter" idx="5"/>
          </p:nvPr>
        </p:nvSpPr>
        <p:spPr>
          <a:noFill/>
        </p:spPr>
        <p:txBody>
          <a:bodyPr/>
          <a:lstStyle/>
          <a:p>
            <a:pPr defTabSz="962025"/>
            <a:fld id="{1F3D92F4-F18F-4C4B-BFE7-6658888715F2}" type="slidenum">
              <a:rPr lang="en-US">
                <a:latin typeface="Arial" charset="0"/>
              </a:rPr>
              <a:pPr defTabSz="962025"/>
              <a:t>42</a:t>
            </a:fld>
            <a:endParaRPr lang="en-US">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19" descr="Title slide bkg"/>
          <p:cNvPicPr>
            <a:picLocks noChangeAspect="1" noChangeArrowheads="1"/>
          </p:cNvPicPr>
          <p:nvPr/>
        </p:nvPicPr>
        <p:blipFill>
          <a:blip r:embed="rId2" cstate="print"/>
          <a:srcRect/>
          <a:stretch>
            <a:fillRect/>
          </a:stretch>
        </p:blipFill>
        <p:spPr bwMode="ltGray">
          <a:xfrm>
            <a:off x="0" y="-1588"/>
            <a:ext cx="9144000" cy="6861176"/>
          </a:xfrm>
          <a:prstGeom prst="rect">
            <a:avLst/>
          </a:prstGeom>
          <a:noFill/>
          <a:ln w="9525">
            <a:noFill/>
            <a:miter lim="800000"/>
            <a:headEnd/>
            <a:tailEnd/>
          </a:ln>
        </p:spPr>
      </p:pic>
      <p:sp>
        <p:nvSpPr>
          <p:cNvPr id="5" name="Text Box 15"/>
          <p:cNvSpPr txBox="1">
            <a:spLocks noChangeArrowheads="1"/>
          </p:cNvSpPr>
          <p:nvPr/>
        </p:nvSpPr>
        <p:spPr bwMode="auto">
          <a:xfrm>
            <a:off x="4275132" y="6604000"/>
            <a:ext cx="788999" cy="261610"/>
          </a:xfrm>
          <a:prstGeom prst="rect">
            <a:avLst/>
          </a:prstGeom>
          <a:noFill/>
          <a:ln w="50800" cap="rnd" algn="ctr">
            <a:noFill/>
            <a:prstDash val="sysDot"/>
            <a:miter lim="800000"/>
            <a:headEnd/>
            <a:tailEnd/>
          </a:ln>
          <a:effectLst/>
        </p:spPr>
        <p:txBody>
          <a:bodyPr wrap="none">
            <a:spAutoFit/>
          </a:bodyPr>
          <a:lstStyle/>
          <a:p>
            <a:pPr algn="ctr" eaLnBrk="0" hangingPunct="0">
              <a:defRPr/>
            </a:pPr>
            <a:r>
              <a:rPr lang="en-US" sz="1100" b="0" dirty="0" smtClean="0"/>
              <a:t>WS4-</a:t>
            </a:r>
            <a:fld id="{B1344A8D-CE57-40D1-BFA1-BDBF88CE14DB}" type="slidenum">
              <a:rPr lang="en-US" sz="1100" b="0"/>
              <a:pPr algn="ctr" eaLnBrk="0" hangingPunct="0">
                <a:defRPr/>
              </a:pPr>
              <a:t>‹#›</a:t>
            </a:fld>
            <a:endParaRPr lang="en-US" sz="1100" b="0" dirty="0"/>
          </a:p>
        </p:txBody>
      </p:sp>
      <p:sp>
        <p:nvSpPr>
          <p:cNvPr id="6" name="Text Box 17"/>
          <p:cNvSpPr txBox="1">
            <a:spLocks noChangeArrowheads="1"/>
          </p:cNvSpPr>
          <p:nvPr/>
        </p:nvSpPr>
        <p:spPr bwMode="auto">
          <a:xfrm>
            <a:off x="101600" y="6526213"/>
            <a:ext cx="2058988" cy="336550"/>
          </a:xfrm>
          <a:prstGeom prst="rect">
            <a:avLst/>
          </a:prstGeom>
          <a:noFill/>
          <a:ln w="50800" cap="rnd" algn="ctr">
            <a:noFill/>
            <a:prstDash val="sysDot"/>
            <a:miter lim="800000"/>
            <a:headEnd/>
            <a:tailEnd/>
          </a:ln>
          <a:effectLst/>
        </p:spPr>
        <p:txBody>
          <a:bodyPr>
            <a:spAutoFit/>
          </a:bodyPr>
          <a:lstStyle/>
          <a:p>
            <a:pPr eaLnBrk="0" hangingPunct="0">
              <a:defRPr/>
            </a:pPr>
            <a:r>
              <a:rPr lang="en-US" sz="800" b="0" dirty="0"/>
              <a:t>ANSYS, Inc. Proprietary</a:t>
            </a:r>
          </a:p>
          <a:p>
            <a:pPr eaLnBrk="0" hangingPunct="0">
              <a:defRPr/>
            </a:pPr>
            <a:r>
              <a:rPr lang="en-US" sz="800" b="0" dirty="0"/>
              <a:t>© </a:t>
            </a:r>
            <a:r>
              <a:rPr lang="en-US" sz="800" b="0" dirty="0" smtClean="0"/>
              <a:t>2010 </a:t>
            </a:r>
            <a:r>
              <a:rPr lang="en-US" sz="800" b="0" dirty="0"/>
              <a:t>ANSYS, Inc.  All rights reserved.</a:t>
            </a:r>
          </a:p>
        </p:txBody>
      </p:sp>
      <p:sp>
        <p:nvSpPr>
          <p:cNvPr id="7" name="Text Box 18"/>
          <p:cNvSpPr txBox="1">
            <a:spLocks noChangeArrowheads="1"/>
          </p:cNvSpPr>
          <p:nvPr/>
        </p:nvSpPr>
        <p:spPr bwMode="auto">
          <a:xfrm>
            <a:off x="7770813" y="6537325"/>
            <a:ext cx="1279525" cy="338554"/>
          </a:xfrm>
          <a:prstGeom prst="rect">
            <a:avLst/>
          </a:prstGeom>
          <a:noFill/>
          <a:ln w="50800" cap="rnd" algn="ctr">
            <a:noFill/>
            <a:prstDash val="sysDot"/>
            <a:miter lim="800000"/>
            <a:headEnd/>
            <a:tailEnd/>
          </a:ln>
          <a:effectLst/>
        </p:spPr>
        <p:txBody>
          <a:bodyPr>
            <a:spAutoFit/>
          </a:bodyPr>
          <a:lstStyle/>
          <a:p>
            <a:pPr algn="r" eaLnBrk="0" hangingPunct="0">
              <a:defRPr/>
            </a:pPr>
            <a:r>
              <a:rPr lang="en-US" sz="800" b="0" dirty="0" smtClean="0"/>
              <a:t>Release</a:t>
            </a:r>
            <a:r>
              <a:rPr lang="en-US" sz="800" b="0" baseline="0" dirty="0" smtClean="0"/>
              <a:t> 13.0</a:t>
            </a:r>
          </a:p>
          <a:p>
            <a:pPr algn="r" eaLnBrk="0" hangingPunct="0">
              <a:defRPr/>
            </a:pPr>
            <a:r>
              <a:rPr lang="en-US" sz="800" b="0" baseline="0" dirty="0" smtClean="0"/>
              <a:t>December 2010</a:t>
            </a:r>
            <a:endParaRPr lang="en-US" sz="800" b="0" dirty="0"/>
          </a:p>
        </p:txBody>
      </p:sp>
      <p:sp>
        <p:nvSpPr>
          <p:cNvPr id="8" name="Rectangle 10"/>
          <p:cNvSpPr>
            <a:spLocks noGrp="1" noChangeArrowheads="1"/>
          </p:cNvSpPr>
          <p:nvPr>
            <p:ph type="subTitle" idx="1"/>
          </p:nvPr>
        </p:nvSpPr>
        <p:spPr>
          <a:xfrm>
            <a:off x="369888" y="4098925"/>
            <a:ext cx="3683128" cy="1816100"/>
          </a:xfrm>
          <a:effectLst/>
        </p:spPr>
        <p:txBody>
          <a:bodyPr/>
          <a:lstStyle>
            <a:lvl1pPr marL="0" indent="0">
              <a:spcBef>
                <a:spcPct val="0"/>
              </a:spcBef>
              <a:buFontTx/>
              <a:buNone/>
              <a:defRPr sz="3200">
                <a:solidFill>
                  <a:schemeClr val="bg1"/>
                </a:solidFill>
              </a:defRPr>
            </a:lvl1pPr>
          </a:lstStyle>
          <a:p>
            <a:r>
              <a:rPr lang="en-US" smtClean="0"/>
              <a:t>Click to edit Master subtitle style</a:t>
            </a:r>
            <a:endParaRPr lang="en-US" dirty="0"/>
          </a:p>
        </p:txBody>
      </p:sp>
      <p:sp>
        <p:nvSpPr>
          <p:cNvPr id="10" name="Rectangle 9"/>
          <p:cNvSpPr>
            <a:spLocks noGrp="1" noChangeArrowheads="1"/>
          </p:cNvSpPr>
          <p:nvPr>
            <p:ph type="ctrTitle"/>
          </p:nvPr>
        </p:nvSpPr>
        <p:spPr bwMode="auto">
          <a:xfrm>
            <a:off x="369888" y="1706608"/>
            <a:ext cx="7275512" cy="1012825"/>
          </a:xfrm>
          <a:effectLst/>
        </p:spPr>
        <p:txBody>
          <a:bodyPr anchor="t"/>
          <a:lstStyle>
            <a:lvl1pPr>
              <a:lnSpc>
                <a:spcPct val="90000"/>
              </a:lnSpc>
              <a:defRPr/>
            </a:lvl1pPr>
          </a:lstStyle>
          <a:p>
            <a:r>
              <a:rPr lang="en-US" smtClean="0"/>
              <a:t>Click to edit Master title style</a:t>
            </a:r>
            <a:endParaRPr lang="en-US"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Clr>
                <a:srgbClr val="16707C"/>
              </a:buClr>
              <a:defRPr/>
            </a:lvl1pPr>
            <a:lvl2pPr>
              <a:buClr>
                <a:srgbClr val="16707C"/>
              </a:buClr>
              <a:defRPr/>
            </a:lvl2pPr>
            <a:lvl3pPr>
              <a:buClr>
                <a:srgbClr val="16707C"/>
              </a:buClr>
              <a:defRPr/>
            </a:lvl3pPr>
            <a:lvl4pPr>
              <a:buClr>
                <a:srgbClr val="16707C"/>
              </a:buClr>
              <a:defRPr/>
            </a:lvl4pPr>
            <a:lvl5pPr>
              <a:buClr>
                <a:srgbClr val="16707C"/>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80975" y="942975"/>
            <a:ext cx="4314825" cy="555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42975"/>
            <a:ext cx="4314825" cy="555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Rectangle 45"/>
          <p:cNvSpPr>
            <a:spLocks noChangeArrowheads="1"/>
          </p:cNvSpPr>
          <p:nvPr/>
        </p:nvSpPr>
        <p:spPr bwMode="blackWhite">
          <a:xfrm>
            <a:off x="0" y="6548438"/>
            <a:ext cx="9144000" cy="304800"/>
          </a:xfrm>
          <a:prstGeom prst="rect">
            <a:avLst/>
          </a:prstGeom>
          <a:solidFill>
            <a:srgbClr val="16707C"/>
          </a:solidFill>
          <a:ln w="15875" algn="ctr">
            <a:solidFill>
              <a:srgbClr val="16707C"/>
            </a:solidFill>
            <a:miter lim="800000"/>
            <a:headEnd/>
            <a:tailEnd/>
          </a:ln>
          <a:effectLst/>
        </p:spPr>
        <p:txBody>
          <a:bodyPr wrap="none" anchor="ctr"/>
          <a:lstStyle/>
          <a:p>
            <a:pPr algn="ctr" eaLnBrk="0" hangingPunct="0">
              <a:defRPr/>
            </a:pPr>
            <a:endParaRPr lang="en-US"/>
          </a:p>
        </p:txBody>
      </p:sp>
      <p:sp>
        <p:nvSpPr>
          <p:cNvPr id="1069" name="Rectangle 45"/>
          <p:cNvSpPr>
            <a:spLocks noChangeArrowheads="1"/>
          </p:cNvSpPr>
          <p:nvPr/>
        </p:nvSpPr>
        <p:spPr bwMode="blackWhite">
          <a:xfrm>
            <a:off x="0" y="9525"/>
            <a:ext cx="9144000" cy="866775"/>
          </a:xfrm>
          <a:prstGeom prst="rect">
            <a:avLst/>
          </a:prstGeom>
          <a:solidFill>
            <a:srgbClr val="16707C"/>
          </a:solidFill>
          <a:ln w="15875" algn="ctr">
            <a:solidFill>
              <a:srgbClr val="16707C"/>
            </a:solidFill>
            <a:miter lim="800000"/>
            <a:headEnd/>
            <a:tailEnd/>
          </a:ln>
          <a:effectLst/>
        </p:spPr>
        <p:txBody>
          <a:bodyPr wrap="none" anchor="ctr"/>
          <a:lstStyle/>
          <a:p>
            <a:pPr algn="ctr" eaLnBrk="0" hangingPunct="0">
              <a:defRPr/>
            </a:pPr>
            <a:endParaRPr lang="en-US"/>
          </a:p>
        </p:txBody>
      </p:sp>
      <p:sp>
        <p:nvSpPr>
          <p:cNvPr id="3076" name="Rectangle 3"/>
          <p:cNvSpPr>
            <a:spLocks noGrp="1" noChangeArrowheads="1"/>
          </p:cNvSpPr>
          <p:nvPr>
            <p:ph type="body" idx="1"/>
          </p:nvPr>
        </p:nvSpPr>
        <p:spPr bwMode="auto">
          <a:xfrm>
            <a:off x="180975" y="935038"/>
            <a:ext cx="8782050" cy="55530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Text line 1-Arial 20 pt.</a:t>
            </a:r>
          </a:p>
          <a:p>
            <a:pPr lvl="1"/>
            <a:r>
              <a:rPr lang="en-US" dirty="0" smtClean="0"/>
              <a:t>Second line indent, Arial 18 pt.</a:t>
            </a:r>
          </a:p>
          <a:p>
            <a:pPr lvl="2"/>
            <a:r>
              <a:rPr lang="en-US" dirty="0" smtClean="0"/>
              <a:t>Third level Arial 16 pt.</a:t>
            </a:r>
          </a:p>
          <a:p>
            <a:pPr lvl="3"/>
            <a:r>
              <a:rPr lang="en-US" dirty="0" smtClean="0"/>
              <a:t>Fourth level Arial 14 pt.</a:t>
            </a:r>
          </a:p>
          <a:p>
            <a:pPr lvl="4"/>
            <a:r>
              <a:rPr lang="en-US" dirty="0" smtClean="0"/>
              <a:t>Fifth level Arial 12 pt.</a:t>
            </a:r>
          </a:p>
        </p:txBody>
      </p:sp>
      <p:sp>
        <p:nvSpPr>
          <p:cNvPr id="1077" name="Text Box 53"/>
          <p:cNvSpPr txBox="1">
            <a:spLocks noChangeArrowheads="1"/>
          </p:cNvSpPr>
          <p:nvPr/>
        </p:nvSpPr>
        <p:spPr bwMode="auto">
          <a:xfrm>
            <a:off x="0" y="57150"/>
            <a:ext cx="6905625" cy="261938"/>
          </a:xfrm>
          <a:prstGeom prst="rect">
            <a:avLst/>
          </a:prstGeom>
          <a:noFill/>
          <a:ln w="25400">
            <a:noFill/>
            <a:miter lim="800000"/>
            <a:headEnd type="none" w="sm" len="sm"/>
            <a:tailEnd type="none" w="med" len="sm"/>
          </a:ln>
          <a:effectLst/>
        </p:spPr>
        <p:txBody>
          <a:bodyPr/>
          <a:lstStyle/>
          <a:p>
            <a:pPr eaLnBrk="0" hangingPunct="0">
              <a:spcBef>
                <a:spcPct val="50000"/>
              </a:spcBef>
              <a:defRPr/>
            </a:pPr>
            <a:endParaRPr lang="en-US" sz="1800" i="1" dirty="0">
              <a:solidFill>
                <a:schemeClr val="bg1"/>
              </a:solidFill>
            </a:endParaRPr>
          </a:p>
        </p:txBody>
      </p:sp>
      <p:sp>
        <p:nvSpPr>
          <p:cNvPr id="3078" name="Rectangle 55"/>
          <p:cNvSpPr>
            <a:spLocks noGrp="1" noChangeArrowheads="1"/>
          </p:cNvSpPr>
          <p:nvPr>
            <p:ph type="title"/>
          </p:nvPr>
        </p:nvSpPr>
        <p:spPr bwMode="auto">
          <a:xfrm>
            <a:off x="-19050" y="417513"/>
            <a:ext cx="6934200" cy="457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pic>
        <p:nvPicPr>
          <p:cNvPr id="3079" name="Picture 61"/>
          <p:cNvPicPr>
            <a:picLocks noChangeAspect="1" noChangeArrowheads="1"/>
          </p:cNvPicPr>
          <p:nvPr/>
        </p:nvPicPr>
        <p:blipFill>
          <a:blip r:embed="rId6" cstate="print"/>
          <a:srcRect/>
          <a:stretch>
            <a:fillRect/>
          </a:stretch>
        </p:blipFill>
        <p:spPr bwMode="invGray">
          <a:xfrm>
            <a:off x="7258050" y="123825"/>
            <a:ext cx="1779588" cy="534988"/>
          </a:xfrm>
          <a:prstGeom prst="rect">
            <a:avLst/>
          </a:prstGeom>
          <a:solidFill>
            <a:srgbClr val="1B8E9D"/>
          </a:solidFill>
          <a:ln w="28575" algn="ctr">
            <a:noFill/>
            <a:miter lim="800000"/>
            <a:headEnd/>
            <a:tailEnd/>
          </a:ln>
        </p:spPr>
      </p:pic>
      <p:sp>
        <p:nvSpPr>
          <p:cNvPr id="1081" name="Text Box 57"/>
          <p:cNvSpPr txBox="1">
            <a:spLocks noChangeArrowheads="1"/>
          </p:cNvSpPr>
          <p:nvPr/>
        </p:nvSpPr>
        <p:spPr bwMode="auto">
          <a:xfrm>
            <a:off x="4275132" y="6586538"/>
            <a:ext cx="788999" cy="261610"/>
          </a:xfrm>
          <a:prstGeom prst="rect">
            <a:avLst/>
          </a:prstGeom>
          <a:noFill/>
          <a:ln w="50800" cap="rnd" algn="ctr">
            <a:noFill/>
            <a:prstDash val="sysDot"/>
            <a:miter lim="800000"/>
            <a:headEnd/>
            <a:tailEnd/>
          </a:ln>
          <a:effectLst/>
        </p:spPr>
        <p:txBody>
          <a:bodyPr wrap="none">
            <a:spAutoFit/>
          </a:bodyPr>
          <a:lstStyle/>
          <a:p>
            <a:pPr algn="ctr" eaLnBrk="0" hangingPunct="0">
              <a:defRPr/>
            </a:pPr>
            <a:r>
              <a:rPr lang="en-US" sz="1100" b="0" dirty="0" smtClean="0">
                <a:solidFill>
                  <a:schemeClr val="bg1"/>
                </a:solidFill>
              </a:rPr>
              <a:t>WS4-</a:t>
            </a:r>
            <a:fld id="{FA328C2F-01D5-4ACB-8AD2-69EBC9CFF78B}" type="slidenum">
              <a:rPr lang="en-US" sz="1100" b="0">
                <a:solidFill>
                  <a:schemeClr val="bg1"/>
                </a:solidFill>
              </a:rPr>
              <a:pPr algn="ctr" eaLnBrk="0" hangingPunct="0">
                <a:defRPr/>
              </a:pPr>
              <a:t>‹#›</a:t>
            </a:fld>
            <a:endParaRPr lang="en-US" sz="1100" b="0" dirty="0">
              <a:solidFill>
                <a:schemeClr val="bg1"/>
              </a:solidFill>
            </a:endParaRPr>
          </a:p>
        </p:txBody>
      </p:sp>
      <p:sp>
        <p:nvSpPr>
          <p:cNvPr id="1083" name="Text Box 59"/>
          <p:cNvSpPr txBox="1">
            <a:spLocks noChangeArrowheads="1"/>
          </p:cNvSpPr>
          <p:nvPr/>
        </p:nvSpPr>
        <p:spPr bwMode="auto">
          <a:xfrm>
            <a:off x="101600" y="6526213"/>
            <a:ext cx="2058988" cy="336550"/>
          </a:xfrm>
          <a:prstGeom prst="rect">
            <a:avLst/>
          </a:prstGeom>
          <a:noFill/>
          <a:ln w="50800" cap="rnd" algn="ctr">
            <a:noFill/>
            <a:prstDash val="sysDot"/>
            <a:miter lim="800000"/>
            <a:headEnd/>
            <a:tailEnd/>
          </a:ln>
          <a:effectLst/>
        </p:spPr>
        <p:txBody>
          <a:bodyPr>
            <a:spAutoFit/>
          </a:bodyPr>
          <a:lstStyle/>
          <a:p>
            <a:pPr eaLnBrk="0" hangingPunct="0">
              <a:defRPr/>
            </a:pPr>
            <a:r>
              <a:rPr lang="en-US" sz="800" b="0" dirty="0">
                <a:solidFill>
                  <a:schemeClr val="bg1"/>
                </a:solidFill>
              </a:rPr>
              <a:t>ANSYS, Inc. Proprietary</a:t>
            </a:r>
          </a:p>
          <a:p>
            <a:pPr eaLnBrk="0" hangingPunct="0">
              <a:defRPr/>
            </a:pPr>
            <a:r>
              <a:rPr lang="en-US" sz="800" b="0" dirty="0">
                <a:solidFill>
                  <a:schemeClr val="bg1"/>
                </a:solidFill>
              </a:rPr>
              <a:t>© </a:t>
            </a:r>
            <a:r>
              <a:rPr lang="en-US" sz="800" b="0" dirty="0" smtClean="0">
                <a:solidFill>
                  <a:schemeClr val="bg1"/>
                </a:solidFill>
              </a:rPr>
              <a:t>2010 </a:t>
            </a:r>
            <a:r>
              <a:rPr lang="en-US" sz="800" b="0" dirty="0">
                <a:solidFill>
                  <a:schemeClr val="bg1"/>
                </a:solidFill>
              </a:rPr>
              <a:t>ANSYS, Inc.  All rights reserved.</a:t>
            </a:r>
          </a:p>
        </p:txBody>
      </p:sp>
      <p:sp>
        <p:nvSpPr>
          <p:cNvPr id="1084" name="Text Box 60"/>
          <p:cNvSpPr txBox="1">
            <a:spLocks noChangeArrowheads="1"/>
          </p:cNvSpPr>
          <p:nvPr/>
        </p:nvSpPr>
        <p:spPr bwMode="auto">
          <a:xfrm>
            <a:off x="7770813" y="6529388"/>
            <a:ext cx="1279525" cy="338554"/>
          </a:xfrm>
          <a:prstGeom prst="rect">
            <a:avLst/>
          </a:prstGeom>
          <a:noFill/>
          <a:ln w="50800" cap="rnd" algn="ctr">
            <a:noFill/>
            <a:prstDash val="sysDot"/>
            <a:miter lim="800000"/>
            <a:headEnd/>
            <a:tailEnd/>
          </a:ln>
          <a:effectLst/>
        </p:spPr>
        <p:txBody>
          <a:bodyPr>
            <a:spAutoFit/>
          </a:bodyPr>
          <a:lstStyle/>
          <a:p>
            <a:pPr algn="r" eaLnBrk="0" hangingPunct="0">
              <a:defRPr/>
            </a:pPr>
            <a:r>
              <a:rPr lang="en-US" sz="800" b="0" dirty="0" smtClean="0">
                <a:solidFill>
                  <a:schemeClr val="bg1"/>
                </a:solidFill>
              </a:rPr>
              <a:t>Release 13.0</a:t>
            </a:r>
          </a:p>
          <a:p>
            <a:pPr algn="r" eaLnBrk="0" hangingPunct="0">
              <a:defRPr/>
            </a:pPr>
            <a:r>
              <a:rPr lang="en-US" sz="800" b="0" dirty="0" smtClean="0">
                <a:solidFill>
                  <a:schemeClr val="bg1"/>
                </a:solidFill>
              </a:rPr>
              <a:t>December 2010</a:t>
            </a:r>
            <a:endParaRPr lang="en-US" sz="800" b="0" dirty="0">
              <a:solidFill>
                <a:schemeClr val="bg1"/>
              </a:solidFill>
            </a:endParaRPr>
          </a:p>
        </p:txBody>
      </p:sp>
      <p:sp>
        <p:nvSpPr>
          <p:cNvPr id="1075" name="Text Box 51"/>
          <p:cNvSpPr txBox="1">
            <a:spLocks noChangeArrowheads="1"/>
          </p:cNvSpPr>
          <p:nvPr/>
        </p:nvSpPr>
        <p:spPr bwMode="auto">
          <a:xfrm>
            <a:off x="7346950" y="638175"/>
            <a:ext cx="1619250" cy="244475"/>
          </a:xfrm>
          <a:prstGeom prst="rect">
            <a:avLst/>
          </a:prstGeom>
          <a:noFill/>
          <a:ln w="25400">
            <a:noFill/>
            <a:miter lim="800000"/>
            <a:headEnd type="none" w="sm" len="sm"/>
            <a:tailEnd type="none" w="med" len="sm"/>
          </a:ln>
          <a:effectLst/>
        </p:spPr>
        <p:txBody>
          <a:bodyPr>
            <a:spAutoFit/>
          </a:bodyPr>
          <a:lstStyle/>
          <a:p>
            <a:pPr algn="ctr" eaLnBrk="0" hangingPunct="0">
              <a:spcBef>
                <a:spcPct val="50000"/>
              </a:spcBef>
              <a:defRPr/>
            </a:pPr>
            <a:r>
              <a:rPr lang="en-US" sz="1000" b="0" i="1" dirty="0">
                <a:solidFill>
                  <a:schemeClr val="bg1"/>
                </a:solidFill>
              </a:rPr>
              <a:t>Workshop Supplement</a:t>
            </a:r>
          </a:p>
        </p:txBody>
      </p:sp>
      <p:sp>
        <p:nvSpPr>
          <p:cNvPr id="13" name="Text Box 53"/>
          <p:cNvSpPr txBox="1">
            <a:spLocks noChangeArrowheads="1"/>
          </p:cNvSpPr>
          <p:nvPr userDrawn="1"/>
        </p:nvSpPr>
        <p:spPr bwMode="auto">
          <a:xfrm>
            <a:off x="0" y="7721"/>
            <a:ext cx="6905625" cy="371219"/>
          </a:xfrm>
          <a:prstGeom prst="rect">
            <a:avLst/>
          </a:prstGeom>
          <a:noFill/>
          <a:ln w="25400">
            <a:noFill/>
            <a:miter lim="800000"/>
            <a:headEnd type="none" w="sm" len="sm"/>
            <a:tailEnd type="none" w="med" len="sm"/>
          </a:ln>
          <a:effectLst/>
        </p:spPr>
        <p:txBody>
          <a:bodyPr/>
          <a:lstStyle/>
          <a:p>
            <a:pPr algn="l">
              <a:spcBef>
                <a:spcPct val="50000"/>
              </a:spcBef>
              <a:defRPr/>
            </a:pPr>
            <a:r>
              <a:rPr lang="en-US" sz="1800" i="1" dirty="0" smtClean="0">
                <a:solidFill>
                  <a:schemeClr val="bg1"/>
                </a:solidFill>
              </a:rPr>
              <a:t>WS4: RAE 2822 Airfoil</a:t>
            </a:r>
            <a:endParaRPr lang="en-US" sz="1800" i="1"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783" r:id="rId1"/>
    <p:sldLayoutId id="2147483763" r:id="rId2"/>
    <p:sldLayoutId id="2147483764" r:id="rId3"/>
    <p:sldLayoutId id="2147483767" r:id="rId4"/>
  </p:sldLayoutIdLst>
  <p:transition spd="med"/>
  <p:timing>
    <p:tnLst>
      <p:par>
        <p:cTn id="1" dur="indefinite" restart="never" nodeType="tmRoot"/>
      </p:par>
    </p:tnLst>
  </p:timing>
  <p:txStyles>
    <p:titleStyle>
      <a:lvl1pPr algn="l" rtl="0" eaLnBrk="0" fontAlgn="base" hangingPunct="0">
        <a:spcBef>
          <a:spcPct val="0"/>
        </a:spcBef>
        <a:spcAft>
          <a:spcPct val="0"/>
        </a:spcAft>
        <a:tabLst>
          <a:tab pos="400050" algn="l"/>
        </a:tabLst>
        <a:defRPr sz="2400" b="1">
          <a:solidFill>
            <a:srgbClr val="FFFFFF"/>
          </a:solidFill>
          <a:latin typeface="+mj-lt"/>
          <a:ea typeface="+mj-ea"/>
          <a:cs typeface="+mj-cs"/>
        </a:defRPr>
      </a:lvl1pPr>
      <a:lvl2pPr algn="l" rtl="0" eaLnBrk="0" fontAlgn="base" hangingPunct="0">
        <a:spcBef>
          <a:spcPct val="0"/>
        </a:spcBef>
        <a:spcAft>
          <a:spcPct val="0"/>
        </a:spcAft>
        <a:tabLst>
          <a:tab pos="400050" algn="l"/>
        </a:tabLst>
        <a:defRPr sz="2400" b="1">
          <a:solidFill>
            <a:srgbClr val="FFFFFF"/>
          </a:solidFill>
          <a:latin typeface="Arial" charset="0"/>
        </a:defRPr>
      </a:lvl2pPr>
      <a:lvl3pPr algn="l" rtl="0" eaLnBrk="0" fontAlgn="base" hangingPunct="0">
        <a:spcBef>
          <a:spcPct val="0"/>
        </a:spcBef>
        <a:spcAft>
          <a:spcPct val="0"/>
        </a:spcAft>
        <a:tabLst>
          <a:tab pos="400050" algn="l"/>
        </a:tabLst>
        <a:defRPr sz="2400" b="1">
          <a:solidFill>
            <a:srgbClr val="FFFFFF"/>
          </a:solidFill>
          <a:latin typeface="Arial" charset="0"/>
        </a:defRPr>
      </a:lvl3pPr>
      <a:lvl4pPr algn="l" rtl="0" eaLnBrk="0" fontAlgn="base" hangingPunct="0">
        <a:spcBef>
          <a:spcPct val="0"/>
        </a:spcBef>
        <a:spcAft>
          <a:spcPct val="0"/>
        </a:spcAft>
        <a:tabLst>
          <a:tab pos="400050" algn="l"/>
        </a:tabLst>
        <a:defRPr sz="2400" b="1">
          <a:solidFill>
            <a:srgbClr val="FFFFFF"/>
          </a:solidFill>
          <a:latin typeface="Arial" charset="0"/>
        </a:defRPr>
      </a:lvl4pPr>
      <a:lvl5pPr algn="l" rtl="0" eaLnBrk="0" fontAlgn="base" hangingPunct="0">
        <a:spcBef>
          <a:spcPct val="0"/>
        </a:spcBef>
        <a:spcAft>
          <a:spcPct val="0"/>
        </a:spcAft>
        <a:tabLst>
          <a:tab pos="400050" algn="l"/>
        </a:tabLst>
        <a:defRPr sz="2400" b="1">
          <a:solidFill>
            <a:srgbClr val="FFFFFF"/>
          </a:solidFill>
          <a:latin typeface="Arial" charset="0"/>
        </a:defRPr>
      </a:lvl5pPr>
      <a:lvl6pPr marL="457200" algn="l" rtl="0" eaLnBrk="1" fontAlgn="base" hangingPunct="1">
        <a:spcBef>
          <a:spcPct val="0"/>
        </a:spcBef>
        <a:spcAft>
          <a:spcPct val="0"/>
        </a:spcAft>
        <a:tabLst>
          <a:tab pos="400050" algn="l"/>
        </a:tabLst>
        <a:defRPr sz="2400" b="1">
          <a:solidFill>
            <a:srgbClr val="FFFFFF"/>
          </a:solidFill>
          <a:latin typeface="Arial" charset="0"/>
        </a:defRPr>
      </a:lvl6pPr>
      <a:lvl7pPr marL="914400" algn="l" rtl="0" eaLnBrk="1" fontAlgn="base" hangingPunct="1">
        <a:spcBef>
          <a:spcPct val="0"/>
        </a:spcBef>
        <a:spcAft>
          <a:spcPct val="0"/>
        </a:spcAft>
        <a:tabLst>
          <a:tab pos="400050" algn="l"/>
        </a:tabLst>
        <a:defRPr sz="2400" b="1">
          <a:solidFill>
            <a:srgbClr val="FFFFFF"/>
          </a:solidFill>
          <a:latin typeface="Arial" charset="0"/>
        </a:defRPr>
      </a:lvl7pPr>
      <a:lvl8pPr marL="1371600" algn="l" rtl="0" eaLnBrk="1" fontAlgn="base" hangingPunct="1">
        <a:spcBef>
          <a:spcPct val="0"/>
        </a:spcBef>
        <a:spcAft>
          <a:spcPct val="0"/>
        </a:spcAft>
        <a:tabLst>
          <a:tab pos="400050" algn="l"/>
        </a:tabLst>
        <a:defRPr sz="2400" b="1">
          <a:solidFill>
            <a:srgbClr val="FFFFFF"/>
          </a:solidFill>
          <a:latin typeface="Arial" charset="0"/>
        </a:defRPr>
      </a:lvl8pPr>
      <a:lvl9pPr marL="1828800" algn="l" rtl="0" eaLnBrk="1" fontAlgn="base" hangingPunct="1">
        <a:spcBef>
          <a:spcPct val="0"/>
        </a:spcBef>
        <a:spcAft>
          <a:spcPct val="0"/>
        </a:spcAft>
        <a:tabLst>
          <a:tab pos="400050" algn="l"/>
        </a:tabLst>
        <a:defRPr sz="2400" b="1">
          <a:solidFill>
            <a:srgbClr val="FFFFFF"/>
          </a:solidFill>
          <a:latin typeface="Arial" charset="0"/>
        </a:defRPr>
      </a:lvl9pPr>
    </p:titleStyle>
    <p:bodyStyle>
      <a:lvl1pPr marL="171450" indent="-171450" algn="l" rtl="0" eaLnBrk="0" fontAlgn="base" hangingPunct="0">
        <a:spcBef>
          <a:spcPct val="20000"/>
        </a:spcBef>
        <a:spcAft>
          <a:spcPct val="0"/>
        </a:spcAft>
        <a:buClr>
          <a:srgbClr val="16707C"/>
        </a:buClr>
        <a:buChar char="•"/>
        <a:defRPr sz="2000" b="1">
          <a:solidFill>
            <a:schemeClr val="tx1"/>
          </a:solidFill>
          <a:latin typeface="+mn-lt"/>
          <a:ea typeface="+mn-ea"/>
          <a:cs typeface="+mn-cs"/>
        </a:defRPr>
      </a:lvl1pPr>
      <a:lvl2pPr marL="571500" indent="-228600" algn="l" rtl="0" eaLnBrk="0" fontAlgn="base" hangingPunct="0">
        <a:spcBef>
          <a:spcPct val="20000"/>
        </a:spcBef>
        <a:spcAft>
          <a:spcPct val="0"/>
        </a:spcAft>
        <a:buClr>
          <a:srgbClr val="16707C"/>
        </a:buClr>
        <a:buFont typeface="Times New Roman" pitchFamily="18" charset="0"/>
        <a:buChar char="–"/>
        <a:defRPr sz="1800" b="1">
          <a:solidFill>
            <a:schemeClr val="tx1"/>
          </a:solidFill>
          <a:latin typeface="+mn-lt"/>
        </a:defRPr>
      </a:lvl2pPr>
      <a:lvl3pPr marL="914400" indent="-171450" algn="l" rtl="0" eaLnBrk="0" fontAlgn="base" hangingPunct="0">
        <a:spcBef>
          <a:spcPct val="20000"/>
        </a:spcBef>
        <a:spcAft>
          <a:spcPct val="0"/>
        </a:spcAft>
        <a:buClr>
          <a:srgbClr val="16707C"/>
        </a:buClr>
        <a:buChar char="•"/>
        <a:defRPr sz="1600" b="1">
          <a:solidFill>
            <a:schemeClr val="tx1"/>
          </a:solidFill>
          <a:latin typeface="+mn-lt"/>
        </a:defRPr>
      </a:lvl3pPr>
      <a:lvl4pPr marL="1257300" indent="-171450" algn="l" rtl="0" eaLnBrk="0" fontAlgn="base" hangingPunct="0">
        <a:spcBef>
          <a:spcPct val="20000"/>
        </a:spcBef>
        <a:spcAft>
          <a:spcPct val="0"/>
        </a:spcAft>
        <a:buClr>
          <a:srgbClr val="16707C"/>
        </a:buClr>
        <a:buFont typeface="Times New Roman" pitchFamily="18" charset="0"/>
        <a:buChar char="–"/>
        <a:defRPr sz="1400" b="1">
          <a:solidFill>
            <a:schemeClr val="tx1"/>
          </a:solidFill>
          <a:latin typeface="+mn-lt"/>
        </a:defRPr>
      </a:lvl4pPr>
      <a:lvl5pPr marL="1543050" indent="-114300" algn="l" rtl="0" eaLnBrk="0" fontAlgn="base" hangingPunct="0">
        <a:spcBef>
          <a:spcPct val="20000"/>
        </a:spcBef>
        <a:spcAft>
          <a:spcPct val="0"/>
        </a:spcAft>
        <a:buClr>
          <a:srgbClr val="16707C"/>
        </a:buClr>
        <a:buChar char="•"/>
        <a:defRPr sz="1200" b="1">
          <a:solidFill>
            <a:schemeClr val="tx1"/>
          </a:solidFill>
          <a:latin typeface="+mn-lt"/>
        </a:defRPr>
      </a:lvl5pPr>
      <a:lvl6pPr marL="2000250" indent="-114300" algn="l" rtl="0" eaLnBrk="1" fontAlgn="base" hangingPunct="1">
        <a:spcBef>
          <a:spcPct val="20000"/>
        </a:spcBef>
        <a:spcAft>
          <a:spcPct val="0"/>
        </a:spcAft>
        <a:buClr>
          <a:schemeClr val="hlink"/>
        </a:buClr>
        <a:buChar char="•"/>
        <a:defRPr sz="1200" b="1">
          <a:solidFill>
            <a:schemeClr val="tx1"/>
          </a:solidFill>
          <a:latin typeface="+mn-lt"/>
        </a:defRPr>
      </a:lvl6pPr>
      <a:lvl7pPr marL="2457450" indent="-114300" algn="l" rtl="0" eaLnBrk="1" fontAlgn="base" hangingPunct="1">
        <a:spcBef>
          <a:spcPct val="20000"/>
        </a:spcBef>
        <a:spcAft>
          <a:spcPct val="0"/>
        </a:spcAft>
        <a:buClr>
          <a:schemeClr val="hlink"/>
        </a:buClr>
        <a:buChar char="•"/>
        <a:defRPr sz="1200" b="1">
          <a:solidFill>
            <a:schemeClr val="tx1"/>
          </a:solidFill>
          <a:latin typeface="+mn-lt"/>
        </a:defRPr>
      </a:lvl7pPr>
      <a:lvl8pPr marL="2914650" indent="-114300" algn="l" rtl="0" eaLnBrk="1" fontAlgn="base" hangingPunct="1">
        <a:spcBef>
          <a:spcPct val="20000"/>
        </a:spcBef>
        <a:spcAft>
          <a:spcPct val="0"/>
        </a:spcAft>
        <a:buClr>
          <a:schemeClr val="hlink"/>
        </a:buClr>
        <a:buChar char="•"/>
        <a:defRPr sz="1200" b="1">
          <a:solidFill>
            <a:schemeClr val="tx1"/>
          </a:solidFill>
          <a:latin typeface="+mn-lt"/>
        </a:defRPr>
      </a:lvl8pPr>
      <a:lvl9pPr marL="3371850" indent="-114300" algn="l" rtl="0" eaLnBrk="1" fontAlgn="base" hangingPunct="1">
        <a:spcBef>
          <a:spcPct val="20000"/>
        </a:spcBef>
        <a:spcAft>
          <a:spcPct val="0"/>
        </a:spcAft>
        <a:buClr>
          <a:schemeClr val="hlink"/>
        </a:buClr>
        <a:buChar char="•"/>
        <a:defRPr sz="12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2.w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5.png"/><Relationship Id="rId4" Type="http://schemas.openxmlformats.org/officeDocument/2006/relationships/image" Target="../media/image14.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7.wmf"/><Relationship Id="rId5" Type="http://schemas.openxmlformats.org/officeDocument/2006/relationships/oleObject" Target="../embeddings/oleObject4.bin"/><Relationship Id="rId4" Type="http://schemas.openxmlformats.org/officeDocument/2006/relationships/image" Target="../media/image16.wmf"/></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tiff"/><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ubtitle 15"/>
          <p:cNvSpPr>
            <a:spLocks noGrp="1"/>
          </p:cNvSpPr>
          <p:nvPr>
            <p:ph type="subTitle" idx="1"/>
          </p:nvPr>
        </p:nvSpPr>
        <p:spPr>
          <a:xfrm>
            <a:off x="369888" y="4690615"/>
            <a:ext cx="3683128" cy="1279899"/>
          </a:xfrm>
        </p:spPr>
        <p:txBody>
          <a:bodyPr/>
          <a:lstStyle/>
          <a:p>
            <a:r>
              <a:rPr lang="en-US" dirty="0" smtClean="0"/>
              <a:t>Introductory FLUENT Training</a:t>
            </a:r>
          </a:p>
        </p:txBody>
      </p:sp>
      <p:sp>
        <p:nvSpPr>
          <p:cNvPr id="9219" name="Rectangle 70"/>
          <p:cNvSpPr>
            <a:spLocks noGrp="1" noChangeArrowheads="1"/>
          </p:cNvSpPr>
          <p:nvPr>
            <p:ph type="ctrTitle"/>
          </p:nvPr>
        </p:nvSpPr>
        <p:spPr/>
        <p:txBody>
          <a:bodyPr/>
          <a:lstStyle/>
          <a:p>
            <a:r>
              <a:rPr lang="en-US" dirty="0" smtClean="0"/>
              <a:t>Workshop XX</a:t>
            </a:r>
            <a:br>
              <a:rPr lang="en-US" dirty="0" smtClean="0"/>
            </a:br>
            <a:r>
              <a:rPr lang="en-US" dirty="0" smtClean="0"/>
              <a:t/>
            </a:r>
            <a:br>
              <a:rPr lang="en-US" dirty="0" smtClean="0"/>
            </a:br>
            <a:r>
              <a:rPr lang="en-US" dirty="0" smtClean="0"/>
              <a:t>Transonic Flow over a </a:t>
            </a:r>
            <a:br>
              <a:rPr lang="en-US" dirty="0" smtClean="0"/>
            </a:br>
            <a:r>
              <a:rPr lang="en-US" dirty="0" smtClean="0"/>
              <a:t>RAE 2822 Airfoil</a:t>
            </a: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419100"/>
            <a:ext cx="6934200" cy="438150"/>
          </a:xfrm>
        </p:spPr>
        <p:txBody>
          <a:bodyPr/>
          <a:lstStyle/>
          <a:p>
            <a:pPr eaLnBrk="1" hangingPunct="1"/>
            <a:r>
              <a:rPr lang="en-US" dirty="0" smtClean="0"/>
              <a:t>Goals</a:t>
            </a:r>
          </a:p>
        </p:txBody>
      </p:sp>
      <p:sp>
        <p:nvSpPr>
          <p:cNvPr id="10243" name="Rectangle 3"/>
          <p:cNvSpPr>
            <a:spLocks noGrp="1" noChangeArrowheads="1"/>
          </p:cNvSpPr>
          <p:nvPr>
            <p:ph type="body" idx="4294967295"/>
          </p:nvPr>
        </p:nvSpPr>
        <p:spPr>
          <a:xfrm>
            <a:off x="0" y="935038"/>
            <a:ext cx="8782050" cy="5553075"/>
          </a:xfrm>
        </p:spPr>
        <p:txBody>
          <a:bodyPr/>
          <a:lstStyle/>
          <a:p>
            <a:pPr algn="just" eaLnBrk="1" hangingPunct="1"/>
            <a:endParaRPr lang="en-GB" dirty="0" smtClean="0"/>
          </a:p>
          <a:p>
            <a:pPr algn="just" eaLnBrk="1" hangingPunct="1"/>
            <a:r>
              <a:rPr lang="en-GB" dirty="0" smtClean="0"/>
              <a:t>The purpose of this tutorial is to introduce the user to good techniques for modelling flow in high speed external aerodynamic applications</a:t>
            </a:r>
          </a:p>
          <a:p>
            <a:pPr algn="just" eaLnBrk="1" hangingPunct="1"/>
            <a:endParaRPr lang="en-GB" dirty="0" smtClean="0"/>
          </a:p>
          <a:p>
            <a:pPr algn="just" eaLnBrk="1" hangingPunct="1"/>
            <a:r>
              <a:rPr lang="en-GB" dirty="0" smtClean="0"/>
              <a:t>Transonic flow will be modelled over a RAE 2822 airfoil for which experimental data has been published, so that a comparison can be made</a:t>
            </a:r>
          </a:p>
          <a:p>
            <a:pPr algn="just" eaLnBrk="1" hangingPunct="1"/>
            <a:endParaRPr lang="en-GB" dirty="0" smtClean="0"/>
          </a:p>
          <a:p>
            <a:pPr algn="just" eaLnBrk="1" hangingPunct="1"/>
            <a:r>
              <a:rPr lang="en-GB" dirty="0" smtClean="0"/>
              <a:t>The flow to be considered is compressible and turbulent</a:t>
            </a:r>
          </a:p>
          <a:p>
            <a:pPr algn="just" eaLnBrk="1" hangingPunct="1"/>
            <a:endParaRPr lang="en-GB" dirty="0" smtClean="0"/>
          </a:p>
          <a:p>
            <a:pPr algn="just" eaLnBrk="1" hangingPunct="1"/>
            <a:r>
              <a:rPr lang="en-GB" dirty="0" smtClean="0"/>
              <a:t>The used solver is the density based implicit solver</a:t>
            </a:r>
          </a:p>
          <a:p>
            <a:pPr algn="just" eaLnBrk="1" hangingPunct="1"/>
            <a:endParaRPr lang="en-GB" dirty="0" smtClean="0"/>
          </a:p>
          <a:p>
            <a:pPr algn="just" eaLnBrk="1" hangingPunct="1"/>
            <a:r>
              <a:rPr lang="en-GB" dirty="0" smtClean="0"/>
              <a:t>The tutorial is carried out using FLUENT and CFD Post from within Workbench, but it could also be completed in standalone mode</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r>
              <a:rPr lang="de-DE" dirty="0" smtClean="0"/>
              <a:t>Task Description</a:t>
            </a:r>
            <a:endParaRPr lang="de-DE" dirty="0"/>
          </a:p>
        </p:txBody>
      </p:sp>
      <p:sp>
        <p:nvSpPr>
          <p:cNvPr id="3" name="Text Placeholder 2"/>
          <p:cNvSpPr>
            <a:spLocks noGrp="1"/>
          </p:cNvSpPr>
          <p:nvPr>
            <p:ph type="body" idx="4294967295"/>
          </p:nvPr>
        </p:nvSpPr>
        <p:spPr>
          <a:xfrm>
            <a:off x="152984" y="1308263"/>
            <a:ext cx="8782050" cy="2165513"/>
          </a:xfrm>
        </p:spPr>
        <p:txBody>
          <a:bodyPr/>
          <a:lstStyle/>
          <a:p>
            <a:r>
              <a:rPr lang="de-DE" dirty="0" smtClean="0"/>
              <a:t>Simulation Goals</a:t>
            </a:r>
          </a:p>
          <a:p>
            <a:endParaRPr lang="de-DE" sz="500" dirty="0" smtClean="0"/>
          </a:p>
          <a:p>
            <a:pPr lvl="1"/>
            <a:r>
              <a:rPr lang="de-DE" b="0" dirty="0" smtClean="0"/>
              <a:t>Drag </a:t>
            </a:r>
            <a:r>
              <a:rPr lang="de-DE" b="0" dirty="0" err="1" smtClean="0"/>
              <a:t>and</a:t>
            </a:r>
            <a:r>
              <a:rPr lang="de-DE" b="0" dirty="0" smtClean="0"/>
              <a:t> Lift </a:t>
            </a:r>
            <a:r>
              <a:rPr lang="de-DE" b="0" dirty="0" err="1" smtClean="0"/>
              <a:t>Coefficient</a:t>
            </a:r>
            <a:endParaRPr lang="de-DE" b="0" dirty="0" smtClean="0"/>
          </a:p>
          <a:p>
            <a:pPr lvl="1"/>
            <a:endParaRPr lang="de-DE" sz="500" b="0" dirty="0" smtClean="0"/>
          </a:p>
          <a:p>
            <a:pPr lvl="1"/>
            <a:r>
              <a:rPr lang="de-DE" b="0" dirty="0" smtClean="0"/>
              <a:t>Flow Field</a:t>
            </a:r>
          </a:p>
          <a:p>
            <a:pPr lvl="2"/>
            <a:r>
              <a:rPr lang="de-DE" b="0" dirty="0" smtClean="0"/>
              <a:t>Ma </a:t>
            </a:r>
            <a:r>
              <a:rPr lang="de-DE" b="0" dirty="0" err="1" smtClean="0"/>
              <a:t>number</a:t>
            </a:r>
            <a:endParaRPr lang="de-DE" b="0" dirty="0" smtClean="0"/>
          </a:p>
          <a:p>
            <a:pPr lvl="2"/>
            <a:r>
              <a:rPr lang="de-DE" b="0" dirty="0" err="1" smtClean="0"/>
              <a:t>Pressure</a:t>
            </a:r>
            <a:endParaRPr lang="de-DE" b="0" dirty="0" smtClean="0"/>
          </a:p>
          <a:p>
            <a:pPr lvl="1"/>
            <a:endParaRPr lang="de-DE" dirty="0"/>
          </a:p>
        </p:txBody>
      </p:sp>
      <p:sp>
        <p:nvSpPr>
          <p:cNvPr id="18" name="TextBox 17"/>
          <p:cNvSpPr txBox="1"/>
          <p:nvPr/>
        </p:nvSpPr>
        <p:spPr>
          <a:xfrm>
            <a:off x="451581" y="4335983"/>
            <a:ext cx="2038507" cy="1323439"/>
          </a:xfrm>
          <a:prstGeom prst="rect">
            <a:avLst/>
          </a:prstGeom>
          <a:noFill/>
        </p:spPr>
        <p:txBody>
          <a:bodyPr wrap="none" rtlCol="0">
            <a:spAutoFit/>
          </a:bodyPr>
          <a:lstStyle/>
          <a:p>
            <a:r>
              <a:rPr lang="de-DE" sz="2000" b="0" dirty="0" smtClean="0"/>
              <a:t>Ma = 0.75</a:t>
            </a:r>
          </a:p>
          <a:p>
            <a:r>
              <a:rPr lang="de-DE" sz="2000" b="0" dirty="0" err="1" smtClean="0"/>
              <a:t>p</a:t>
            </a:r>
            <a:r>
              <a:rPr lang="de-DE" sz="2000" b="0" baseline="-25000" dirty="0" err="1" smtClean="0"/>
              <a:t>static</a:t>
            </a:r>
            <a:r>
              <a:rPr lang="de-DE" sz="2000" b="0" dirty="0" smtClean="0"/>
              <a:t> = 11111 </a:t>
            </a:r>
            <a:r>
              <a:rPr lang="de-DE" sz="2000" b="0" dirty="0" err="1" smtClean="0"/>
              <a:t>Pa</a:t>
            </a:r>
            <a:endParaRPr lang="de-DE" sz="2000" b="0" dirty="0" smtClean="0"/>
          </a:p>
          <a:p>
            <a:r>
              <a:rPr lang="de-DE" sz="2000" b="0" dirty="0" err="1" smtClean="0"/>
              <a:t>T</a:t>
            </a:r>
            <a:r>
              <a:rPr lang="de-DE" sz="2000" b="0" baseline="-25000" dirty="0" err="1" smtClean="0"/>
              <a:t>static</a:t>
            </a:r>
            <a:r>
              <a:rPr lang="de-DE" sz="2000" b="0" dirty="0" smtClean="0"/>
              <a:t> = 216.65 K</a:t>
            </a:r>
          </a:p>
          <a:p>
            <a:r>
              <a:rPr lang="de-DE" sz="2000" b="0" dirty="0" smtClean="0">
                <a:latin typeface="Symbol" pitchFamily="18" charset="2"/>
              </a:rPr>
              <a:t>a</a:t>
            </a:r>
            <a:r>
              <a:rPr lang="de-DE" sz="2000" b="0" dirty="0" smtClean="0"/>
              <a:t> = 3,19°</a:t>
            </a:r>
            <a:endParaRPr lang="de-DE" sz="2000" b="0" dirty="0"/>
          </a:p>
        </p:txBody>
      </p:sp>
      <p:grpSp>
        <p:nvGrpSpPr>
          <p:cNvPr id="38" name="Group 37"/>
          <p:cNvGrpSpPr/>
          <p:nvPr/>
        </p:nvGrpSpPr>
        <p:grpSpPr>
          <a:xfrm>
            <a:off x="1887300" y="3788610"/>
            <a:ext cx="7071360" cy="1066800"/>
            <a:chOff x="1656080" y="3556000"/>
            <a:chExt cx="7071360" cy="1066800"/>
          </a:xfrm>
        </p:grpSpPr>
        <p:grpSp>
          <p:nvGrpSpPr>
            <p:cNvPr id="21" name="Group 20"/>
            <p:cNvGrpSpPr/>
            <p:nvPr/>
          </p:nvGrpSpPr>
          <p:grpSpPr>
            <a:xfrm>
              <a:off x="2621280" y="3556000"/>
              <a:ext cx="6106160" cy="1066800"/>
              <a:chOff x="2814320" y="3403600"/>
              <a:chExt cx="6106160" cy="1066800"/>
            </a:xfrm>
          </p:grpSpPr>
          <p:grpSp>
            <p:nvGrpSpPr>
              <p:cNvPr id="19" name="Group 18"/>
              <p:cNvGrpSpPr/>
              <p:nvPr/>
            </p:nvGrpSpPr>
            <p:grpSpPr>
              <a:xfrm>
                <a:off x="2814320" y="3403600"/>
                <a:ext cx="1412240" cy="1066800"/>
                <a:chOff x="1625600" y="3698240"/>
                <a:chExt cx="1412240" cy="1066800"/>
              </a:xfrm>
            </p:grpSpPr>
            <p:cxnSp>
              <p:nvCxnSpPr>
                <p:cNvPr id="7" name="Straight Arrow Connector 6"/>
                <p:cNvCxnSpPr/>
                <p:nvPr/>
              </p:nvCxnSpPr>
              <p:spPr bwMode="auto">
                <a:xfrm flipV="1">
                  <a:off x="1635760" y="3698240"/>
                  <a:ext cx="1402080" cy="335280"/>
                </a:xfrm>
                <a:prstGeom prst="straightConnector1">
                  <a:avLst/>
                </a:prstGeom>
                <a:noFill/>
                <a:ln w="28575" cap="flat" cmpd="sng" algn="ctr">
                  <a:solidFill>
                    <a:srgbClr val="CC0000"/>
                  </a:solidFill>
                  <a:prstDash val="solid"/>
                  <a:round/>
                  <a:headEnd type="none" w="med" len="med"/>
                  <a:tailEnd type="arrow"/>
                </a:ln>
                <a:effectLst/>
              </p:spPr>
            </p:cxnSp>
            <p:cxnSp>
              <p:nvCxnSpPr>
                <p:cNvPr id="14" name="Straight Arrow Connector 13"/>
                <p:cNvCxnSpPr/>
                <p:nvPr/>
              </p:nvCxnSpPr>
              <p:spPr bwMode="auto">
                <a:xfrm flipV="1">
                  <a:off x="1625600" y="4074160"/>
                  <a:ext cx="1402080" cy="335280"/>
                </a:xfrm>
                <a:prstGeom prst="straightConnector1">
                  <a:avLst/>
                </a:prstGeom>
                <a:noFill/>
                <a:ln w="28575" cap="flat" cmpd="sng" algn="ctr">
                  <a:solidFill>
                    <a:srgbClr val="CC0000"/>
                  </a:solidFill>
                  <a:prstDash val="solid"/>
                  <a:round/>
                  <a:headEnd type="none" w="med" len="med"/>
                  <a:tailEnd type="arrow"/>
                </a:ln>
                <a:effectLst/>
              </p:spPr>
            </p:cxnSp>
            <p:cxnSp>
              <p:nvCxnSpPr>
                <p:cNvPr id="15" name="Straight Arrow Connector 14"/>
                <p:cNvCxnSpPr/>
                <p:nvPr/>
              </p:nvCxnSpPr>
              <p:spPr bwMode="auto">
                <a:xfrm flipV="1">
                  <a:off x="1625600" y="4429760"/>
                  <a:ext cx="1402080" cy="335280"/>
                </a:xfrm>
                <a:prstGeom prst="straightConnector1">
                  <a:avLst/>
                </a:prstGeom>
                <a:noFill/>
                <a:ln w="28575" cap="flat" cmpd="sng" algn="ctr">
                  <a:solidFill>
                    <a:srgbClr val="CC0000"/>
                  </a:solidFill>
                  <a:prstDash val="solid"/>
                  <a:round/>
                  <a:headEnd type="none" w="med" len="med"/>
                  <a:tailEnd type="arrow"/>
                </a:ln>
                <a:effectLst/>
              </p:spPr>
            </p:cxnSp>
          </p:grpSp>
          <p:pic>
            <p:nvPicPr>
              <p:cNvPr id="20" name="Picture 8" descr="rae_skizze"/>
              <p:cNvPicPr>
                <a:picLocks noChangeAspect="1" noChangeArrowheads="1"/>
              </p:cNvPicPr>
              <p:nvPr/>
            </p:nvPicPr>
            <p:blipFill>
              <a:blip r:embed="rId2" cstate="print"/>
              <a:srcRect l="13585" t="42816" r="7096" b="44240"/>
              <a:stretch>
                <a:fillRect/>
              </a:stretch>
            </p:blipFill>
            <p:spPr bwMode="auto">
              <a:xfrm>
                <a:off x="4216400" y="3403600"/>
                <a:ext cx="4704080" cy="751840"/>
              </a:xfrm>
              <a:prstGeom prst="rect">
                <a:avLst/>
              </a:prstGeom>
              <a:noFill/>
              <a:ln w="25400">
                <a:noFill/>
                <a:miter lim="800000"/>
                <a:headEnd/>
                <a:tailEnd/>
              </a:ln>
            </p:spPr>
          </p:pic>
        </p:grpSp>
        <p:cxnSp>
          <p:nvCxnSpPr>
            <p:cNvPr id="29" name="Straight Connector 28"/>
            <p:cNvCxnSpPr>
              <a:stCxn id="20" idx="1"/>
            </p:cNvCxnSpPr>
            <p:nvPr/>
          </p:nvCxnSpPr>
          <p:spPr bwMode="auto">
            <a:xfrm rot="10800000" flipV="1">
              <a:off x="1656080" y="3931920"/>
              <a:ext cx="2367280" cy="40640"/>
            </a:xfrm>
            <a:prstGeom prst="line">
              <a:avLst/>
            </a:prstGeom>
            <a:noFill/>
            <a:ln w="12700" cap="flat" cmpd="sng" algn="ctr">
              <a:solidFill>
                <a:srgbClr val="CC0000"/>
              </a:solidFill>
              <a:prstDash val="sysDot"/>
              <a:round/>
              <a:headEnd type="none" w="med" len="med"/>
              <a:tailEnd type="none"/>
            </a:ln>
            <a:effectLst/>
          </p:spPr>
        </p:cxnSp>
        <p:sp>
          <p:nvSpPr>
            <p:cNvPr id="36" name="TextBox 35"/>
            <p:cNvSpPr txBox="1"/>
            <p:nvPr/>
          </p:nvSpPr>
          <p:spPr>
            <a:xfrm>
              <a:off x="2256972" y="3940628"/>
              <a:ext cx="410690" cy="523220"/>
            </a:xfrm>
            <a:prstGeom prst="rect">
              <a:avLst/>
            </a:prstGeom>
            <a:noFill/>
          </p:spPr>
          <p:txBody>
            <a:bodyPr wrap="none" rtlCol="0">
              <a:spAutoFit/>
            </a:bodyPr>
            <a:lstStyle/>
            <a:p>
              <a:r>
                <a:rPr lang="de-DE" dirty="0" smtClean="0">
                  <a:latin typeface="Symbol" pitchFamily="18" charset="2"/>
                </a:rPr>
                <a:t>a</a:t>
              </a:r>
              <a:endParaRPr lang="de-DE" dirty="0"/>
            </a:p>
          </p:txBody>
        </p:sp>
      </p:grpSp>
      <p:grpSp>
        <p:nvGrpSpPr>
          <p:cNvPr id="27" name="Group 26"/>
          <p:cNvGrpSpPr/>
          <p:nvPr/>
        </p:nvGrpSpPr>
        <p:grpSpPr>
          <a:xfrm>
            <a:off x="4539060" y="3139070"/>
            <a:ext cx="1490557" cy="1703530"/>
            <a:chOff x="3708400" y="2631440"/>
            <a:chExt cx="1490557" cy="1703530"/>
          </a:xfrm>
        </p:grpSpPr>
        <p:sp>
          <p:nvSpPr>
            <p:cNvPr id="23" name="Down Arrow 22"/>
            <p:cNvSpPr/>
            <p:nvPr/>
          </p:nvSpPr>
          <p:spPr bwMode="auto">
            <a:xfrm flipV="1">
              <a:off x="4500880" y="3129280"/>
              <a:ext cx="121920" cy="568960"/>
            </a:xfrm>
            <a:prstGeom prst="downArrow">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sp>
          <p:nvSpPr>
            <p:cNvPr id="24" name="TextBox 23"/>
            <p:cNvSpPr txBox="1"/>
            <p:nvPr/>
          </p:nvSpPr>
          <p:spPr>
            <a:xfrm>
              <a:off x="4389120" y="2631440"/>
              <a:ext cx="809837" cy="523220"/>
            </a:xfrm>
            <a:prstGeom prst="rect">
              <a:avLst/>
            </a:prstGeom>
            <a:noFill/>
          </p:spPr>
          <p:txBody>
            <a:bodyPr wrap="none" rtlCol="0">
              <a:spAutoFit/>
            </a:bodyPr>
            <a:lstStyle/>
            <a:p>
              <a:r>
                <a:rPr lang="de-DE" dirty="0" smtClean="0"/>
                <a:t>C</a:t>
              </a:r>
              <a:r>
                <a:rPr lang="de-DE" baseline="-25000" dirty="0" smtClean="0"/>
                <a:t>L</a:t>
              </a:r>
              <a:r>
                <a:rPr lang="de-DE" dirty="0" smtClean="0"/>
                <a:t>?</a:t>
              </a:r>
              <a:endParaRPr lang="de-DE" dirty="0"/>
            </a:p>
          </p:txBody>
        </p:sp>
        <p:sp>
          <p:nvSpPr>
            <p:cNvPr id="25" name="TextBox 24"/>
            <p:cNvSpPr txBox="1"/>
            <p:nvPr/>
          </p:nvSpPr>
          <p:spPr>
            <a:xfrm>
              <a:off x="3708400" y="3811750"/>
              <a:ext cx="837089" cy="523220"/>
            </a:xfrm>
            <a:prstGeom prst="rect">
              <a:avLst/>
            </a:prstGeom>
            <a:noFill/>
          </p:spPr>
          <p:txBody>
            <a:bodyPr wrap="none" rtlCol="0">
              <a:spAutoFit/>
            </a:bodyPr>
            <a:lstStyle/>
            <a:p>
              <a:r>
                <a:rPr lang="de-DE" dirty="0" smtClean="0"/>
                <a:t>C</a:t>
              </a:r>
              <a:r>
                <a:rPr lang="de-DE" baseline="-25000" dirty="0" smtClean="0"/>
                <a:t>D</a:t>
              </a:r>
              <a:r>
                <a:rPr lang="de-DE" dirty="0" smtClean="0"/>
                <a:t>?</a:t>
              </a:r>
              <a:endParaRPr lang="de-DE" dirty="0"/>
            </a:p>
          </p:txBody>
        </p:sp>
        <p:sp>
          <p:nvSpPr>
            <p:cNvPr id="26" name="Right Arrow 25"/>
            <p:cNvSpPr/>
            <p:nvPr/>
          </p:nvSpPr>
          <p:spPr bwMode="auto">
            <a:xfrm rot="10800000">
              <a:off x="3810000" y="3616960"/>
              <a:ext cx="782320" cy="111760"/>
            </a:xfrm>
            <a:prstGeom prst="rightArrow">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419100"/>
            <a:ext cx="6934200" cy="438150"/>
          </a:xfrm>
        </p:spPr>
        <p:txBody>
          <a:bodyPr/>
          <a:lstStyle/>
          <a:p>
            <a:pPr eaLnBrk="1" hangingPunct="1"/>
            <a:r>
              <a:rPr lang="en-US" dirty="0" smtClean="0"/>
              <a:t>Start FLUENT Stand-alone</a:t>
            </a:r>
          </a:p>
        </p:txBody>
      </p:sp>
      <p:sp>
        <p:nvSpPr>
          <p:cNvPr id="10243" name="Rectangle 3"/>
          <p:cNvSpPr>
            <a:spLocks noGrp="1" noChangeArrowheads="1"/>
          </p:cNvSpPr>
          <p:nvPr>
            <p:ph type="body" idx="4294967295"/>
          </p:nvPr>
        </p:nvSpPr>
        <p:spPr>
          <a:xfrm>
            <a:off x="102641" y="935038"/>
            <a:ext cx="8782050" cy="5553075"/>
          </a:xfrm>
        </p:spPr>
        <p:txBody>
          <a:bodyPr/>
          <a:lstStyle/>
          <a:p>
            <a:pPr algn="just" eaLnBrk="1" hangingPunct="1"/>
            <a:endParaRPr lang="en-GB" dirty="0" smtClean="0"/>
          </a:p>
          <a:p>
            <a:pPr algn="just" eaLnBrk="1" hangingPunct="1"/>
            <a:r>
              <a:rPr lang="en-GB" dirty="0" smtClean="0"/>
              <a:t>Start a Stand-alone FLUENT session:</a:t>
            </a:r>
          </a:p>
          <a:p>
            <a:pPr algn="just" eaLnBrk="1" hangingPunct="1"/>
            <a:endParaRPr lang="en-GB" sz="500" dirty="0" smtClean="0"/>
          </a:p>
          <a:p>
            <a:pPr lvl="1" algn="just" eaLnBrk="1" hangingPunct="1"/>
            <a:r>
              <a:rPr lang="en-GB" sz="1600" b="0" dirty="0" smtClean="0"/>
              <a:t>Start/All Programs/ANSYS12.0/Fluid Dynamics/Fluent</a:t>
            </a:r>
          </a:p>
          <a:p>
            <a:pPr lvl="1" algn="just" eaLnBrk="1" hangingPunct="1"/>
            <a:endParaRPr lang="en-GB" sz="500" b="0" dirty="0" smtClean="0"/>
          </a:p>
          <a:p>
            <a:pPr lvl="1" algn="just" eaLnBrk="1" hangingPunct="1"/>
            <a:r>
              <a:rPr lang="en-GB" sz="1600" b="0" dirty="0" smtClean="0"/>
              <a:t>Or use the Short Cut </a:t>
            </a:r>
            <a:r>
              <a:rPr lang="en-GB" sz="1400" b="0" dirty="0" smtClean="0"/>
              <a:t>(Windows)</a:t>
            </a:r>
          </a:p>
        </p:txBody>
      </p:sp>
      <p:pic>
        <p:nvPicPr>
          <p:cNvPr id="59394" name="Picture 2"/>
          <p:cNvPicPr>
            <a:picLocks noChangeAspect="1" noChangeArrowheads="1"/>
          </p:cNvPicPr>
          <p:nvPr/>
        </p:nvPicPr>
        <p:blipFill>
          <a:blip r:embed="rId2" cstate="print"/>
          <a:srcRect t="10767"/>
          <a:stretch>
            <a:fillRect/>
          </a:stretch>
        </p:blipFill>
        <p:spPr bwMode="auto">
          <a:xfrm>
            <a:off x="2986185" y="2528595"/>
            <a:ext cx="2272449" cy="319107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419100"/>
            <a:ext cx="6934200" cy="438150"/>
          </a:xfrm>
        </p:spPr>
        <p:txBody>
          <a:bodyPr/>
          <a:lstStyle/>
          <a:p>
            <a:pPr eaLnBrk="1" hangingPunct="1"/>
            <a:r>
              <a:rPr lang="en-US" dirty="0" smtClean="0"/>
              <a:t>Start FLUENT Stand-alone</a:t>
            </a:r>
          </a:p>
        </p:txBody>
      </p:sp>
      <p:sp>
        <p:nvSpPr>
          <p:cNvPr id="10243" name="Rectangle 3"/>
          <p:cNvSpPr>
            <a:spLocks noGrp="1" noChangeArrowheads="1"/>
          </p:cNvSpPr>
          <p:nvPr>
            <p:ph type="body" idx="4294967295"/>
          </p:nvPr>
        </p:nvSpPr>
        <p:spPr>
          <a:xfrm>
            <a:off x="102641" y="935038"/>
            <a:ext cx="8782050" cy="5553075"/>
          </a:xfrm>
        </p:spPr>
        <p:txBody>
          <a:bodyPr/>
          <a:lstStyle/>
          <a:p>
            <a:pPr algn="just" eaLnBrk="1" hangingPunct="1"/>
            <a:endParaRPr lang="en-GB" dirty="0" smtClean="0"/>
          </a:p>
          <a:p>
            <a:pPr algn="just" eaLnBrk="1" hangingPunct="1"/>
            <a:r>
              <a:rPr lang="en-GB" dirty="0" smtClean="0"/>
              <a:t>Start a Stand-alone FLUENT session:</a:t>
            </a:r>
          </a:p>
          <a:p>
            <a:pPr algn="just" eaLnBrk="1" hangingPunct="1"/>
            <a:endParaRPr lang="en-GB" sz="500" dirty="0" smtClean="0"/>
          </a:p>
          <a:p>
            <a:pPr lvl="1" algn="just" eaLnBrk="1" hangingPunct="1"/>
            <a:r>
              <a:rPr lang="en-GB" sz="1600" b="0" dirty="0" smtClean="0"/>
              <a:t>Launch a 3D, double precision, serial session</a:t>
            </a:r>
          </a:p>
        </p:txBody>
      </p:sp>
      <p:pic>
        <p:nvPicPr>
          <p:cNvPr id="60418" name="Picture 2"/>
          <p:cNvPicPr>
            <a:picLocks noChangeAspect="1" noChangeArrowheads="1"/>
          </p:cNvPicPr>
          <p:nvPr/>
        </p:nvPicPr>
        <p:blipFill>
          <a:blip r:embed="rId2" cstate="print"/>
          <a:srcRect/>
          <a:stretch>
            <a:fillRect/>
          </a:stretch>
        </p:blipFill>
        <p:spPr bwMode="auto">
          <a:xfrm>
            <a:off x="2500409" y="2123687"/>
            <a:ext cx="3022571" cy="3549326"/>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1"/>
          <p:cNvSpPr>
            <a:spLocks noGrp="1" noChangeArrowheads="1"/>
          </p:cNvSpPr>
          <p:nvPr>
            <p:ph type="title"/>
          </p:nvPr>
        </p:nvSpPr>
        <p:spPr/>
        <p:txBody>
          <a:bodyPr/>
          <a:lstStyle/>
          <a:p>
            <a:pPr eaLnBrk="1" hangingPunct="1"/>
            <a:r>
              <a:rPr lang="en-GB" dirty="0" smtClean="0"/>
              <a:t>Import the mesh</a:t>
            </a:r>
            <a:endParaRPr lang="en-US" dirty="0" smtClean="0"/>
          </a:p>
        </p:txBody>
      </p:sp>
      <p:sp>
        <p:nvSpPr>
          <p:cNvPr id="12291" name="Rectangle 12"/>
          <p:cNvSpPr>
            <a:spLocks noGrp="1" noChangeArrowheads="1"/>
          </p:cNvSpPr>
          <p:nvPr>
            <p:ph idx="1"/>
          </p:nvPr>
        </p:nvSpPr>
        <p:spPr/>
        <p:txBody>
          <a:bodyPr/>
          <a:lstStyle/>
          <a:p>
            <a:pPr eaLnBrk="1" hangingPunct="1"/>
            <a:endParaRPr lang="en-GB" dirty="0" smtClean="0"/>
          </a:p>
          <a:p>
            <a:pPr eaLnBrk="1" hangingPunct="1"/>
            <a:r>
              <a:rPr lang="en-GB" dirty="0" smtClean="0"/>
              <a:t>Import the mesh file</a:t>
            </a:r>
          </a:p>
          <a:p>
            <a:pPr lvl="1" eaLnBrk="1" hangingPunct="1"/>
            <a:endParaRPr lang="en-GB" sz="500" b="0" dirty="0" smtClean="0"/>
          </a:p>
          <a:p>
            <a:pPr lvl="1" eaLnBrk="1" hangingPunct="1"/>
            <a:r>
              <a:rPr lang="en-GB" sz="1600" b="0" dirty="0" smtClean="0"/>
              <a:t>File/Read/Mesh/</a:t>
            </a:r>
          </a:p>
          <a:p>
            <a:pPr lvl="1" eaLnBrk="1" hangingPunct="1"/>
            <a:endParaRPr lang="en-GB" sz="500" b="0" dirty="0" smtClean="0"/>
          </a:p>
          <a:p>
            <a:pPr lvl="1" eaLnBrk="1" hangingPunct="1"/>
            <a:r>
              <a:rPr lang="en-GB" sz="1600" b="0" dirty="0" smtClean="0"/>
              <a:t>Select the mesh file </a:t>
            </a:r>
            <a:r>
              <a:rPr lang="en-GB" sz="1600" dirty="0" smtClean="0">
                <a:solidFill>
                  <a:schemeClr val="accent6"/>
                </a:solidFill>
              </a:rPr>
              <a:t>rae2822_coarse.msh</a:t>
            </a:r>
          </a:p>
        </p:txBody>
      </p:sp>
      <p:pic>
        <p:nvPicPr>
          <p:cNvPr id="8193" name="Picture 1"/>
          <p:cNvPicPr>
            <a:picLocks noChangeAspect="1" noChangeArrowheads="1"/>
          </p:cNvPicPr>
          <p:nvPr/>
        </p:nvPicPr>
        <p:blipFill>
          <a:blip r:embed="rId2" cstate="print"/>
          <a:srcRect/>
          <a:stretch>
            <a:fillRect/>
          </a:stretch>
        </p:blipFill>
        <p:spPr bwMode="auto">
          <a:xfrm>
            <a:off x="2086850" y="2495453"/>
            <a:ext cx="4183321" cy="325866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419100"/>
            <a:ext cx="6934200" cy="438150"/>
          </a:xfrm>
        </p:spPr>
        <p:txBody>
          <a:bodyPr/>
          <a:lstStyle/>
          <a:p>
            <a:pPr eaLnBrk="1" hangingPunct="1"/>
            <a:r>
              <a:rPr lang="en-GB" dirty="0" smtClean="0"/>
              <a:t>Mesh</a:t>
            </a:r>
            <a:endParaRPr lang="en-US" dirty="0" smtClean="0"/>
          </a:p>
        </p:txBody>
      </p:sp>
      <p:sp>
        <p:nvSpPr>
          <p:cNvPr id="13315" name="Rectangle 3"/>
          <p:cNvSpPr>
            <a:spLocks noGrp="1" noChangeArrowheads="1"/>
          </p:cNvSpPr>
          <p:nvPr>
            <p:ph type="body" idx="4294967295"/>
          </p:nvPr>
        </p:nvSpPr>
        <p:spPr>
          <a:xfrm>
            <a:off x="186620" y="935038"/>
            <a:ext cx="8782050" cy="5553075"/>
          </a:xfrm>
        </p:spPr>
        <p:txBody>
          <a:bodyPr/>
          <a:lstStyle/>
          <a:p>
            <a:pPr algn="just" eaLnBrk="1" hangingPunct="1"/>
            <a:endParaRPr lang="en-GB" dirty="0" smtClean="0"/>
          </a:p>
          <a:p>
            <a:pPr algn="just" eaLnBrk="1" hangingPunct="1"/>
            <a:r>
              <a:rPr lang="en-GB" dirty="0" smtClean="0"/>
              <a:t>The mesh will read in and display</a:t>
            </a:r>
          </a:p>
          <a:p>
            <a:pPr lvl="1" algn="just" eaLnBrk="1" hangingPunct="1"/>
            <a:r>
              <a:rPr lang="en-GB" sz="1600" b="0" dirty="0" smtClean="0"/>
              <a:t>Rotate the mesh so you can see the mesh like shown below</a:t>
            </a:r>
            <a:endParaRPr lang="en-US" sz="1600" b="0" dirty="0" smtClean="0"/>
          </a:p>
        </p:txBody>
      </p:sp>
      <p:pic>
        <p:nvPicPr>
          <p:cNvPr id="7169" name="Picture 1"/>
          <p:cNvPicPr>
            <a:picLocks noChangeAspect="1" noChangeArrowheads="1"/>
          </p:cNvPicPr>
          <p:nvPr/>
        </p:nvPicPr>
        <p:blipFill>
          <a:blip r:embed="rId2" cstate="print"/>
          <a:srcRect l="7832" b="14317"/>
          <a:stretch>
            <a:fillRect/>
          </a:stretch>
        </p:blipFill>
        <p:spPr bwMode="auto">
          <a:xfrm>
            <a:off x="1233507" y="2092627"/>
            <a:ext cx="6736080" cy="3913798"/>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3"/>
          <p:cNvSpPr>
            <a:spLocks noGrp="1" noChangeArrowheads="1"/>
          </p:cNvSpPr>
          <p:nvPr>
            <p:ph type="title"/>
          </p:nvPr>
        </p:nvSpPr>
        <p:spPr/>
        <p:txBody>
          <a:bodyPr/>
          <a:lstStyle/>
          <a:p>
            <a:pPr eaLnBrk="1" hangingPunct="1"/>
            <a:r>
              <a:rPr lang="en-GB" dirty="0" smtClean="0"/>
              <a:t>Mesh (2)</a:t>
            </a:r>
            <a:endParaRPr lang="en-US" dirty="0" smtClean="0"/>
          </a:p>
        </p:txBody>
      </p:sp>
      <p:sp>
        <p:nvSpPr>
          <p:cNvPr id="14339" name="Rectangle 14"/>
          <p:cNvSpPr>
            <a:spLocks noGrp="1" noChangeArrowheads="1"/>
          </p:cNvSpPr>
          <p:nvPr>
            <p:ph idx="1"/>
          </p:nvPr>
        </p:nvSpPr>
        <p:spPr/>
        <p:txBody>
          <a:bodyPr/>
          <a:lstStyle/>
          <a:p>
            <a:pPr eaLnBrk="1" hangingPunct="1"/>
            <a:endParaRPr lang="en-GB" sz="1000" dirty="0" smtClean="0"/>
          </a:p>
          <a:p>
            <a:pPr eaLnBrk="1" hangingPunct="1"/>
            <a:r>
              <a:rPr lang="en-GB" dirty="0" smtClean="0"/>
              <a:t>Select General &gt; Scale  and observe the current domain extents</a:t>
            </a:r>
          </a:p>
          <a:p>
            <a:pPr lvl="1" eaLnBrk="1" hangingPunct="1"/>
            <a:r>
              <a:rPr lang="en-GB" sz="1600" b="0" dirty="0" smtClean="0"/>
              <a:t>Check that the domain extents are as expected.</a:t>
            </a:r>
          </a:p>
          <a:p>
            <a:pPr lvl="1" eaLnBrk="1" hangingPunct="1"/>
            <a:endParaRPr lang="en-GB" sz="500" b="0" dirty="0" smtClean="0"/>
          </a:p>
          <a:p>
            <a:pPr eaLnBrk="1" hangingPunct="1"/>
            <a:r>
              <a:rPr lang="en-GB" dirty="0" smtClean="0"/>
              <a:t>Select General &gt; Check  and check there are no errors</a:t>
            </a:r>
          </a:p>
          <a:p>
            <a:pPr eaLnBrk="1" hangingPunct="1"/>
            <a:endParaRPr lang="en-GB" sz="500" dirty="0" smtClean="0"/>
          </a:p>
          <a:p>
            <a:pPr eaLnBrk="1" hangingPunct="1"/>
            <a:r>
              <a:rPr lang="en-GB" dirty="0" smtClean="0"/>
              <a:t>Finally use ‘Report Quality’ to print out cell quality statistics</a:t>
            </a:r>
          </a:p>
          <a:p>
            <a:pPr eaLnBrk="1" hangingPunct="1"/>
            <a:endParaRPr lang="en-US" dirty="0" smtClean="0"/>
          </a:p>
          <a:p>
            <a:pPr eaLnBrk="1" hangingPunct="1"/>
            <a:endParaRPr lang="en-GB" dirty="0" smtClean="0"/>
          </a:p>
        </p:txBody>
      </p:sp>
      <p:pic>
        <p:nvPicPr>
          <p:cNvPr id="3" name="Picture 3"/>
          <p:cNvPicPr>
            <a:picLocks noChangeAspect="1" noChangeArrowheads="1"/>
          </p:cNvPicPr>
          <p:nvPr/>
        </p:nvPicPr>
        <p:blipFill>
          <a:blip r:embed="rId2" cstate="print"/>
          <a:srcRect/>
          <a:stretch>
            <a:fillRect/>
          </a:stretch>
        </p:blipFill>
        <p:spPr bwMode="auto">
          <a:xfrm>
            <a:off x="942004" y="2714236"/>
            <a:ext cx="6531817" cy="3792668"/>
          </a:xfrm>
          <a:prstGeom prst="rect">
            <a:avLst/>
          </a:prstGeom>
          <a:noFill/>
          <a:ln w="9525">
            <a:noFill/>
            <a:miter lim="800000"/>
            <a:headEnd/>
            <a:tailEnd/>
          </a:ln>
        </p:spPr>
      </p:pic>
      <p:pic>
        <p:nvPicPr>
          <p:cNvPr id="16" name="Picture 1"/>
          <p:cNvPicPr>
            <a:picLocks noChangeAspect="1" noChangeArrowheads="1"/>
          </p:cNvPicPr>
          <p:nvPr/>
        </p:nvPicPr>
        <p:blipFill>
          <a:blip r:embed="rId3" cstate="print"/>
          <a:srcRect/>
          <a:stretch>
            <a:fillRect/>
          </a:stretch>
        </p:blipFill>
        <p:spPr bwMode="auto">
          <a:xfrm>
            <a:off x="4354871" y="3042363"/>
            <a:ext cx="3772094" cy="2460061"/>
          </a:xfrm>
          <a:prstGeom prst="rect">
            <a:avLst/>
          </a:prstGeom>
          <a:noFill/>
          <a:ln w="9525">
            <a:noFill/>
            <a:miter lim="800000"/>
            <a:headEnd/>
            <a:tailEnd/>
          </a:ln>
        </p:spPr>
      </p:pic>
      <p:sp>
        <p:nvSpPr>
          <p:cNvPr id="17" name="Ellipse 16"/>
          <p:cNvSpPr/>
          <p:nvPr/>
        </p:nvSpPr>
        <p:spPr bwMode="auto">
          <a:xfrm>
            <a:off x="2509935" y="5738327"/>
            <a:ext cx="1996751" cy="727788"/>
          </a:xfrm>
          <a:prstGeom prst="ellipse">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smtClean="0">
              <a:ln>
                <a:noFill/>
              </a:ln>
              <a:solidFill>
                <a:schemeClr val="tx1"/>
              </a:solidFill>
              <a:effectLst/>
              <a:latin typeface="Arial" charset="0"/>
            </a:endParaRPr>
          </a:p>
        </p:txBody>
      </p:sp>
      <p:sp>
        <p:nvSpPr>
          <p:cNvPr id="19" name="Rectangle 18"/>
          <p:cNvSpPr/>
          <p:nvPr/>
        </p:nvSpPr>
        <p:spPr bwMode="auto">
          <a:xfrm>
            <a:off x="4376057" y="3293706"/>
            <a:ext cx="2537927" cy="933061"/>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smtClean="0">
              <a:ln>
                <a:noFill/>
              </a:ln>
              <a:solidFill>
                <a:schemeClr val="tx1"/>
              </a:solidFill>
              <a:effectLst/>
              <a:latin typeface="Arial" charset="0"/>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0" y="419100"/>
            <a:ext cx="6934200" cy="438150"/>
          </a:xfrm>
        </p:spPr>
        <p:txBody>
          <a:bodyPr/>
          <a:lstStyle/>
          <a:p>
            <a:pPr eaLnBrk="1" hangingPunct="1"/>
            <a:r>
              <a:rPr lang="en-GB" dirty="0" smtClean="0"/>
              <a:t>Mesh (3)</a:t>
            </a:r>
            <a:endParaRPr lang="en-US" dirty="0" smtClean="0"/>
          </a:p>
        </p:txBody>
      </p:sp>
      <p:sp>
        <p:nvSpPr>
          <p:cNvPr id="15363" name="Rectangle 3"/>
          <p:cNvSpPr>
            <a:spLocks noGrp="1" noChangeArrowheads="1"/>
          </p:cNvSpPr>
          <p:nvPr>
            <p:ph type="body" idx="4294967295"/>
          </p:nvPr>
        </p:nvSpPr>
        <p:spPr>
          <a:xfrm>
            <a:off x="186620" y="935038"/>
            <a:ext cx="8602817" cy="5553075"/>
          </a:xfrm>
        </p:spPr>
        <p:txBody>
          <a:bodyPr/>
          <a:lstStyle/>
          <a:p>
            <a:pPr algn="just" eaLnBrk="1" hangingPunct="1"/>
            <a:endParaRPr lang="en-GB" sz="1000" dirty="0" smtClean="0"/>
          </a:p>
          <a:p>
            <a:pPr algn="just" eaLnBrk="1" hangingPunct="1"/>
            <a:r>
              <a:rPr lang="en-GB" dirty="0" smtClean="0"/>
              <a:t>Zoom in and examine the mesh</a:t>
            </a:r>
          </a:p>
          <a:p>
            <a:pPr marL="514350" lvl="2" algn="just" eaLnBrk="1" hangingPunct="1"/>
            <a:r>
              <a:rPr lang="en-GB" b="0" dirty="0" smtClean="0"/>
              <a:t>The maximum aspect ratio in this mesh is quite high (around 7000)</a:t>
            </a:r>
          </a:p>
          <a:p>
            <a:pPr marL="514350" lvl="2" algn="just" eaLnBrk="1" hangingPunct="1"/>
            <a:r>
              <a:rPr lang="en-GB" b="0" dirty="0" smtClean="0"/>
              <a:t>This is acceptable because these cells are close to the airfoil wall surfaces</a:t>
            </a:r>
          </a:p>
          <a:p>
            <a:pPr marL="514350" lvl="2" algn="just" eaLnBrk="1" hangingPunct="1"/>
            <a:r>
              <a:rPr lang="en-GB" b="0" dirty="0" smtClean="0"/>
              <a:t>This is needed for the turbulence model being used, since it ensures the first grid point is in the viscous </a:t>
            </a:r>
            <a:r>
              <a:rPr lang="en-GB" b="0" dirty="0" err="1" smtClean="0"/>
              <a:t>sublayer</a:t>
            </a:r>
            <a:endParaRPr lang="en-GB" b="0" dirty="0" smtClean="0"/>
          </a:p>
        </p:txBody>
      </p:sp>
      <p:pic>
        <p:nvPicPr>
          <p:cNvPr id="13" name="Image 12" descr="rae2822_coarse-mesh.png"/>
          <p:cNvPicPr>
            <a:picLocks noChangeAspect="1"/>
          </p:cNvPicPr>
          <p:nvPr/>
        </p:nvPicPr>
        <p:blipFill>
          <a:blip r:embed="rId2" cstate="print"/>
          <a:srcRect b="12925"/>
          <a:stretch>
            <a:fillRect/>
          </a:stretch>
        </p:blipFill>
        <p:spPr>
          <a:xfrm>
            <a:off x="1940766" y="2715206"/>
            <a:ext cx="5355772" cy="3497647"/>
          </a:xfrm>
          <a:prstGeom prst="rect">
            <a:avLst/>
          </a:prstGeom>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8"/>
          <p:cNvSpPr>
            <a:spLocks noGrp="1" noChangeArrowheads="1"/>
          </p:cNvSpPr>
          <p:nvPr>
            <p:ph type="title"/>
          </p:nvPr>
        </p:nvSpPr>
        <p:spPr/>
        <p:txBody>
          <a:bodyPr/>
          <a:lstStyle/>
          <a:p>
            <a:pPr eaLnBrk="1" hangingPunct="1"/>
            <a:r>
              <a:rPr lang="en-GB" dirty="0" smtClean="0"/>
              <a:t>Solver</a:t>
            </a:r>
            <a:endParaRPr lang="en-US" dirty="0" smtClean="0"/>
          </a:p>
        </p:txBody>
      </p:sp>
      <p:sp>
        <p:nvSpPr>
          <p:cNvPr id="16387" name="Rectangle 9"/>
          <p:cNvSpPr>
            <a:spLocks noGrp="1" noChangeArrowheads="1"/>
          </p:cNvSpPr>
          <p:nvPr>
            <p:ph idx="1"/>
          </p:nvPr>
        </p:nvSpPr>
        <p:spPr>
          <a:xfrm>
            <a:off x="180975" y="935038"/>
            <a:ext cx="7544772" cy="5553075"/>
          </a:xfrm>
        </p:spPr>
        <p:txBody>
          <a:bodyPr/>
          <a:lstStyle/>
          <a:p>
            <a:pPr eaLnBrk="1" hangingPunct="1"/>
            <a:endParaRPr lang="en-GB" dirty="0" smtClean="0"/>
          </a:p>
          <a:p>
            <a:pPr eaLnBrk="1" hangingPunct="1"/>
            <a:r>
              <a:rPr lang="en-GB" dirty="0" smtClean="0"/>
              <a:t>Select the steady-state implicit density-based solver</a:t>
            </a:r>
          </a:p>
          <a:p>
            <a:pPr lvl="1" eaLnBrk="1" hangingPunct="1"/>
            <a:r>
              <a:rPr lang="en-GB" sz="1600" b="0" dirty="0" smtClean="0"/>
              <a:t>From ‘General’ in the tree check Type:  </a:t>
            </a:r>
            <a:r>
              <a:rPr lang="en-GB" sz="1600" b="0" dirty="0" smtClean="0">
                <a:solidFill>
                  <a:schemeClr val="accent6"/>
                </a:solidFill>
              </a:rPr>
              <a:t>Density-Based</a:t>
            </a:r>
          </a:p>
          <a:p>
            <a:pPr lvl="1" eaLnBrk="1" hangingPunct="1"/>
            <a:r>
              <a:rPr lang="en-GB" sz="1600" b="0" dirty="0" smtClean="0"/>
              <a:t>Check time is steady</a:t>
            </a:r>
          </a:p>
          <a:p>
            <a:pPr eaLnBrk="1" hangingPunct="1"/>
            <a:endParaRPr lang="en-GB" sz="1000" dirty="0" smtClean="0"/>
          </a:p>
          <a:p>
            <a:pPr eaLnBrk="1" hangingPunct="1"/>
            <a:r>
              <a:rPr lang="en-GB" dirty="0" smtClean="0"/>
              <a:t>Turn on the energy equation  </a:t>
            </a:r>
          </a:p>
          <a:p>
            <a:pPr lvl="1" eaLnBrk="1" hangingPunct="1"/>
            <a:r>
              <a:rPr lang="en-GB" sz="1600" b="0" dirty="0" smtClean="0"/>
              <a:t>This is needed because the flow is compressible and we will be using the ideal gas equation</a:t>
            </a:r>
          </a:p>
          <a:p>
            <a:pPr lvl="1" eaLnBrk="1" hangingPunct="1"/>
            <a:endParaRPr lang="en-GB" sz="1000" dirty="0" smtClean="0"/>
          </a:p>
          <a:p>
            <a:pPr algn="just">
              <a:defRPr/>
            </a:pPr>
            <a:r>
              <a:rPr lang="en-US" dirty="0" smtClean="0"/>
              <a:t>Select the turbulence model to be used</a:t>
            </a:r>
          </a:p>
          <a:p>
            <a:pPr marL="628650" lvl="1" indent="-171450" algn="just">
              <a:buFontTx/>
              <a:buChar char="•"/>
              <a:defRPr/>
            </a:pPr>
            <a:r>
              <a:rPr lang="en-US" sz="1600" b="0" dirty="0" smtClean="0"/>
              <a:t>From ‘Models’ in the tree, select ‘Viscous’ and Edit</a:t>
            </a:r>
          </a:p>
          <a:p>
            <a:pPr marL="628650" lvl="1" indent="-171450" algn="just">
              <a:buFontTx/>
              <a:buChar char="•"/>
              <a:defRPr/>
            </a:pPr>
            <a:r>
              <a:rPr lang="en-US" sz="1600" b="0" dirty="0" smtClean="0"/>
              <a:t>Choose the two-equation </a:t>
            </a:r>
            <a:r>
              <a:rPr lang="en-US" sz="1600" b="0" dirty="0" smtClean="0">
                <a:solidFill>
                  <a:schemeClr val="accent6"/>
                </a:solidFill>
              </a:rPr>
              <a:t>SST-k-omega model</a:t>
            </a: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title"/>
          </p:nvPr>
        </p:nvSpPr>
        <p:spPr/>
        <p:txBody>
          <a:bodyPr/>
          <a:lstStyle/>
          <a:p>
            <a:pPr eaLnBrk="1" hangingPunct="1"/>
            <a:r>
              <a:rPr lang="en-GB" dirty="0" smtClean="0"/>
              <a:t>Materials</a:t>
            </a:r>
            <a:endParaRPr lang="en-US" dirty="0" smtClean="0"/>
          </a:p>
        </p:txBody>
      </p:sp>
      <p:sp>
        <p:nvSpPr>
          <p:cNvPr id="17411" name="Rectangle 8"/>
          <p:cNvSpPr>
            <a:spLocks noGrp="1" noChangeArrowheads="1"/>
          </p:cNvSpPr>
          <p:nvPr>
            <p:ph idx="1"/>
          </p:nvPr>
        </p:nvSpPr>
        <p:spPr>
          <a:xfrm>
            <a:off x="180975" y="935038"/>
            <a:ext cx="7899335" cy="5553075"/>
          </a:xfrm>
        </p:spPr>
        <p:txBody>
          <a:bodyPr/>
          <a:lstStyle/>
          <a:p>
            <a:pPr eaLnBrk="1" hangingPunct="1"/>
            <a:endParaRPr lang="en-GB" sz="1000" dirty="0" smtClean="0"/>
          </a:p>
          <a:p>
            <a:pPr eaLnBrk="1" hangingPunct="1"/>
            <a:r>
              <a:rPr lang="en-GB" dirty="0" smtClean="0"/>
              <a:t>The properties to be used for the material ‘air’ need to be set</a:t>
            </a:r>
          </a:p>
          <a:p>
            <a:pPr lvl="1" eaLnBrk="1" hangingPunct="1"/>
            <a:r>
              <a:rPr lang="en-GB" sz="1600" b="0" dirty="0" smtClean="0">
                <a:solidFill>
                  <a:schemeClr val="accent6"/>
                </a:solidFill>
              </a:rPr>
              <a:t>For Density, select ‘Ideal Gas’</a:t>
            </a:r>
          </a:p>
          <a:p>
            <a:pPr lvl="1" eaLnBrk="1" hangingPunct="1"/>
            <a:r>
              <a:rPr lang="en-GB" sz="1600" b="0" dirty="0" smtClean="0">
                <a:solidFill>
                  <a:schemeClr val="accent6"/>
                </a:solidFill>
              </a:rPr>
              <a:t>For Viscosity, select “Sutherland”</a:t>
            </a:r>
            <a:r>
              <a:rPr lang="en-GB" sz="1600" b="0" dirty="0" smtClean="0"/>
              <a:t>, and accept the default settings for the 3 Coefficient method  </a:t>
            </a:r>
          </a:p>
          <a:p>
            <a:pPr lvl="2" eaLnBrk="1" hangingPunct="1"/>
            <a:r>
              <a:rPr lang="en-US" sz="1400" b="0" dirty="0" smtClean="0"/>
              <a:t>The Sutherland law for viscosity is well suited for high-speed compressible flow. For simplicity, we will leave Cp and Thermal Conductivity as constants. Ideally, in high speed compressible flow modeling, these should be temperature dependent as well</a:t>
            </a:r>
            <a:endParaRPr lang="en-GB" sz="1400" b="0" dirty="0" smtClean="0"/>
          </a:p>
          <a:p>
            <a:pPr lvl="1" eaLnBrk="1" hangingPunct="1"/>
            <a:r>
              <a:rPr lang="en-GB" sz="1600" b="0" dirty="0" smtClean="0"/>
              <a:t>Select Change/Create</a:t>
            </a:r>
          </a:p>
          <a:p>
            <a:pPr lvl="1" eaLnBrk="1" hangingPunct="1"/>
            <a:endParaRPr lang="en-GB" dirty="0" smtClean="0"/>
          </a:p>
          <a:p>
            <a:pPr eaLnBrk="1" hangingPunct="1"/>
            <a:r>
              <a:rPr lang="en-GB" dirty="0" smtClean="0"/>
              <a:t>Assign the material ‘air’ to the grid cells</a:t>
            </a:r>
          </a:p>
          <a:p>
            <a:pPr lvl="1" eaLnBrk="1" hangingPunct="1"/>
            <a:r>
              <a:rPr lang="en-GB" sz="1600" b="0" dirty="0" smtClean="0"/>
              <a:t>Select ‘Cell Zone Conditions’</a:t>
            </a:r>
          </a:p>
          <a:p>
            <a:pPr lvl="1" eaLnBrk="1" hangingPunct="1"/>
            <a:r>
              <a:rPr lang="en-GB" sz="1600" b="0" dirty="0" smtClean="0"/>
              <a:t>Highlight ‘fluid’ then ‘Edit’</a:t>
            </a:r>
          </a:p>
          <a:p>
            <a:pPr lvl="1" eaLnBrk="1" hangingPunct="1"/>
            <a:r>
              <a:rPr lang="en-GB" sz="1600" b="0" dirty="0" smtClean="0"/>
              <a:t>Observe ‘air’ is already selected</a:t>
            </a:r>
            <a:endParaRPr lang="en-US" sz="1600" b="0" dirty="0" smtClean="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8"/>
          <p:cNvSpPr>
            <a:spLocks noGrp="1" noChangeArrowheads="1"/>
          </p:cNvSpPr>
          <p:nvPr>
            <p:ph type="title"/>
          </p:nvPr>
        </p:nvSpPr>
        <p:spPr/>
        <p:txBody>
          <a:bodyPr/>
          <a:lstStyle/>
          <a:p>
            <a:pPr eaLnBrk="1" hangingPunct="1"/>
            <a:r>
              <a:rPr lang="en-GB" dirty="0" smtClean="0"/>
              <a:t>Operating Conditions</a:t>
            </a:r>
            <a:endParaRPr lang="en-US" dirty="0" smtClean="0"/>
          </a:p>
        </p:txBody>
      </p:sp>
      <p:sp>
        <p:nvSpPr>
          <p:cNvPr id="18435" name="Rectangle 9"/>
          <p:cNvSpPr>
            <a:spLocks noGrp="1" noChangeArrowheads="1"/>
          </p:cNvSpPr>
          <p:nvPr>
            <p:ph idx="1"/>
          </p:nvPr>
        </p:nvSpPr>
        <p:spPr/>
        <p:txBody>
          <a:bodyPr/>
          <a:lstStyle/>
          <a:p>
            <a:pPr eaLnBrk="1" hangingPunct="1"/>
            <a:endParaRPr lang="en-GB" sz="1000" dirty="0" smtClean="0"/>
          </a:p>
          <a:p>
            <a:pPr eaLnBrk="1" hangingPunct="1"/>
            <a:r>
              <a:rPr lang="en-GB" dirty="0" smtClean="0"/>
              <a:t>Set the Operating Pressure to Zero</a:t>
            </a:r>
          </a:p>
          <a:p>
            <a:pPr lvl="1" eaLnBrk="1" hangingPunct="1"/>
            <a:r>
              <a:rPr lang="en-GB" sz="1600" b="0" dirty="0" smtClean="0"/>
              <a:t>Absolute pressure is the gauge pressure plus the operating pressure</a:t>
            </a:r>
          </a:p>
          <a:p>
            <a:pPr lvl="1" eaLnBrk="1" hangingPunct="1"/>
            <a:r>
              <a:rPr lang="en-GB" sz="1600" b="0" dirty="0" smtClean="0">
                <a:solidFill>
                  <a:schemeClr val="accent6"/>
                </a:solidFill>
              </a:rPr>
              <a:t>Setting zero operating pressure means that all pressures set in FLUENT will be absolute</a:t>
            </a:r>
          </a:p>
          <a:p>
            <a:pPr lvl="2" eaLnBrk="1" hangingPunct="1"/>
            <a:r>
              <a:rPr lang="en-GB" sz="1400" b="0" dirty="0" smtClean="0"/>
              <a:t>This is the most common practice for compressible flows</a:t>
            </a:r>
          </a:p>
          <a:p>
            <a:pPr lvl="1" eaLnBrk="1" hangingPunct="1"/>
            <a:r>
              <a:rPr lang="en-GB" sz="1600" b="0" dirty="0" smtClean="0"/>
              <a:t>Select ‘Cell Zone Conditions &gt; Operating Conditions</a:t>
            </a:r>
          </a:p>
          <a:p>
            <a:pPr lvl="1" eaLnBrk="1" hangingPunct="1"/>
            <a:r>
              <a:rPr lang="en-GB" sz="1600" b="0" dirty="0" smtClean="0"/>
              <a:t>Set the Operating Pressure to Zero, then ‘OK’</a:t>
            </a:r>
          </a:p>
        </p:txBody>
      </p:sp>
      <p:grpSp>
        <p:nvGrpSpPr>
          <p:cNvPr id="18436" name="Group 7"/>
          <p:cNvGrpSpPr>
            <a:grpSpLocks/>
          </p:cNvGrpSpPr>
          <p:nvPr/>
        </p:nvGrpSpPr>
        <p:grpSpPr bwMode="auto">
          <a:xfrm>
            <a:off x="3040257" y="3103271"/>
            <a:ext cx="2878137" cy="2878138"/>
            <a:chOff x="3132824" y="3393000"/>
            <a:chExt cx="2879175" cy="2879175"/>
          </a:xfrm>
        </p:grpSpPr>
        <p:pic>
          <p:nvPicPr>
            <p:cNvPr id="18437" name="Picture 3"/>
            <p:cNvPicPr>
              <a:picLocks noChangeAspect="1" noChangeArrowheads="1"/>
            </p:cNvPicPr>
            <p:nvPr/>
          </p:nvPicPr>
          <p:blipFill>
            <a:blip r:embed="rId2" cstate="print"/>
            <a:srcRect/>
            <a:stretch>
              <a:fillRect/>
            </a:stretch>
          </p:blipFill>
          <p:spPr bwMode="auto">
            <a:xfrm>
              <a:off x="3132824" y="3393000"/>
              <a:ext cx="2879175" cy="2879175"/>
            </a:xfrm>
            <a:prstGeom prst="rect">
              <a:avLst/>
            </a:prstGeom>
            <a:noFill/>
            <a:ln w="9525">
              <a:noFill/>
              <a:miter lim="800000"/>
              <a:headEnd/>
              <a:tailEnd/>
            </a:ln>
          </p:spPr>
        </p:pic>
        <p:sp>
          <p:nvSpPr>
            <p:cNvPr id="18438" name="Rectangle 9"/>
            <p:cNvSpPr>
              <a:spLocks noChangeArrowheads="1"/>
            </p:cNvSpPr>
            <p:nvPr/>
          </p:nvSpPr>
          <p:spPr bwMode="auto">
            <a:xfrm>
              <a:off x="3456000" y="3974400"/>
              <a:ext cx="1728000" cy="511200"/>
            </a:xfrm>
            <a:prstGeom prst="rect">
              <a:avLst/>
            </a:prstGeom>
            <a:noFill/>
            <a:ln w="28575" algn="ctr">
              <a:solidFill>
                <a:srgbClr val="CC3300"/>
              </a:solidFill>
              <a:round/>
              <a:headEnd/>
              <a:tailEnd/>
            </a:ln>
          </p:spPr>
          <p:txBody>
            <a:bodyPr>
              <a:spAutoFit/>
            </a:bodyPr>
            <a:lstStyle/>
            <a:p>
              <a:pPr algn="ctr" eaLnBrk="0" hangingPunct="0"/>
              <a:endParaRPr lang="en-US"/>
            </a:p>
          </p:txBody>
        </p:sp>
      </p:gr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
          <p:cNvSpPr>
            <a:spLocks noGrp="1" noChangeArrowheads="1"/>
          </p:cNvSpPr>
          <p:nvPr>
            <p:ph type="title"/>
          </p:nvPr>
        </p:nvSpPr>
        <p:spPr/>
        <p:txBody>
          <a:bodyPr/>
          <a:lstStyle/>
          <a:p>
            <a:pPr eaLnBrk="1" hangingPunct="1"/>
            <a:r>
              <a:rPr lang="en-GB" dirty="0" smtClean="0"/>
              <a:t>Boundary Conditions - inlet</a:t>
            </a:r>
            <a:endParaRPr lang="en-US" dirty="0" smtClean="0"/>
          </a:p>
        </p:txBody>
      </p:sp>
      <p:sp>
        <p:nvSpPr>
          <p:cNvPr id="1028" name="Rectangle 11"/>
          <p:cNvSpPr>
            <a:spLocks noGrp="1" noChangeArrowheads="1"/>
          </p:cNvSpPr>
          <p:nvPr>
            <p:ph idx="1"/>
          </p:nvPr>
        </p:nvSpPr>
        <p:spPr/>
        <p:txBody>
          <a:bodyPr/>
          <a:lstStyle/>
          <a:p>
            <a:pPr eaLnBrk="1" hangingPunct="1">
              <a:lnSpc>
                <a:spcPct val="90000"/>
              </a:lnSpc>
            </a:pPr>
            <a:endParaRPr lang="en-GB" sz="1000" dirty="0" smtClean="0"/>
          </a:p>
          <a:p>
            <a:pPr eaLnBrk="1" hangingPunct="1">
              <a:lnSpc>
                <a:spcPct val="90000"/>
              </a:lnSpc>
            </a:pPr>
            <a:endParaRPr lang="en-GB" sz="1000" dirty="0" smtClean="0"/>
          </a:p>
          <a:p>
            <a:pPr eaLnBrk="1" hangingPunct="1">
              <a:lnSpc>
                <a:spcPct val="90000"/>
              </a:lnSpc>
            </a:pPr>
            <a:r>
              <a:rPr lang="en-GB" dirty="0" smtClean="0"/>
              <a:t>Select ‘Boundary Conditions’</a:t>
            </a:r>
          </a:p>
          <a:p>
            <a:pPr eaLnBrk="1" hangingPunct="1">
              <a:lnSpc>
                <a:spcPct val="90000"/>
              </a:lnSpc>
            </a:pPr>
            <a:endParaRPr lang="en-GB" sz="1000" dirty="0" smtClean="0"/>
          </a:p>
          <a:p>
            <a:pPr eaLnBrk="1" hangingPunct="1">
              <a:lnSpc>
                <a:spcPct val="90000"/>
              </a:lnSpc>
            </a:pPr>
            <a:r>
              <a:rPr lang="en-US" dirty="0" smtClean="0"/>
              <a:t>Set inlet to type pressure-far-field</a:t>
            </a:r>
          </a:p>
          <a:p>
            <a:pPr eaLnBrk="1" hangingPunct="1">
              <a:lnSpc>
                <a:spcPct val="90000"/>
              </a:lnSpc>
            </a:pPr>
            <a:endParaRPr lang="en-US" sz="500" dirty="0" smtClean="0"/>
          </a:p>
        </p:txBody>
      </p:sp>
      <p:sp>
        <p:nvSpPr>
          <p:cNvPr id="6" name="ZoneTexte 5"/>
          <p:cNvSpPr txBox="1"/>
          <p:nvPr/>
        </p:nvSpPr>
        <p:spPr>
          <a:xfrm>
            <a:off x="766082" y="2262673"/>
            <a:ext cx="7463518" cy="2800767"/>
          </a:xfrm>
          <a:prstGeom prst="rect">
            <a:avLst/>
          </a:prstGeom>
          <a:solidFill>
            <a:schemeClr val="bg1">
              <a:lumMod val="95000"/>
            </a:schemeClr>
          </a:solidFill>
          <a:ln>
            <a:solidFill>
              <a:schemeClr val="accent6"/>
            </a:solidFill>
          </a:ln>
        </p:spPr>
        <p:txBody>
          <a:bodyPr wrap="square" rtlCol="0">
            <a:spAutoFit/>
          </a:bodyPr>
          <a:lstStyle/>
          <a:p>
            <a:pPr>
              <a:buFont typeface="Arial" pitchFamily="34" charset="0"/>
              <a:buChar char="•"/>
            </a:pPr>
            <a:r>
              <a:rPr lang="en-US" sz="1600" b="0" dirty="0" smtClean="0"/>
              <a:t> </a:t>
            </a:r>
            <a:r>
              <a:rPr lang="en-US" sz="1600" b="0" dirty="0" smtClean="0">
                <a:solidFill>
                  <a:schemeClr val="accent6"/>
                </a:solidFill>
              </a:rPr>
              <a:t>Pressure far-field conditions are used in ANSYS FLUENT to model a free-stream condition at infinity, with free-stream Mach number and static conditions being specified</a:t>
            </a:r>
          </a:p>
          <a:p>
            <a:pPr>
              <a:buFont typeface="Arial" pitchFamily="34" charset="0"/>
              <a:buChar char="•"/>
            </a:pPr>
            <a:r>
              <a:rPr lang="en-US" sz="1600" b="0" dirty="0" smtClean="0">
                <a:solidFill>
                  <a:schemeClr val="accent6"/>
                </a:solidFill>
              </a:rPr>
              <a:t> It is a non-reflecting Boundary Condition</a:t>
            </a:r>
          </a:p>
          <a:p>
            <a:pPr>
              <a:buFont typeface="Arial" pitchFamily="34" charset="0"/>
              <a:buChar char="•"/>
            </a:pPr>
            <a:endParaRPr lang="en-US" sz="1600" b="0" dirty="0" smtClean="0">
              <a:solidFill>
                <a:schemeClr val="accent6"/>
              </a:solidFill>
            </a:endParaRPr>
          </a:p>
          <a:p>
            <a:pPr>
              <a:buFont typeface="Arial" pitchFamily="34" charset="0"/>
              <a:buChar char="•"/>
            </a:pPr>
            <a:r>
              <a:rPr lang="en-US" sz="1600" u="sng" dirty="0" smtClean="0">
                <a:solidFill>
                  <a:schemeClr val="accent6"/>
                </a:solidFill>
              </a:rPr>
              <a:t> Use</a:t>
            </a:r>
          </a:p>
          <a:p>
            <a:pPr>
              <a:buFontTx/>
              <a:buChar char="-"/>
            </a:pPr>
            <a:r>
              <a:rPr lang="en-US" sz="1600" b="0" dirty="0" smtClean="0">
                <a:solidFill>
                  <a:schemeClr val="accent6"/>
                </a:solidFill>
              </a:rPr>
              <a:t> The pressure-far-field boundary type is applicable only when the density is calculated using the ideal-gas law</a:t>
            </a:r>
          </a:p>
          <a:p>
            <a:pPr>
              <a:buFontTx/>
              <a:buChar char="-"/>
            </a:pPr>
            <a:r>
              <a:rPr lang="en-US" sz="1600" b="0" dirty="0" smtClean="0">
                <a:solidFill>
                  <a:schemeClr val="accent6"/>
                </a:solidFill>
              </a:rPr>
              <a:t> It is important to place the far-field boundary far enough from the object of interest. For example, in lifting airfoil calculations, it is not uncommon for the far-field boundary to be a circle with a radius of 20-50 chord lengths</a:t>
            </a:r>
            <a:endParaRPr lang="en-US" sz="1600" dirty="0">
              <a:solidFill>
                <a:schemeClr val="accent6"/>
              </a:solidFill>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GB" dirty="0" smtClean="0"/>
              <a:t>Boundary Conditions - inlet</a:t>
            </a:r>
            <a:endParaRPr lang="en-US" dirty="0" smtClean="0"/>
          </a:p>
        </p:txBody>
      </p:sp>
      <p:sp>
        <p:nvSpPr>
          <p:cNvPr id="19459" name="Rectangle 3"/>
          <p:cNvSpPr>
            <a:spLocks noGrp="1" noChangeArrowheads="1"/>
          </p:cNvSpPr>
          <p:nvPr>
            <p:ph idx="1"/>
          </p:nvPr>
        </p:nvSpPr>
        <p:spPr>
          <a:xfrm>
            <a:off x="180975" y="935038"/>
            <a:ext cx="5221449" cy="5553075"/>
          </a:xfrm>
        </p:spPr>
        <p:txBody>
          <a:bodyPr/>
          <a:lstStyle/>
          <a:p>
            <a:pPr eaLnBrk="1" hangingPunct="1">
              <a:lnSpc>
                <a:spcPct val="90000"/>
              </a:lnSpc>
            </a:pPr>
            <a:endParaRPr lang="en-GB" dirty="0" smtClean="0"/>
          </a:p>
          <a:p>
            <a:pPr eaLnBrk="1" hangingPunct="1">
              <a:lnSpc>
                <a:spcPct val="90000"/>
              </a:lnSpc>
            </a:pPr>
            <a:r>
              <a:rPr lang="en-GB" dirty="0" smtClean="0"/>
              <a:t>On the ‘Momentum’ tab</a:t>
            </a:r>
          </a:p>
          <a:p>
            <a:pPr lvl="1" eaLnBrk="1" hangingPunct="1">
              <a:lnSpc>
                <a:spcPct val="90000"/>
              </a:lnSpc>
            </a:pPr>
            <a:r>
              <a:rPr lang="en-GB" sz="1600" b="0" dirty="0" smtClean="0"/>
              <a:t>s</a:t>
            </a:r>
            <a:r>
              <a:rPr lang="en-US" sz="1600" b="0" dirty="0" smtClean="0"/>
              <a:t>et the gauge static pressure to 11111 Pa</a:t>
            </a:r>
          </a:p>
          <a:p>
            <a:pPr lvl="2" eaLnBrk="1" hangingPunct="1">
              <a:lnSpc>
                <a:spcPct val="90000"/>
              </a:lnSpc>
            </a:pPr>
            <a:r>
              <a:rPr lang="en-US" sz="1400" b="0" dirty="0" smtClean="0"/>
              <a:t>This value is used to calculate the total pressure based on the MA number</a:t>
            </a:r>
          </a:p>
          <a:p>
            <a:pPr lvl="2" eaLnBrk="1" hangingPunct="1">
              <a:lnSpc>
                <a:spcPct val="90000"/>
              </a:lnSpc>
            </a:pPr>
            <a:endParaRPr lang="en-US" b="0" dirty="0" smtClean="0"/>
          </a:p>
          <a:p>
            <a:pPr lvl="2" eaLnBrk="1" hangingPunct="1">
              <a:lnSpc>
                <a:spcPct val="90000"/>
              </a:lnSpc>
              <a:buNone/>
            </a:pPr>
            <a:endParaRPr lang="en-US" b="0" dirty="0" smtClean="0"/>
          </a:p>
          <a:p>
            <a:pPr lvl="2" eaLnBrk="1" hangingPunct="1">
              <a:lnSpc>
                <a:spcPct val="90000"/>
              </a:lnSpc>
            </a:pPr>
            <a:endParaRPr lang="en-US" b="0" dirty="0" smtClean="0"/>
          </a:p>
          <a:p>
            <a:pPr lvl="1" eaLnBrk="1" hangingPunct="1">
              <a:lnSpc>
                <a:spcPct val="90000"/>
              </a:lnSpc>
            </a:pPr>
            <a:r>
              <a:rPr lang="en-US" sz="1600" b="0" dirty="0" smtClean="0"/>
              <a:t>Set the Mach Number to 0.75</a:t>
            </a:r>
            <a:endParaRPr lang="en-GB" sz="1600" b="0" dirty="0" smtClean="0"/>
          </a:p>
          <a:p>
            <a:pPr lvl="1" algn="just" eaLnBrk="1" hangingPunct="1"/>
            <a:endParaRPr lang="en-GB" sz="500" b="0" dirty="0" smtClean="0"/>
          </a:p>
          <a:p>
            <a:pPr lvl="1" algn="just" eaLnBrk="1" hangingPunct="1"/>
            <a:r>
              <a:rPr lang="en-GB" sz="1600" b="0" dirty="0" smtClean="0"/>
              <a:t>The angle of attack (</a:t>
            </a:r>
            <a:r>
              <a:rPr lang="el-GR" sz="1600" b="0" dirty="0" smtClean="0"/>
              <a:t>α</a:t>
            </a:r>
            <a:r>
              <a:rPr lang="en-GB" sz="1600" b="0" dirty="0" smtClean="0"/>
              <a:t>) in this numerical case is 3.19 deg.</a:t>
            </a:r>
          </a:p>
          <a:p>
            <a:pPr lvl="2" algn="just" eaLnBrk="1" hangingPunct="1"/>
            <a:r>
              <a:rPr lang="en-GB" sz="1400" b="0" dirty="0" smtClean="0"/>
              <a:t>The x-component of the flow is </a:t>
            </a:r>
            <a:r>
              <a:rPr lang="en-GB" sz="1400" b="0" dirty="0" err="1" smtClean="0"/>
              <a:t>cos</a:t>
            </a:r>
            <a:r>
              <a:rPr lang="el-GR" sz="1400" b="0" dirty="0" smtClean="0"/>
              <a:t>α</a:t>
            </a:r>
            <a:r>
              <a:rPr lang="en-GB" sz="1400" b="0" dirty="0" smtClean="0"/>
              <a:t> (0.99845)</a:t>
            </a:r>
          </a:p>
          <a:p>
            <a:pPr lvl="2" algn="just" eaLnBrk="1" hangingPunct="1"/>
            <a:r>
              <a:rPr lang="en-GB" sz="1400" b="0" dirty="0" smtClean="0"/>
              <a:t>The z-component of the flow is sin</a:t>
            </a:r>
            <a:r>
              <a:rPr lang="el-GR" sz="1400" b="0" dirty="0" smtClean="0"/>
              <a:t>α</a:t>
            </a:r>
            <a:r>
              <a:rPr lang="de-DE" sz="1400" b="0" dirty="0" smtClean="0"/>
              <a:t> (0.05565)</a:t>
            </a:r>
            <a:endParaRPr lang="en-GB" sz="1400" b="0" dirty="0" smtClean="0"/>
          </a:p>
          <a:p>
            <a:pPr lvl="3" algn="just" eaLnBrk="1" hangingPunct="1"/>
            <a:r>
              <a:rPr lang="en-GB" sz="1200" b="0" dirty="0" smtClean="0"/>
              <a:t>It is common practice to adjust the numerical </a:t>
            </a:r>
            <a:r>
              <a:rPr lang="el-GR" sz="1200" b="0" dirty="0" smtClean="0"/>
              <a:t>α</a:t>
            </a:r>
            <a:r>
              <a:rPr lang="en-GB" sz="1200" b="0" dirty="0" smtClean="0"/>
              <a:t> from the experimental </a:t>
            </a:r>
            <a:r>
              <a:rPr lang="el-GR" sz="1200" b="0" dirty="0" smtClean="0"/>
              <a:t>α</a:t>
            </a:r>
            <a:r>
              <a:rPr lang="en-GB" sz="1200" b="0" dirty="0" smtClean="0"/>
              <a:t> in order to match the lift obtained in the wind tunnel, and then to determine the drag associated with this lift. This adjustment of </a:t>
            </a:r>
            <a:r>
              <a:rPr lang="el-GR" sz="1200" b="0" dirty="0" smtClean="0"/>
              <a:t>α</a:t>
            </a:r>
            <a:r>
              <a:rPr lang="en-GB" sz="1200" b="0" dirty="0" smtClean="0"/>
              <a:t> is carried out to counter the effects of the wind tunnel enclosure.</a:t>
            </a:r>
            <a:endParaRPr lang="en-US" sz="1200" b="0" dirty="0" smtClean="0"/>
          </a:p>
          <a:p>
            <a:pPr lvl="0" algn="just" eaLnBrk="1" hangingPunct="1"/>
            <a:endParaRPr lang="en-US" sz="500" b="0" dirty="0" smtClean="0"/>
          </a:p>
          <a:p>
            <a:pPr lvl="1" algn="just" eaLnBrk="1" hangingPunct="1"/>
            <a:r>
              <a:rPr lang="en-US" sz="1600" b="0" dirty="0" smtClean="0"/>
              <a:t>Select ‘Intensity and Viscosity Ratio’</a:t>
            </a:r>
          </a:p>
          <a:p>
            <a:pPr lvl="1" algn="just" eaLnBrk="1" hangingPunct="1"/>
            <a:r>
              <a:rPr lang="en-US" sz="1600" b="0" dirty="0" smtClean="0"/>
              <a:t>Set Turbulent Intensity to 1%</a:t>
            </a:r>
          </a:p>
          <a:p>
            <a:pPr lvl="1" algn="just" eaLnBrk="1" hangingPunct="1"/>
            <a:r>
              <a:rPr lang="en-US" sz="1600" b="0" dirty="0" smtClean="0"/>
              <a:t>Set Turbulent Viscosity Ratio to 1</a:t>
            </a:r>
          </a:p>
        </p:txBody>
      </p:sp>
      <p:pic>
        <p:nvPicPr>
          <p:cNvPr id="19457" name="Picture 1"/>
          <p:cNvPicPr>
            <a:picLocks noChangeAspect="1" noChangeArrowheads="1"/>
          </p:cNvPicPr>
          <p:nvPr/>
        </p:nvPicPr>
        <p:blipFill>
          <a:blip r:embed="rId3" cstate="print"/>
          <a:srcRect l="10110" t="43736" r="61319" b="12132"/>
          <a:stretch>
            <a:fillRect/>
          </a:stretch>
        </p:blipFill>
        <p:spPr bwMode="auto">
          <a:xfrm>
            <a:off x="5370671" y="1913684"/>
            <a:ext cx="3698686" cy="3570655"/>
          </a:xfrm>
          <a:prstGeom prst="rect">
            <a:avLst/>
          </a:prstGeom>
          <a:noFill/>
          <a:ln w="9525">
            <a:noFill/>
            <a:miter lim="800000"/>
            <a:headEnd/>
            <a:tailEnd/>
          </a:ln>
        </p:spPr>
      </p:pic>
      <p:graphicFrame>
        <p:nvGraphicFramePr>
          <p:cNvPr id="22529" name="Object 1"/>
          <p:cNvGraphicFramePr>
            <a:graphicFrameLocks noChangeAspect="1"/>
          </p:cNvGraphicFramePr>
          <p:nvPr/>
        </p:nvGraphicFramePr>
        <p:xfrm>
          <a:off x="1256328" y="2285774"/>
          <a:ext cx="1766228" cy="690691"/>
        </p:xfrm>
        <a:graphic>
          <a:graphicData uri="http://schemas.openxmlformats.org/presentationml/2006/ole">
            <mc:AlternateContent xmlns:mc="http://schemas.openxmlformats.org/markup-compatibility/2006">
              <mc:Choice xmlns:v="urn:schemas-microsoft-com:vml" Requires="v">
                <p:oleObj spid="_x0000_s22530" name="Equation" r:id="rId4" imgW="1511280" imgH="545760" progId="Equation.3">
                  <p:embed/>
                </p:oleObj>
              </mc:Choice>
              <mc:Fallback>
                <p:oleObj name="Equation" r:id="rId4" imgW="1511280" imgH="54576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6328" y="2285774"/>
                        <a:ext cx="1766228" cy="690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GB" dirty="0" smtClean="0"/>
              <a:t>Boundary Conditions - inlet</a:t>
            </a:r>
            <a:endParaRPr lang="en-US" dirty="0" smtClean="0"/>
          </a:p>
        </p:txBody>
      </p:sp>
      <p:sp>
        <p:nvSpPr>
          <p:cNvPr id="2052" name="Rectangle 3"/>
          <p:cNvSpPr>
            <a:spLocks noGrp="1" noChangeArrowheads="1"/>
          </p:cNvSpPr>
          <p:nvPr>
            <p:ph idx="1"/>
          </p:nvPr>
        </p:nvSpPr>
        <p:spPr/>
        <p:txBody>
          <a:bodyPr/>
          <a:lstStyle/>
          <a:p>
            <a:pPr eaLnBrk="1" hangingPunct="1"/>
            <a:endParaRPr lang="en-GB" sz="1000" dirty="0" smtClean="0"/>
          </a:p>
          <a:p>
            <a:pPr eaLnBrk="1" hangingPunct="1"/>
            <a:r>
              <a:rPr lang="en-GB" dirty="0" smtClean="0"/>
              <a:t>Select the Thermal tab</a:t>
            </a:r>
          </a:p>
          <a:p>
            <a:pPr lvl="1" eaLnBrk="1" hangingPunct="1"/>
            <a:r>
              <a:rPr lang="en-GB" sz="1600" b="0" dirty="0" smtClean="0"/>
              <a:t>Set the Static Temperature to be 216.65 K</a:t>
            </a:r>
          </a:p>
          <a:p>
            <a:pPr lvl="2" eaLnBrk="1" hangingPunct="1"/>
            <a:r>
              <a:rPr lang="en-GB" sz="1400" b="0" dirty="0" smtClean="0"/>
              <a:t>The total Temperature is calculated based on the Ma number</a:t>
            </a:r>
          </a:p>
        </p:txBody>
      </p:sp>
      <p:graphicFrame>
        <p:nvGraphicFramePr>
          <p:cNvPr id="2050" name="Object 4"/>
          <p:cNvGraphicFramePr>
            <a:graphicFrameLocks noChangeAspect="1"/>
          </p:cNvGraphicFramePr>
          <p:nvPr/>
        </p:nvGraphicFramePr>
        <p:xfrm>
          <a:off x="1275326" y="2063368"/>
          <a:ext cx="1876425" cy="677862"/>
        </p:xfrm>
        <a:graphic>
          <a:graphicData uri="http://schemas.openxmlformats.org/presentationml/2006/ole">
            <mc:AlternateContent xmlns:mc="http://schemas.openxmlformats.org/markup-compatibility/2006">
              <mc:Choice xmlns:v="urn:schemas-microsoft-com:vml" Requires="v">
                <p:oleObj spid="_x0000_s2051" name="Equation" r:id="rId3" imgW="1193760" imgH="431640" progId="Equation.3">
                  <p:embed/>
                </p:oleObj>
              </mc:Choice>
              <mc:Fallback>
                <p:oleObj name="Equation" r:id="rId3" imgW="1193760" imgH="4316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5326" y="2063368"/>
                        <a:ext cx="187642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 name="Group 12"/>
          <p:cNvGrpSpPr/>
          <p:nvPr/>
        </p:nvGrpSpPr>
        <p:grpSpPr>
          <a:xfrm>
            <a:off x="3341395" y="2387808"/>
            <a:ext cx="3901440" cy="3769360"/>
            <a:chOff x="4470400" y="2275840"/>
            <a:chExt cx="3901440" cy="3769360"/>
          </a:xfrm>
        </p:grpSpPr>
        <p:pic>
          <p:nvPicPr>
            <p:cNvPr id="2" name="Picture 3"/>
            <p:cNvPicPr>
              <a:picLocks noChangeAspect="1" noChangeArrowheads="1"/>
            </p:cNvPicPr>
            <p:nvPr/>
          </p:nvPicPr>
          <p:blipFill>
            <a:blip r:embed="rId5" cstate="print"/>
            <a:srcRect l="32539" t="19894" r="39048" b="36185"/>
            <a:stretch>
              <a:fillRect/>
            </a:stretch>
          </p:blipFill>
          <p:spPr bwMode="auto">
            <a:xfrm>
              <a:off x="4470400" y="2275840"/>
              <a:ext cx="3901440" cy="3769360"/>
            </a:xfrm>
            <a:prstGeom prst="rect">
              <a:avLst/>
            </a:prstGeom>
            <a:noFill/>
            <a:ln w="9525">
              <a:noFill/>
              <a:miter lim="800000"/>
              <a:headEnd/>
              <a:tailEnd/>
            </a:ln>
          </p:spPr>
        </p:pic>
        <p:sp>
          <p:nvSpPr>
            <p:cNvPr id="12" name="Rectangle 11"/>
            <p:cNvSpPr/>
            <p:nvPr/>
          </p:nvSpPr>
          <p:spPr bwMode="auto">
            <a:xfrm>
              <a:off x="4846320" y="2926080"/>
              <a:ext cx="1584960" cy="65024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419100"/>
            <a:ext cx="6934200" cy="438150"/>
          </a:xfrm>
        </p:spPr>
        <p:txBody>
          <a:bodyPr/>
          <a:lstStyle/>
          <a:p>
            <a:pPr eaLnBrk="1" hangingPunct="1"/>
            <a:r>
              <a:rPr lang="en-GB" dirty="0" smtClean="0"/>
              <a:t>Boundary Conditions – airfoil &amp; symmetry</a:t>
            </a:r>
            <a:endParaRPr lang="en-US" dirty="0" smtClean="0"/>
          </a:p>
        </p:txBody>
      </p:sp>
      <p:sp>
        <p:nvSpPr>
          <p:cNvPr id="20483" name="Rectangle 3"/>
          <p:cNvSpPr>
            <a:spLocks noGrp="1" noChangeArrowheads="1"/>
          </p:cNvSpPr>
          <p:nvPr>
            <p:ph type="body" idx="4294967295"/>
          </p:nvPr>
        </p:nvSpPr>
        <p:spPr>
          <a:xfrm>
            <a:off x="1" y="935038"/>
            <a:ext cx="8350898" cy="5553075"/>
          </a:xfrm>
        </p:spPr>
        <p:txBody>
          <a:bodyPr/>
          <a:lstStyle/>
          <a:p>
            <a:pPr algn="just" eaLnBrk="1" hangingPunct="1"/>
            <a:endParaRPr lang="en-GB" dirty="0" smtClean="0"/>
          </a:p>
          <a:p>
            <a:pPr algn="just" eaLnBrk="1" hangingPunct="1"/>
            <a:r>
              <a:rPr lang="en-GB" dirty="0" smtClean="0"/>
              <a:t>For the boundary airfoil select type wall</a:t>
            </a:r>
          </a:p>
          <a:p>
            <a:pPr lvl="1" algn="just" eaLnBrk="1" hangingPunct="1"/>
            <a:r>
              <a:rPr lang="en-GB" sz="1600" b="0" dirty="0" smtClean="0"/>
              <a:t>Leave the default settings which correspond to a no-slip condition for momentum and adiabatic (Heat flux = 0) for thermal</a:t>
            </a:r>
          </a:p>
          <a:p>
            <a:pPr algn="just" eaLnBrk="1" hangingPunct="1"/>
            <a:endParaRPr lang="en-GB" dirty="0" smtClean="0"/>
          </a:p>
          <a:p>
            <a:pPr algn="just" eaLnBrk="1" hangingPunct="1"/>
            <a:r>
              <a:rPr lang="en-GB" dirty="0" smtClean="0"/>
              <a:t>For the boundary symmetry select the type symmetry</a:t>
            </a:r>
          </a:p>
          <a:p>
            <a:pPr lvl="1" algn="just" eaLnBrk="1" hangingPunct="1"/>
            <a:r>
              <a:rPr lang="en-GB" sz="1600" b="0" dirty="0" smtClean="0"/>
              <a:t>No further settings possible</a:t>
            </a:r>
            <a:endParaRPr lang="en-US" sz="1600" b="0" dirty="0" smtClean="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3"/>
          <p:cNvSpPr>
            <a:spLocks noGrp="1" noChangeArrowheads="1"/>
          </p:cNvSpPr>
          <p:nvPr>
            <p:ph type="title"/>
          </p:nvPr>
        </p:nvSpPr>
        <p:spPr/>
        <p:txBody>
          <a:bodyPr/>
          <a:lstStyle/>
          <a:p>
            <a:pPr eaLnBrk="1" hangingPunct="1"/>
            <a:r>
              <a:rPr lang="en-GB" dirty="0" smtClean="0"/>
              <a:t>Reference Values</a:t>
            </a:r>
            <a:endParaRPr lang="en-US" dirty="0" smtClean="0"/>
          </a:p>
        </p:txBody>
      </p:sp>
      <p:sp>
        <p:nvSpPr>
          <p:cNvPr id="21507" name="Rectangle 14"/>
          <p:cNvSpPr>
            <a:spLocks noGrp="1" noChangeArrowheads="1"/>
          </p:cNvSpPr>
          <p:nvPr>
            <p:ph idx="1"/>
          </p:nvPr>
        </p:nvSpPr>
        <p:spPr>
          <a:xfrm>
            <a:off x="190305" y="1121652"/>
            <a:ext cx="7964649" cy="1074236"/>
          </a:xfrm>
        </p:spPr>
        <p:txBody>
          <a:bodyPr/>
          <a:lstStyle/>
          <a:p>
            <a:pPr eaLnBrk="1" hangingPunct="1"/>
            <a:r>
              <a:rPr lang="en-GB" dirty="0" smtClean="0"/>
              <a:t>Set the reference values as shown:  </a:t>
            </a:r>
          </a:p>
          <a:p>
            <a:pPr lvl="1" eaLnBrk="1" hangingPunct="1"/>
            <a:r>
              <a:rPr lang="en-GB" sz="1600" b="0" dirty="0" smtClean="0"/>
              <a:t>These are not used in the actual solution, but are used for reporting coefficients, such as C</a:t>
            </a:r>
            <a:r>
              <a:rPr lang="en-GB" sz="1600" b="0" baseline="-25000" dirty="0" smtClean="0"/>
              <a:t>L</a:t>
            </a:r>
            <a:r>
              <a:rPr lang="en-GB" sz="1600" b="0" dirty="0" smtClean="0"/>
              <a:t> and C</a:t>
            </a:r>
            <a:r>
              <a:rPr lang="en-GB" sz="1600" b="0" baseline="-25000" dirty="0" smtClean="0"/>
              <a:t>D</a:t>
            </a:r>
            <a:r>
              <a:rPr lang="en-GB" sz="1600" b="0" dirty="0" smtClean="0"/>
              <a:t>.</a:t>
            </a:r>
          </a:p>
        </p:txBody>
      </p:sp>
      <p:graphicFrame>
        <p:nvGraphicFramePr>
          <p:cNvPr id="14" name="Object 13"/>
          <p:cNvGraphicFramePr>
            <a:graphicFrameLocks noChangeAspect="1"/>
          </p:cNvGraphicFramePr>
          <p:nvPr/>
        </p:nvGraphicFramePr>
        <p:xfrm>
          <a:off x="5072483" y="1948545"/>
          <a:ext cx="2146300" cy="788437"/>
        </p:xfrm>
        <a:graphic>
          <a:graphicData uri="http://schemas.openxmlformats.org/presentationml/2006/ole">
            <mc:AlternateContent xmlns:mc="http://schemas.openxmlformats.org/markup-compatibility/2006">
              <mc:Choice xmlns:v="urn:schemas-microsoft-com:vml" Requires="v">
                <p:oleObj spid="_x0000_s21509" name="Equation" r:id="rId3" imgW="1244520" imgH="457200" progId="Equation.3">
                  <p:embed/>
                </p:oleObj>
              </mc:Choice>
              <mc:Fallback>
                <p:oleObj name="Equation" r:id="rId3" imgW="1244520" imgH="4572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2483" y="1948545"/>
                        <a:ext cx="2146300" cy="788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5063049" y="2829227"/>
          <a:ext cx="2101850" cy="787400"/>
        </p:xfrm>
        <a:graphic>
          <a:graphicData uri="http://schemas.openxmlformats.org/presentationml/2006/ole">
            <mc:AlternateContent xmlns:mc="http://schemas.openxmlformats.org/markup-compatibility/2006">
              <mc:Choice xmlns:v="urn:schemas-microsoft-com:vml" Requires="v">
                <p:oleObj spid="_x0000_s21510" name="Equation" r:id="rId5" imgW="1218960" imgH="457200" progId="Equation.3">
                  <p:embed/>
                </p:oleObj>
              </mc:Choice>
              <mc:Fallback>
                <p:oleObj name="Equation" r:id="rId5" imgW="1218960" imgH="4572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3049" y="2829227"/>
                        <a:ext cx="210185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Table 16"/>
          <p:cNvGraphicFramePr>
            <a:graphicFrameLocks noGrp="1"/>
          </p:cNvGraphicFramePr>
          <p:nvPr/>
        </p:nvGraphicFramePr>
        <p:xfrm>
          <a:off x="5069840" y="4538040"/>
          <a:ext cx="3088640" cy="1844040"/>
        </p:xfrm>
        <a:graphic>
          <a:graphicData uri="http://schemas.openxmlformats.org/drawingml/2006/table">
            <a:tbl>
              <a:tblPr firstRow="1" bandRow="1">
                <a:tableStyleId>{5C22544A-7EE6-4342-B048-85BDC9FD1C3A}</a:tableStyleId>
              </a:tblPr>
              <a:tblGrid>
                <a:gridCol w="1143338">
                  <a:extLst>
                    <a:ext uri="{9D8B030D-6E8A-4147-A177-3AD203B41FA5}">
                      <a16:colId xmlns:a16="http://schemas.microsoft.com/office/drawing/2014/main" val="20000"/>
                    </a:ext>
                  </a:extLst>
                </a:gridCol>
                <a:gridCol w="1945302">
                  <a:extLst>
                    <a:ext uri="{9D8B030D-6E8A-4147-A177-3AD203B41FA5}">
                      <a16:colId xmlns:a16="http://schemas.microsoft.com/office/drawing/2014/main" val="20001"/>
                    </a:ext>
                  </a:extLst>
                </a:gridCol>
              </a:tblGrid>
              <a:tr h="370840">
                <a:tc>
                  <a:txBody>
                    <a:bodyPr/>
                    <a:lstStyle/>
                    <a:p>
                      <a:r>
                        <a:rPr lang="de-DE" b="0" dirty="0" smtClean="0">
                          <a:solidFill>
                            <a:schemeClr val="tx1"/>
                          </a:solidFill>
                        </a:rPr>
                        <a:t>Area</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b="0" dirty="0" smtClean="0">
                          <a:solidFill>
                            <a:schemeClr val="tx1"/>
                          </a:solidFill>
                        </a:rPr>
                        <a:t>0.01 </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de-DE" b="0" dirty="0" err="1" smtClean="0">
                          <a:solidFill>
                            <a:schemeClr val="tx1"/>
                          </a:solidFill>
                        </a:rPr>
                        <a:t>Density</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b="0" dirty="0" smtClean="0">
                          <a:solidFill>
                            <a:schemeClr val="tx1"/>
                          </a:solidFill>
                        </a:rPr>
                        <a:t>0.1786</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de-DE" b="0" dirty="0" err="1" smtClean="0">
                          <a:solidFill>
                            <a:schemeClr val="tx1"/>
                          </a:solidFill>
                        </a:rPr>
                        <a:t>Length</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b="0" dirty="0" smtClean="0">
                          <a:solidFill>
                            <a:schemeClr val="tx1"/>
                          </a:solidFill>
                        </a:rPr>
                        <a:t>1 </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5280">
                <a:tc>
                  <a:txBody>
                    <a:bodyPr/>
                    <a:lstStyle/>
                    <a:p>
                      <a:r>
                        <a:rPr lang="de-DE" b="0" dirty="0" err="1" smtClean="0">
                          <a:solidFill>
                            <a:schemeClr val="tx1"/>
                          </a:solidFill>
                        </a:rPr>
                        <a:t>Pressure</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b="0" dirty="0" smtClean="0">
                          <a:solidFill>
                            <a:schemeClr val="tx1"/>
                          </a:solidFill>
                        </a:rPr>
                        <a:t>11111</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35280">
                <a:tc>
                  <a:txBody>
                    <a:bodyPr/>
                    <a:lstStyle/>
                    <a:p>
                      <a:r>
                        <a:rPr lang="de-DE" b="0" dirty="0" err="1" smtClean="0">
                          <a:solidFill>
                            <a:schemeClr val="tx1"/>
                          </a:solidFill>
                        </a:rPr>
                        <a:t>Velocity</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b="0" dirty="0" smtClean="0">
                          <a:solidFill>
                            <a:schemeClr val="tx1"/>
                          </a:solidFill>
                        </a:rPr>
                        <a:t>216.65</a:t>
                      </a:r>
                      <a:endParaRPr lang="de-D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2" name="Picture 5"/>
          <p:cNvPicPr>
            <a:picLocks noChangeAspect="1" noChangeArrowheads="1"/>
          </p:cNvPicPr>
          <p:nvPr/>
        </p:nvPicPr>
        <p:blipFill>
          <a:blip r:embed="rId7" cstate="print"/>
          <a:srcRect r="71181" b="36653"/>
          <a:stretch>
            <a:fillRect/>
          </a:stretch>
        </p:blipFill>
        <p:spPr bwMode="auto">
          <a:xfrm>
            <a:off x="858416" y="2127380"/>
            <a:ext cx="3405673" cy="4346717"/>
          </a:xfrm>
          <a:prstGeom prst="rect">
            <a:avLst/>
          </a:prstGeom>
          <a:noFill/>
          <a:ln w="9525">
            <a:noFill/>
            <a:miter lim="800000"/>
            <a:headEnd/>
            <a:tailEnd/>
          </a:ln>
        </p:spPr>
      </p:pic>
      <p:grpSp>
        <p:nvGrpSpPr>
          <p:cNvPr id="16" name="Group 17"/>
          <p:cNvGrpSpPr/>
          <p:nvPr/>
        </p:nvGrpSpPr>
        <p:grpSpPr>
          <a:xfrm>
            <a:off x="937090" y="3455046"/>
            <a:ext cx="3235708" cy="1927289"/>
            <a:chOff x="287738" y="3142758"/>
            <a:chExt cx="3235708" cy="1927289"/>
          </a:xfrm>
        </p:grpSpPr>
        <p:sp>
          <p:nvSpPr>
            <p:cNvPr id="19" name="Rectangle 18"/>
            <p:cNvSpPr/>
            <p:nvPr/>
          </p:nvSpPr>
          <p:spPr bwMode="auto">
            <a:xfrm>
              <a:off x="287738" y="3504774"/>
              <a:ext cx="924560" cy="27432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sp>
          <p:nvSpPr>
            <p:cNvPr id="20" name="Rectangle 19"/>
            <p:cNvSpPr/>
            <p:nvPr/>
          </p:nvSpPr>
          <p:spPr bwMode="auto">
            <a:xfrm>
              <a:off x="2282268" y="3142758"/>
              <a:ext cx="1239520" cy="52322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sp>
          <p:nvSpPr>
            <p:cNvPr id="21" name="Rectangle 20"/>
            <p:cNvSpPr/>
            <p:nvPr/>
          </p:nvSpPr>
          <p:spPr bwMode="auto">
            <a:xfrm>
              <a:off x="2295745" y="4130351"/>
              <a:ext cx="1198880" cy="52322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sp>
          <p:nvSpPr>
            <p:cNvPr id="22" name="Rectangle 21"/>
            <p:cNvSpPr/>
            <p:nvPr/>
          </p:nvSpPr>
          <p:spPr bwMode="auto">
            <a:xfrm>
              <a:off x="2304246" y="4816047"/>
              <a:ext cx="1219200" cy="25400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
        <p:nvSpPr>
          <p:cNvPr id="23" name="ZoneTexte 22"/>
          <p:cNvSpPr txBox="1"/>
          <p:nvPr/>
        </p:nvSpPr>
        <p:spPr>
          <a:xfrm>
            <a:off x="5449078" y="4105469"/>
            <a:ext cx="2024743" cy="400110"/>
          </a:xfrm>
          <a:prstGeom prst="rect">
            <a:avLst/>
          </a:prstGeom>
          <a:noFill/>
        </p:spPr>
        <p:txBody>
          <a:bodyPr wrap="square" rtlCol="0">
            <a:spAutoFit/>
          </a:bodyPr>
          <a:lstStyle/>
          <a:p>
            <a:pPr algn="ctr"/>
            <a:r>
              <a:rPr lang="en-US" sz="2000" u="sng" dirty="0" smtClean="0"/>
              <a:t>Infinite BC</a:t>
            </a:r>
            <a:endParaRPr lang="en-US" sz="2000" u="sng" dirty="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title"/>
          </p:nvPr>
        </p:nvSpPr>
        <p:spPr/>
        <p:txBody>
          <a:bodyPr/>
          <a:lstStyle/>
          <a:p>
            <a:pPr eaLnBrk="1" hangingPunct="1"/>
            <a:r>
              <a:rPr lang="en-GB" dirty="0" smtClean="0"/>
              <a:t>Solution Methods</a:t>
            </a:r>
            <a:endParaRPr lang="en-US" dirty="0" smtClean="0"/>
          </a:p>
        </p:txBody>
      </p:sp>
      <p:sp>
        <p:nvSpPr>
          <p:cNvPr id="22531" name="Rectangle 8"/>
          <p:cNvSpPr>
            <a:spLocks noGrp="1" noChangeArrowheads="1"/>
          </p:cNvSpPr>
          <p:nvPr>
            <p:ph idx="1"/>
          </p:nvPr>
        </p:nvSpPr>
        <p:spPr>
          <a:xfrm>
            <a:off x="180975" y="935038"/>
            <a:ext cx="5417185" cy="5553075"/>
          </a:xfrm>
        </p:spPr>
        <p:txBody>
          <a:bodyPr/>
          <a:lstStyle/>
          <a:p>
            <a:pPr eaLnBrk="1" hangingPunct="1"/>
            <a:endParaRPr lang="en-GB" sz="1800" dirty="0" smtClean="0"/>
          </a:p>
          <a:p>
            <a:pPr eaLnBrk="1" hangingPunct="1"/>
            <a:r>
              <a:rPr lang="en-GB" dirty="0" smtClean="0"/>
              <a:t>Select Solution Methods in the LHS tree</a:t>
            </a:r>
          </a:p>
          <a:p>
            <a:pPr lvl="1" eaLnBrk="1" hangingPunct="1"/>
            <a:r>
              <a:rPr lang="en-GB" sz="1600" b="0" dirty="0" smtClean="0"/>
              <a:t>Keep the default settings for the implicit formulation and Roe-FDS flux type</a:t>
            </a:r>
          </a:p>
          <a:p>
            <a:pPr lvl="2" eaLnBrk="1" hangingPunct="1"/>
            <a:r>
              <a:rPr lang="en-GB" sz="1400" b="0" dirty="0" smtClean="0"/>
              <a:t>This will enable the Density-based Coupled Implicit Solver</a:t>
            </a:r>
            <a:endParaRPr lang="en-GB" sz="1800" dirty="0" smtClean="0"/>
          </a:p>
        </p:txBody>
      </p:sp>
      <p:grpSp>
        <p:nvGrpSpPr>
          <p:cNvPr id="10" name="Group 9"/>
          <p:cNvGrpSpPr/>
          <p:nvPr/>
        </p:nvGrpSpPr>
        <p:grpSpPr>
          <a:xfrm>
            <a:off x="5598160" y="1778000"/>
            <a:ext cx="3383280" cy="3789680"/>
            <a:chOff x="5598160" y="1778000"/>
            <a:chExt cx="3383280" cy="3789680"/>
          </a:xfrm>
        </p:grpSpPr>
        <p:pic>
          <p:nvPicPr>
            <p:cNvPr id="3" name="Picture 3"/>
            <p:cNvPicPr>
              <a:picLocks noChangeAspect="1" noChangeArrowheads="1"/>
            </p:cNvPicPr>
            <p:nvPr/>
          </p:nvPicPr>
          <p:blipFill>
            <a:blip r:embed="rId2" cstate="print"/>
            <a:srcRect l="7970" t="379" r="65714" b="52457"/>
            <a:stretch>
              <a:fillRect/>
            </a:stretch>
          </p:blipFill>
          <p:spPr bwMode="auto">
            <a:xfrm>
              <a:off x="5598160" y="1778000"/>
              <a:ext cx="3383280" cy="3789680"/>
            </a:xfrm>
            <a:prstGeom prst="rect">
              <a:avLst/>
            </a:prstGeom>
            <a:noFill/>
            <a:ln w="9525">
              <a:noFill/>
              <a:miter lim="800000"/>
              <a:headEnd/>
              <a:tailEnd/>
            </a:ln>
          </p:spPr>
        </p:pic>
        <p:sp>
          <p:nvSpPr>
            <p:cNvPr id="9" name="Rectangle 8"/>
            <p:cNvSpPr/>
            <p:nvPr/>
          </p:nvSpPr>
          <p:spPr bwMode="auto">
            <a:xfrm>
              <a:off x="6664960" y="2600960"/>
              <a:ext cx="2001520" cy="69088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
        <p:nvSpPr>
          <p:cNvPr id="7" name="ZoneTexte 6"/>
          <p:cNvSpPr txBox="1"/>
          <p:nvPr/>
        </p:nvSpPr>
        <p:spPr>
          <a:xfrm>
            <a:off x="682107" y="2822509"/>
            <a:ext cx="4608351" cy="2139047"/>
          </a:xfrm>
          <a:prstGeom prst="rect">
            <a:avLst/>
          </a:prstGeom>
          <a:solidFill>
            <a:schemeClr val="bg1">
              <a:lumMod val="95000"/>
            </a:schemeClr>
          </a:solidFill>
          <a:ln>
            <a:solidFill>
              <a:schemeClr val="accent6"/>
            </a:solidFill>
          </a:ln>
        </p:spPr>
        <p:txBody>
          <a:bodyPr wrap="square" rtlCol="0">
            <a:spAutoFit/>
          </a:bodyPr>
          <a:lstStyle/>
          <a:p>
            <a:pPr>
              <a:buFont typeface="Arial" pitchFamily="34" charset="0"/>
              <a:buChar char="•"/>
            </a:pPr>
            <a:r>
              <a:rPr lang="en-US" sz="1600" b="0" dirty="0" smtClean="0"/>
              <a:t> </a:t>
            </a:r>
            <a:r>
              <a:rPr lang="en-GB" sz="1600" b="0" dirty="0" smtClean="0">
                <a:solidFill>
                  <a:schemeClr val="accent6"/>
                </a:solidFill>
              </a:rPr>
              <a:t>The Density-based Coupled implicit formulation is more stable and can be driven much harder to reach a converged solution in less time</a:t>
            </a:r>
          </a:p>
          <a:p>
            <a:pPr>
              <a:buFont typeface="Arial" pitchFamily="34" charset="0"/>
              <a:buChar char="•"/>
            </a:pPr>
            <a:endParaRPr lang="en-GB" sz="500" b="0" dirty="0" smtClean="0">
              <a:solidFill>
                <a:schemeClr val="accent6"/>
              </a:solidFill>
            </a:endParaRPr>
          </a:p>
          <a:p>
            <a:pPr marL="0" lvl="2">
              <a:buFont typeface="Arial" pitchFamily="34" charset="0"/>
              <a:buChar char="•"/>
            </a:pPr>
            <a:r>
              <a:rPr lang="en-GB" sz="1600" b="0" dirty="0" smtClean="0">
                <a:solidFill>
                  <a:schemeClr val="accent6"/>
                </a:solidFill>
              </a:rPr>
              <a:t> The Density-based Coupled explicit formulation is only normally used for cases where the characteristic time scale is of the same order as the acoustic time scale, for example the propagation of high Mach number shock waves</a:t>
            </a:r>
            <a:endParaRPr lang="en-US" sz="1600" dirty="0">
              <a:solidFill>
                <a:schemeClr val="accent6"/>
              </a:solidFill>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title"/>
          </p:nvPr>
        </p:nvSpPr>
        <p:spPr/>
        <p:txBody>
          <a:bodyPr/>
          <a:lstStyle/>
          <a:p>
            <a:pPr eaLnBrk="1" hangingPunct="1"/>
            <a:r>
              <a:rPr lang="en-GB" dirty="0" smtClean="0"/>
              <a:t>Solution Methods</a:t>
            </a:r>
            <a:endParaRPr lang="en-US" dirty="0" smtClean="0"/>
          </a:p>
        </p:txBody>
      </p:sp>
      <p:sp>
        <p:nvSpPr>
          <p:cNvPr id="23555" name="Rectangle 8"/>
          <p:cNvSpPr>
            <a:spLocks noGrp="1" noChangeArrowheads="1"/>
          </p:cNvSpPr>
          <p:nvPr>
            <p:ph idx="1"/>
          </p:nvPr>
        </p:nvSpPr>
        <p:spPr>
          <a:xfrm>
            <a:off x="180975" y="935039"/>
            <a:ext cx="4661613" cy="5297810"/>
          </a:xfrm>
        </p:spPr>
        <p:txBody>
          <a:bodyPr/>
          <a:lstStyle/>
          <a:p>
            <a:pPr eaLnBrk="1" hangingPunct="1"/>
            <a:endParaRPr lang="en-GB" sz="1000" dirty="0" smtClean="0"/>
          </a:p>
          <a:p>
            <a:pPr eaLnBrk="1" hangingPunct="1"/>
            <a:r>
              <a:rPr lang="en-GB" dirty="0" smtClean="0"/>
              <a:t>Change the gradient method to Green-Gauss Node Based</a:t>
            </a:r>
          </a:p>
          <a:p>
            <a:pPr lvl="1" eaLnBrk="1" hangingPunct="1"/>
            <a:r>
              <a:rPr lang="en-GB" sz="1600" b="0" dirty="0" smtClean="0"/>
              <a:t>This is slightly more computationally expensive than the other methods but is more accurate</a:t>
            </a:r>
          </a:p>
          <a:p>
            <a:pPr eaLnBrk="1" hangingPunct="1"/>
            <a:endParaRPr lang="en-GB" sz="1000" dirty="0" smtClean="0"/>
          </a:p>
          <a:p>
            <a:pPr eaLnBrk="1" hangingPunct="1"/>
            <a:r>
              <a:rPr lang="en-GB" dirty="0" smtClean="0"/>
              <a:t>Select Second Order Upwind for flow and turbulence </a:t>
            </a:r>
            <a:r>
              <a:rPr lang="en-GB" dirty="0" err="1" smtClean="0"/>
              <a:t>discretization</a:t>
            </a:r>
            <a:endParaRPr lang="en-GB" dirty="0" smtClean="0"/>
          </a:p>
          <a:p>
            <a:pPr lvl="1" eaLnBrk="1" hangingPunct="1"/>
            <a:r>
              <a:rPr lang="en-GB" sz="1600" b="0" dirty="0" smtClean="0"/>
              <a:t>To accurately predict drag, select the ‘Second Order Upwind’ schemes.</a:t>
            </a:r>
            <a:endParaRPr lang="en-US" sz="1600" b="0" dirty="0" smtClean="0"/>
          </a:p>
        </p:txBody>
      </p:sp>
      <p:grpSp>
        <p:nvGrpSpPr>
          <p:cNvPr id="11" name="Group 10"/>
          <p:cNvGrpSpPr/>
          <p:nvPr/>
        </p:nvGrpSpPr>
        <p:grpSpPr>
          <a:xfrm>
            <a:off x="4799459" y="1595535"/>
            <a:ext cx="4196080" cy="3580654"/>
            <a:chOff x="1239520" y="2763521"/>
            <a:chExt cx="4196080" cy="3580654"/>
          </a:xfrm>
        </p:grpSpPr>
        <p:pic>
          <p:nvPicPr>
            <p:cNvPr id="2" name="Picture 2"/>
            <p:cNvPicPr>
              <a:picLocks noChangeAspect="1" noChangeArrowheads="1"/>
            </p:cNvPicPr>
            <p:nvPr/>
          </p:nvPicPr>
          <p:blipFill>
            <a:blip r:embed="rId2" cstate="print"/>
            <a:srcRect l="7873" r="65841" b="64111"/>
            <a:stretch>
              <a:fillRect/>
            </a:stretch>
          </p:blipFill>
          <p:spPr bwMode="auto">
            <a:xfrm>
              <a:off x="1239520" y="2763521"/>
              <a:ext cx="4196080" cy="3580654"/>
            </a:xfrm>
            <a:prstGeom prst="rect">
              <a:avLst/>
            </a:prstGeom>
            <a:noFill/>
            <a:ln w="9525">
              <a:noFill/>
              <a:miter lim="800000"/>
              <a:headEnd/>
              <a:tailEnd/>
            </a:ln>
          </p:spPr>
        </p:pic>
        <p:sp>
          <p:nvSpPr>
            <p:cNvPr id="9" name="Rectangle 8"/>
            <p:cNvSpPr/>
            <p:nvPr/>
          </p:nvSpPr>
          <p:spPr bwMode="auto">
            <a:xfrm>
              <a:off x="2672080" y="4500880"/>
              <a:ext cx="2560320" cy="166624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2" cstate="print"/>
          <a:srcRect/>
          <a:stretch>
            <a:fillRect/>
          </a:stretch>
        </p:blipFill>
        <p:spPr bwMode="auto">
          <a:xfrm>
            <a:off x="1226116" y="3156154"/>
            <a:ext cx="3696632" cy="2989007"/>
          </a:xfrm>
          <a:prstGeom prst="rect">
            <a:avLst/>
          </a:prstGeom>
          <a:noFill/>
          <a:ln w="9525">
            <a:noFill/>
            <a:miter lim="800000"/>
            <a:headEnd/>
            <a:tailEnd/>
          </a:ln>
        </p:spPr>
      </p:pic>
      <p:sp>
        <p:nvSpPr>
          <p:cNvPr id="24578" name="Rectangle 11"/>
          <p:cNvSpPr>
            <a:spLocks noGrp="1" noChangeArrowheads="1"/>
          </p:cNvSpPr>
          <p:nvPr>
            <p:ph type="title"/>
          </p:nvPr>
        </p:nvSpPr>
        <p:spPr/>
        <p:txBody>
          <a:bodyPr/>
          <a:lstStyle/>
          <a:p>
            <a:pPr eaLnBrk="1" hangingPunct="1"/>
            <a:r>
              <a:rPr lang="en-GB" dirty="0" smtClean="0"/>
              <a:t>Solution Controls</a:t>
            </a:r>
            <a:endParaRPr lang="en-US" dirty="0" smtClean="0"/>
          </a:p>
        </p:txBody>
      </p:sp>
      <p:sp>
        <p:nvSpPr>
          <p:cNvPr id="24579" name="Rectangle 12"/>
          <p:cNvSpPr>
            <a:spLocks noGrp="1" noChangeArrowheads="1"/>
          </p:cNvSpPr>
          <p:nvPr>
            <p:ph idx="1"/>
          </p:nvPr>
        </p:nvSpPr>
        <p:spPr/>
        <p:txBody>
          <a:bodyPr/>
          <a:lstStyle/>
          <a:p>
            <a:pPr eaLnBrk="1" hangingPunct="1"/>
            <a:endParaRPr lang="en-GB" sz="1000" dirty="0" smtClean="0"/>
          </a:p>
          <a:p>
            <a:pPr eaLnBrk="1" hangingPunct="1"/>
            <a:r>
              <a:rPr lang="en-GB" dirty="0" smtClean="0"/>
              <a:t>The Courant number (CFL) determines the internal time step and affects the solution speed and stability</a:t>
            </a:r>
          </a:p>
        </p:txBody>
      </p:sp>
      <p:sp>
        <p:nvSpPr>
          <p:cNvPr id="5" name="TextBox 4"/>
          <p:cNvSpPr txBox="1"/>
          <p:nvPr/>
        </p:nvSpPr>
        <p:spPr>
          <a:xfrm>
            <a:off x="5141167" y="3657471"/>
            <a:ext cx="3545633" cy="2062103"/>
          </a:xfrm>
          <a:prstGeom prst="rect">
            <a:avLst/>
          </a:prstGeom>
          <a:noFill/>
          <a:ln w="15875">
            <a:solidFill>
              <a:srgbClr val="18545C"/>
            </a:solidFill>
          </a:ln>
        </p:spPr>
        <p:txBody>
          <a:bodyPr wrap="square">
            <a:spAutoFit/>
          </a:bodyPr>
          <a:lstStyle/>
          <a:p>
            <a:pPr eaLnBrk="0" hangingPunct="0">
              <a:defRPr/>
            </a:pPr>
            <a:r>
              <a:rPr lang="en-GB" sz="1600" b="0" dirty="0">
                <a:solidFill>
                  <a:srgbClr val="1D6771"/>
                </a:solidFill>
                <a:latin typeface="+mn-lt"/>
              </a:rPr>
              <a:t>As we will be using automatic ‘solution steering’, the choice of CFL at this stage is not important for this </a:t>
            </a:r>
            <a:r>
              <a:rPr lang="en-GB" sz="1600" b="0" dirty="0" smtClean="0">
                <a:solidFill>
                  <a:srgbClr val="1D6771"/>
                </a:solidFill>
                <a:latin typeface="+mn-lt"/>
              </a:rPr>
              <a:t>case</a:t>
            </a:r>
            <a:endParaRPr lang="en-GB" sz="1600" b="0" dirty="0">
              <a:solidFill>
                <a:srgbClr val="1D6771"/>
              </a:solidFill>
              <a:latin typeface="+mn-lt"/>
            </a:endParaRPr>
          </a:p>
          <a:p>
            <a:pPr eaLnBrk="0" hangingPunct="0">
              <a:defRPr/>
            </a:pPr>
            <a:endParaRPr lang="en-GB" sz="1600" b="0" dirty="0">
              <a:solidFill>
                <a:srgbClr val="1D6771"/>
              </a:solidFill>
              <a:latin typeface="+mn-lt"/>
            </a:endParaRPr>
          </a:p>
          <a:p>
            <a:pPr eaLnBrk="0" hangingPunct="0">
              <a:defRPr/>
            </a:pPr>
            <a:r>
              <a:rPr lang="en-GB" sz="1600" b="0" dirty="0">
                <a:solidFill>
                  <a:srgbClr val="1D6771"/>
                </a:solidFill>
                <a:latin typeface="+mn-lt"/>
              </a:rPr>
              <a:t>Keep the default under-relaxation factors (URFs) for the uncoupled </a:t>
            </a:r>
            <a:r>
              <a:rPr lang="en-GB" sz="1600" b="0" dirty="0" smtClean="0">
                <a:solidFill>
                  <a:srgbClr val="1D6771"/>
                </a:solidFill>
                <a:latin typeface="+mn-lt"/>
              </a:rPr>
              <a:t>parameters</a:t>
            </a:r>
            <a:endParaRPr lang="en-US" sz="1600" b="0" dirty="0">
              <a:solidFill>
                <a:srgbClr val="1D6771"/>
              </a:solidFill>
              <a:latin typeface="+mn-lt"/>
            </a:endParaRPr>
          </a:p>
        </p:txBody>
      </p:sp>
      <p:sp>
        <p:nvSpPr>
          <p:cNvPr id="24583" name="Rectangle 5"/>
          <p:cNvSpPr>
            <a:spLocks noChangeArrowheads="1"/>
          </p:cNvSpPr>
          <p:nvPr/>
        </p:nvSpPr>
        <p:spPr bwMode="auto">
          <a:xfrm>
            <a:off x="1270067" y="4742602"/>
            <a:ext cx="684949" cy="140426"/>
          </a:xfrm>
          <a:prstGeom prst="rect">
            <a:avLst/>
          </a:prstGeom>
          <a:noFill/>
          <a:ln w="28575" algn="ctr">
            <a:solidFill>
              <a:srgbClr val="CC3300"/>
            </a:solidFill>
            <a:round/>
            <a:headEnd/>
            <a:tailEnd/>
          </a:ln>
        </p:spPr>
        <p:txBody>
          <a:bodyPr>
            <a:spAutoFit/>
          </a:bodyPr>
          <a:lstStyle/>
          <a:p>
            <a:pPr algn="ctr" eaLnBrk="0" hangingPunct="0"/>
            <a:endParaRPr lang="en-US"/>
          </a:p>
        </p:txBody>
      </p:sp>
      <p:sp>
        <p:nvSpPr>
          <p:cNvPr id="24584" name="Rectangle 7"/>
          <p:cNvSpPr>
            <a:spLocks noChangeArrowheads="1"/>
          </p:cNvSpPr>
          <p:nvPr/>
        </p:nvSpPr>
        <p:spPr bwMode="auto">
          <a:xfrm>
            <a:off x="2063986" y="4052015"/>
            <a:ext cx="926238" cy="951774"/>
          </a:xfrm>
          <a:prstGeom prst="rect">
            <a:avLst/>
          </a:prstGeom>
          <a:noFill/>
          <a:ln w="28575" algn="ctr">
            <a:solidFill>
              <a:srgbClr val="CC3300"/>
            </a:solidFill>
            <a:round/>
            <a:headEnd/>
            <a:tailEnd/>
          </a:ln>
        </p:spPr>
        <p:txBody>
          <a:bodyPr>
            <a:spAutoFit/>
          </a:bodyPr>
          <a:lstStyle/>
          <a:p>
            <a:pPr algn="ctr" eaLnBrk="0" hangingPunct="0"/>
            <a:endParaRPr lang="en-US"/>
          </a:p>
        </p:txBody>
      </p:sp>
      <p:sp>
        <p:nvSpPr>
          <p:cNvPr id="24585" name="Rectangle 8"/>
          <p:cNvSpPr>
            <a:spLocks noChangeArrowheads="1"/>
          </p:cNvSpPr>
          <p:nvPr/>
        </p:nvSpPr>
        <p:spPr bwMode="auto">
          <a:xfrm>
            <a:off x="2884125" y="3783026"/>
            <a:ext cx="825053" cy="257447"/>
          </a:xfrm>
          <a:prstGeom prst="rect">
            <a:avLst/>
          </a:prstGeom>
          <a:noFill/>
          <a:ln w="28575" algn="ctr">
            <a:solidFill>
              <a:srgbClr val="CC3300"/>
            </a:solidFill>
            <a:round/>
            <a:headEnd/>
            <a:tailEnd/>
          </a:ln>
        </p:spPr>
        <p:txBody>
          <a:bodyPr>
            <a:spAutoFit/>
          </a:bodyPr>
          <a:lstStyle/>
          <a:p>
            <a:pPr algn="ctr" eaLnBrk="0" hangingPunct="0"/>
            <a:endParaRPr lang="en-US"/>
          </a:p>
        </p:txBody>
      </p:sp>
      <p:sp>
        <p:nvSpPr>
          <p:cNvPr id="10" name="ZoneTexte 9"/>
          <p:cNvSpPr txBox="1"/>
          <p:nvPr/>
        </p:nvSpPr>
        <p:spPr>
          <a:xfrm>
            <a:off x="719430" y="1852127"/>
            <a:ext cx="7967371" cy="1077218"/>
          </a:xfrm>
          <a:prstGeom prst="rect">
            <a:avLst/>
          </a:prstGeom>
          <a:solidFill>
            <a:schemeClr val="bg1">
              <a:lumMod val="95000"/>
            </a:schemeClr>
          </a:solidFill>
          <a:ln>
            <a:solidFill>
              <a:schemeClr val="accent6"/>
            </a:solidFill>
          </a:ln>
        </p:spPr>
        <p:txBody>
          <a:bodyPr wrap="square" rtlCol="0">
            <a:spAutoFit/>
          </a:bodyPr>
          <a:lstStyle/>
          <a:p>
            <a:pPr marL="0" lvl="1"/>
            <a:r>
              <a:rPr lang="en-US" sz="1600" b="0" dirty="0" smtClean="0">
                <a:solidFill>
                  <a:schemeClr val="accent6"/>
                </a:solidFill>
              </a:rPr>
              <a:t>The default CFL for the density-based implicit formulation is 5.0. It is often possible to increase the CFL to 10, 20, 100, or even higher, depending on the complexity of your problem. You may find that a lower CFL is required during startup (when changes in the solution are highly nonlinear), but it can be increased as the solution progresses</a:t>
            </a:r>
            <a:endParaRPr lang="en-US" sz="1600" dirty="0">
              <a:solidFill>
                <a:schemeClr val="accent6"/>
              </a:solidFill>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Grp="1" noChangeArrowheads="1"/>
          </p:cNvSpPr>
          <p:nvPr>
            <p:ph type="title"/>
          </p:nvPr>
        </p:nvSpPr>
        <p:spPr/>
        <p:txBody>
          <a:bodyPr/>
          <a:lstStyle/>
          <a:p>
            <a:pPr eaLnBrk="1" hangingPunct="1"/>
            <a:r>
              <a:rPr lang="en-GB" dirty="0" smtClean="0"/>
              <a:t>Solution Monitors - Residuals</a:t>
            </a:r>
            <a:endParaRPr lang="en-US" dirty="0" smtClean="0"/>
          </a:p>
        </p:txBody>
      </p:sp>
      <p:sp>
        <p:nvSpPr>
          <p:cNvPr id="25603" name="Rectangle 6"/>
          <p:cNvSpPr>
            <a:spLocks noGrp="1" noChangeArrowheads="1"/>
          </p:cNvSpPr>
          <p:nvPr>
            <p:ph idx="1"/>
          </p:nvPr>
        </p:nvSpPr>
        <p:spPr>
          <a:xfrm>
            <a:off x="180975" y="935038"/>
            <a:ext cx="8207245" cy="5553075"/>
          </a:xfrm>
        </p:spPr>
        <p:txBody>
          <a:bodyPr/>
          <a:lstStyle/>
          <a:p>
            <a:pPr eaLnBrk="1" hangingPunct="1"/>
            <a:endParaRPr lang="en-GB" sz="1000" dirty="0" smtClean="0"/>
          </a:p>
          <a:p>
            <a:pPr eaLnBrk="1" hangingPunct="1"/>
            <a:r>
              <a:rPr lang="en-GB" dirty="0" smtClean="0"/>
              <a:t>Set up residual monitors so the convergence can be monitored</a:t>
            </a:r>
          </a:p>
          <a:p>
            <a:pPr lvl="1" eaLnBrk="1" hangingPunct="1"/>
            <a:r>
              <a:rPr lang="en-GB" sz="1800" b="0" dirty="0" smtClean="0"/>
              <a:t>Monitors &gt; Residuals &gt; Edit</a:t>
            </a:r>
          </a:p>
          <a:p>
            <a:pPr lvl="1" eaLnBrk="1" hangingPunct="1"/>
            <a:r>
              <a:rPr lang="en-GB" sz="1800" b="0" dirty="0" smtClean="0"/>
              <a:t>Make sure ‘plot’ is on</a:t>
            </a:r>
          </a:p>
          <a:p>
            <a:pPr lvl="1" eaLnBrk="1" hangingPunct="1"/>
            <a:r>
              <a:rPr lang="en-GB" sz="1800" b="0" dirty="0" smtClean="0"/>
              <a:t>Turn off convergence checks by setting the criterion to ‘none’</a:t>
            </a:r>
          </a:p>
          <a:p>
            <a:pPr lvl="2" eaLnBrk="1" hangingPunct="1"/>
            <a:r>
              <a:rPr lang="en-GB" sz="1600" b="0" dirty="0" smtClean="0"/>
              <a:t>This means that the calculation will not stop based on the residual plots convergence, but you can still see their progress.</a:t>
            </a:r>
            <a:endParaRPr lang="en-US" sz="1600" b="0" dirty="0" smtClean="0"/>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7"/>
          <p:cNvSpPr>
            <a:spLocks noGrp="1" noChangeArrowheads="1"/>
          </p:cNvSpPr>
          <p:nvPr>
            <p:ph type="title"/>
          </p:nvPr>
        </p:nvSpPr>
        <p:spPr/>
        <p:txBody>
          <a:bodyPr/>
          <a:lstStyle/>
          <a:p>
            <a:pPr eaLnBrk="1" hangingPunct="1"/>
            <a:r>
              <a:rPr lang="en-GB" dirty="0" smtClean="0"/>
              <a:t>Solution Monitors – Drag &amp; Lift</a:t>
            </a:r>
            <a:endParaRPr lang="en-US" dirty="0" smtClean="0"/>
          </a:p>
        </p:txBody>
      </p:sp>
      <p:sp>
        <p:nvSpPr>
          <p:cNvPr id="26627" name="Rectangle 18"/>
          <p:cNvSpPr>
            <a:spLocks noGrp="1" noChangeArrowheads="1"/>
          </p:cNvSpPr>
          <p:nvPr>
            <p:ph idx="1"/>
          </p:nvPr>
        </p:nvSpPr>
        <p:spPr/>
        <p:txBody>
          <a:bodyPr/>
          <a:lstStyle/>
          <a:p>
            <a:pPr eaLnBrk="1" hangingPunct="1">
              <a:lnSpc>
                <a:spcPct val="90000"/>
              </a:lnSpc>
            </a:pPr>
            <a:r>
              <a:rPr lang="en-GB" sz="1600" b="0" dirty="0" smtClean="0"/>
              <a:t>Set up a monitor for the drag coefficient on the airfoil.</a:t>
            </a:r>
          </a:p>
          <a:p>
            <a:pPr eaLnBrk="1" hangingPunct="1">
              <a:lnSpc>
                <a:spcPct val="90000"/>
              </a:lnSpc>
            </a:pPr>
            <a:r>
              <a:rPr lang="en-GB" sz="1600" b="0" dirty="0" smtClean="0"/>
              <a:t>Select both wall zones and toggle on ‘Print’, ‘Plot’ and ‘Write’.</a:t>
            </a:r>
          </a:p>
          <a:p>
            <a:pPr eaLnBrk="1" hangingPunct="1">
              <a:lnSpc>
                <a:spcPct val="90000"/>
              </a:lnSpc>
            </a:pPr>
            <a:r>
              <a:rPr lang="en-GB" sz="1600" b="0" dirty="0" smtClean="0"/>
              <a:t>Remember that </a:t>
            </a:r>
            <a:r>
              <a:rPr lang="el-GR" sz="1600" b="0" dirty="0" smtClean="0"/>
              <a:t>α</a:t>
            </a:r>
            <a:r>
              <a:rPr lang="en-GB" sz="1600" b="0" dirty="0" smtClean="0"/>
              <a:t> is 3.19° so we need to use the force vector as shown</a:t>
            </a:r>
          </a:p>
          <a:p>
            <a:pPr eaLnBrk="1" hangingPunct="1">
              <a:lnSpc>
                <a:spcPct val="90000"/>
              </a:lnSpc>
            </a:pPr>
            <a:r>
              <a:rPr lang="en-GB" sz="1600" dirty="0" smtClean="0">
                <a:solidFill>
                  <a:srgbClr val="C00000"/>
                </a:solidFill>
              </a:rPr>
              <a:t>Lift and drag are defined relative to the wind, not the airfoil</a:t>
            </a:r>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endParaRPr lang="en-GB" sz="1600" dirty="0" smtClean="0"/>
          </a:p>
          <a:p>
            <a:pPr eaLnBrk="1" hangingPunct="1">
              <a:lnSpc>
                <a:spcPct val="90000"/>
              </a:lnSpc>
            </a:pPr>
            <a:r>
              <a:rPr lang="en-GB" sz="1600" dirty="0" smtClean="0">
                <a:solidFill>
                  <a:schemeClr val="accent6"/>
                </a:solidFill>
              </a:rPr>
              <a:t>Press OK, then follow the same process to setup a monitor for Lift</a:t>
            </a:r>
          </a:p>
          <a:p>
            <a:pPr lvl="1" eaLnBrk="1" hangingPunct="1">
              <a:lnSpc>
                <a:spcPct val="90000"/>
              </a:lnSpc>
            </a:pPr>
            <a:r>
              <a:rPr lang="en-GB" sz="1400" b="0" dirty="0" smtClean="0">
                <a:solidFill>
                  <a:schemeClr val="accent6"/>
                </a:solidFill>
              </a:rPr>
              <a:t>The settings are identical except for the File Name (</a:t>
            </a:r>
            <a:r>
              <a:rPr lang="en-GB" sz="1400" b="0" dirty="0" err="1" smtClean="0">
                <a:solidFill>
                  <a:schemeClr val="accent6"/>
                </a:solidFill>
              </a:rPr>
              <a:t>cl</a:t>
            </a:r>
            <a:r>
              <a:rPr lang="en-GB" sz="1400" b="0" dirty="0" smtClean="0">
                <a:solidFill>
                  <a:schemeClr val="accent6"/>
                </a:solidFill>
              </a:rPr>
              <a:t>-history instead of </a:t>
            </a:r>
            <a:r>
              <a:rPr lang="en-GB" sz="1400" b="0" dirty="0" err="1" smtClean="0">
                <a:solidFill>
                  <a:schemeClr val="accent6"/>
                </a:solidFill>
              </a:rPr>
              <a:t>cd</a:t>
            </a:r>
            <a:r>
              <a:rPr lang="en-GB" sz="1400" b="0" dirty="0" smtClean="0">
                <a:solidFill>
                  <a:schemeClr val="accent6"/>
                </a:solidFill>
              </a:rPr>
              <a:t>-history) and the Force Vectors: -0.0556 as x component and 0.99845 as z component</a:t>
            </a:r>
            <a:r>
              <a:rPr lang="en-GB" sz="1400" dirty="0" smtClean="0"/>
              <a:t/>
            </a:r>
            <a:br>
              <a:rPr lang="en-GB" sz="1400" dirty="0" smtClean="0"/>
            </a:br>
            <a:endParaRPr lang="en-US" sz="1400" dirty="0" smtClean="0"/>
          </a:p>
        </p:txBody>
      </p:sp>
      <p:grpSp>
        <p:nvGrpSpPr>
          <p:cNvPr id="14" name="Group 13"/>
          <p:cNvGrpSpPr/>
          <p:nvPr/>
        </p:nvGrpSpPr>
        <p:grpSpPr>
          <a:xfrm>
            <a:off x="944879" y="2042160"/>
            <a:ext cx="7504425" cy="3312160"/>
            <a:chOff x="680719" y="2042160"/>
            <a:chExt cx="7504425" cy="3312160"/>
          </a:xfrm>
        </p:grpSpPr>
        <p:grpSp>
          <p:nvGrpSpPr>
            <p:cNvPr id="19" name="Group 18"/>
            <p:cNvGrpSpPr/>
            <p:nvPr/>
          </p:nvGrpSpPr>
          <p:grpSpPr>
            <a:xfrm>
              <a:off x="680719" y="2042160"/>
              <a:ext cx="3289857" cy="3312160"/>
              <a:chOff x="680719" y="2042160"/>
              <a:chExt cx="3289857" cy="3312160"/>
            </a:xfrm>
          </p:grpSpPr>
          <p:pic>
            <p:nvPicPr>
              <p:cNvPr id="24578" name="Picture 2"/>
              <p:cNvPicPr>
                <a:picLocks noChangeAspect="1" noChangeArrowheads="1"/>
              </p:cNvPicPr>
              <p:nvPr/>
            </p:nvPicPr>
            <p:blipFill>
              <a:blip r:embed="rId2" cstate="print"/>
              <a:srcRect l="7937" t="549" r="66758" b="58688"/>
              <a:stretch>
                <a:fillRect/>
              </a:stretch>
            </p:blipFill>
            <p:spPr bwMode="auto">
              <a:xfrm>
                <a:off x="680719" y="2042160"/>
                <a:ext cx="3289857" cy="3312160"/>
              </a:xfrm>
              <a:prstGeom prst="rect">
                <a:avLst/>
              </a:prstGeom>
              <a:noFill/>
              <a:ln w="9525">
                <a:noFill/>
                <a:miter lim="800000"/>
                <a:headEnd/>
                <a:tailEnd/>
              </a:ln>
            </p:spPr>
          </p:pic>
          <p:sp>
            <p:nvSpPr>
              <p:cNvPr id="18" name="Rectangle 17"/>
              <p:cNvSpPr/>
              <p:nvPr/>
            </p:nvSpPr>
            <p:spPr bwMode="auto">
              <a:xfrm>
                <a:off x="1838960" y="2824480"/>
                <a:ext cx="1859280" cy="103632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grpSp>
          <p:nvGrpSpPr>
            <p:cNvPr id="13" name="Group 12"/>
            <p:cNvGrpSpPr/>
            <p:nvPr/>
          </p:nvGrpSpPr>
          <p:grpSpPr>
            <a:xfrm>
              <a:off x="4470400" y="2052320"/>
              <a:ext cx="3714744" cy="3241040"/>
              <a:chOff x="4470400" y="2052320"/>
              <a:chExt cx="3714744" cy="3241040"/>
            </a:xfrm>
          </p:grpSpPr>
          <p:pic>
            <p:nvPicPr>
              <p:cNvPr id="25603" name="Picture 3"/>
              <p:cNvPicPr>
                <a:picLocks noChangeAspect="1" noChangeArrowheads="1"/>
              </p:cNvPicPr>
              <p:nvPr/>
            </p:nvPicPr>
            <p:blipFill>
              <a:blip r:embed="rId3" cstate="print"/>
              <a:srcRect l="20081" t="14058" r="54141" b="49956"/>
              <a:stretch>
                <a:fillRect/>
              </a:stretch>
            </p:blipFill>
            <p:spPr bwMode="auto">
              <a:xfrm>
                <a:off x="4470400" y="2052320"/>
                <a:ext cx="3714744" cy="3241040"/>
              </a:xfrm>
              <a:prstGeom prst="rect">
                <a:avLst/>
              </a:prstGeom>
              <a:noFill/>
              <a:ln w="9525">
                <a:noFill/>
                <a:miter lim="800000"/>
                <a:headEnd/>
                <a:tailEnd/>
              </a:ln>
            </p:spPr>
          </p:pic>
          <p:sp>
            <p:nvSpPr>
              <p:cNvPr id="12" name="Rectangle 11"/>
              <p:cNvSpPr/>
              <p:nvPr/>
            </p:nvSpPr>
            <p:spPr bwMode="auto">
              <a:xfrm>
                <a:off x="4490720" y="3931920"/>
                <a:ext cx="2042160" cy="69088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gr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0" y="419100"/>
            <a:ext cx="6934200" cy="438150"/>
          </a:xfrm>
        </p:spPr>
        <p:txBody>
          <a:bodyPr/>
          <a:lstStyle/>
          <a:p>
            <a:pPr eaLnBrk="1" hangingPunct="1"/>
            <a:r>
              <a:rPr lang="en-GB" dirty="0" smtClean="0"/>
              <a:t>Solution Initialization</a:t>
            </a:r>
            <a:endParaRPr lang="en-US" dirty="0" smtClean="0"/>
          </a:p>
        </p:txBody>
      </p:sp>
      <p:sp>
        <p:nvSpPr>
          <p:cNvPr id="27651" name="Rectangle 3"/>
          <p:cNvSpPr>
            <a:spLocks noGrp="1" noChangeArrowheads="1"/>
          </p:cNvSpPr>
          <p:nvPr>
            <p:ph type="body" idx="4294967295"/>
          </p:nvPr>
        </p:nvSpPr>
        <p:spPr>
          <a:xfrm>
            <a:off x="152399" y="935038"/>
            <a:ext cx="6227379" cy="5553075"/>
          </a:xfrm>
        </p:spPr>
        <p:txBody>
          <a:bodyPr>
            <a:normAutofit/>
          </a:bodyPr>
          <a:lstStyle/>
          <a:p>
            <a:pPr algn="just" eaLnBrk="1" hangingPunct="1"/>
            <a:endParaRPr lang="en-GB" sz="1100" dirty="0" smtClean="0"/>
          </a:p>
          <a:p>
            <a:pPr eaLnBrk="1" hangingPunct="1"/>
            <a:r>
              <a:rPr lang="en-GB" dirty="0" smtClean="0"/>
              <a:t>Initialize the flow field based on the far-field boundary</a:t>
            </a:r>
          </a:p>
          <a:p>
            <a:pPr lvl="1" algn="just" eaLnBrk="1" hangingPunct="1"/>
            <a:r>
              <a:rPr lang="en-GB" sz="1600" b="0" dirty="0" smtClean="0"/>
              <a:t>Select Solution Initialization from the model tree</a:t>
            </a:r>
          </a:p>
          <a:p>
            <a:pPr lvl="1" algn="just" eaLnBrk="1" hangingPunct="1"/>
            <a:r>
              <a:rPr lang="en-GB" sz="1600" b="0" dirty="0" smtClean="0"/>
              <a:t>Compute from &gt; inlet</a:t>
            </a:r>
          </a:p>
          <a:p>
            <a:pPr lvl="1" algn="just" eaLnBrk="1" hangingPunct="1"/>
            <a:r>
              <a:rPr lang="en-GB" sz="1600" b="0" dirty="0" smtClean="0"/>
              <a:t>Press ‘Initialize’</a:t>
            </a:r>
          </a:p>
          <a:p>
            <a:pPr lvl="1" algn="just" eaLnBrk="1" hangingPunct="1"/>
            <a:endParaRPr lang="en-GB" sz="1200" dirty="0" smtClean="0"/>
          </a:p>
          <a:p>
            <a:pPr lvl="2" algn="just" eaLnBrk="1" hangingPunct="1"/>
            <a:endParaRPr lang="en-US" dirty="0" smtClean="0"/>
          </a:p>
          <a:p>
            <a:pPr algn="just" eaLnBrk="1" hangingPunct="1"/>
            <a:endParaRPr lang="en-US" dirty="0" smtClean="0"/>
          </a:p>
          <a:p>
            <a:pPr algn="just" eaLnBrk="1" hangingPunct="1"/>
            <a:endParaRPr lang="en-GB" dirty="0" smtClean="0"/>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0" y="419100"/>
            <a:ext cx="6934200" cy="438150"/>
          </a:xfrm>
        </p:spPr>
        <p:txBody>
          <a:bodyPr/>
          <a:lstStyle/>
          <a:p>
            <a:pPr eaLnBrk="1" hangingPunct="1"/>
            <a:r>
              <a:rPr lang="en-GB" dirty="0" smtClean="0"/>
              <a:t>Solution Steering</a:t>
            </a:r>
            <a:endParaRPr lang="en-US" dirty="0" smtClean="0"/>
          </a:p>
        </p:txBody>
      </p:sp>
      <p:sp>
        <p:nvSpPr>
          <p:cNvPr id="27651" name="Rectangle 3"/>
          <p:cNvSpPr>
            <a:spLocks noGrp="1" noChangeArrowheads="1"/>
          </p:cNvSpPr>
          <p:nvPr>
            <p:ph type="body" idx="4294967295"/>
          </p:nvPr>
        </p:nvSpPr>
        <p:spPr>
          <a:xfrm>
            <a:off x="152399" y="935038"/>
            <a:ext cx="5856515" cy="5553075"/>
          </a:xfrm>
        </p:spPr>
        <p:txBody>
          <a:bodyPr>
            <a:normAutofit/>
          </a:bodyPr>
          <a:lstStyle/>
          <a:p>
            <a:pPr lvl="1" algn="just" eaLnBrk="1" hangingPunct="1">
              <a:buNone/>
            </a:pPr>
            <a:endParaRPr lang="en-GB" sz="1200" dirty="0" smtClean="0"/>
          </a:p>
          <a:p>
            <a:pPr eaLnBrk="1" hangingPunct="1"/>
            <a:r>
              <a:rPr lang="en-US" sz="1800" dirty="0" smtClean="0"/>
              <a:t>Enable the Solution Steering option</a:t>
            </a:r>
          </a:p>
          <a:p>
            <a:pPr eaLnBrk="1" hangingPunct="1"/>
            <a:endParaRPr lang="en-US" sz="500" dirty="0" smtClean="0"/>
          </a:p>
          <a:p>
            <a:pPr lvl="1" algn="just" eaLnBrk="1" hangingPunct="1"/>
            <a:r>
              <a:rPr lang="en-US" sz="1600" b="0" dirty="0" smtClean="0"/>
              <a:t>Select Run Calculation, and toggle on Solution Steering</a:t>
            </a:r>
          </a:p>
          <a:p>
            <a:pPr lvl="1" algn="just" eaLnBrk="1" hangingPunct="1"/>
            <a:endParaRPr lang="en-US" sz="500" b="0" dirty="0" smtClean="0"/>
          </a:p>
          <a:p>
            <a:pPr lvl="1" algn="just" eaLnBrk="1" hangingPunct="1"/>
            <a:r>
              <a:rPr lang="en-US" sz="1600" b="0" dirty="0" smtClean="0">
                <a:solidFill>
                  <a:schemeClr val="accent6"/>
                </a:solidFill>
              </a:rPr>
              <a:t>Change the flow type to </a:t>
            </a:r>
            <a:r>
              <a:rPr lang="en-US" sz="1600" dirty="0" smtClean="0">
                <a:solidFill>
                  <a:schemeClr val="accent6"/>
                </a:solidFill>
              </a:rPr>
              <a:t>transonic</a:t>
            </a:r>
            <a:endParaRPr lang="en-US" sz="1600" b="0" dirty="0" smtClean="0">
              <a:solidFill>
                <a:schemeClr val="accent6"/>
              </a:solidFill>
            </a:endParaRPr>
          </a:p>
          <a:p>
            <a:pPr lvl="2" algn="just" eaLnBrk="1" hangingPunct="1"/>
            <a:r>
              <a:rPr lang="en-US" sz="1400" b="0" dirty="0" smtClean="0"/>
              <a:t>and keep default options</a:t>
            </a:r>
          </a:p>
          <a:p>
            <a:pPr lvl="2" algn="just" eaLnBrk="1" hangingPunct="1"/>
            <a:endParaRPr lang="en-US" sz="500" b="0" dirty="0" smtClean="0"/>
          </a:p>
          <a:p>
            <a:pPr lvl="1" algn="just" eaLnBrk="1" hangingPunct="1"/>
            <a:r>
              <a:rPr lang="en-US" sz="1600" b="0" dirty="0" smtClean="0"/>
              <a:t>Click on Use FMG Initialization</a:t>
            </a:r>
          </a:p>
          <a:p>
            <a:pPr lvl="2" algn="just" eaLnBrk="1" hangingPunct="1"/>
            <a:r>
              <a:rPr lang="en-US" sz="1400" b="0" dirty="0" smtClean="0"/>
              <a:t>Full-Multi-Grid Initialization will compute a quick, simplified solution based on a number of coarse sub-grids. This will then be used as a starting point for the main calculation.</a:t>
            </a:r>
          </a:p>
          <a:p>
            <a:pPr lvl="2" algn="just" eaLnBrk="1" hangingPunct="1"/>
            <a:r>
              <a:rPr lang="en-US" sz="1400" b="0" dirty="0" smtClean="0"/>
              <a:t>FMG initialization can help to get a stable starting point</a:t>
            </a:r>
          </a:p>
          <a:p>
            <a:pPr lvl="2" algn="just" eaLnBrk="1" hangingPunct="1"/>
            <a:endParaRPr lang="en-US" dirty="0" smtClean="0"/>
          </a:p>
          <a:p>
            <a:pPr algn="just" eaLnBrk="1" hangingPunct="1"/>
            <a:endParaRPr lang="en-US" dirty="0" smtClean="0"/>
          </a:p>
          <a:p>
            <a:pPr algn="just" eaLnBrk="1" hangingPunct="1"/>
            <a:endParaRPr lang="en-GB" dirty="0" smtClean="0"/>
          </a:p>
        </p:txBody>
      </p:sp>
      <p:grpSp>
        <p:nvGrpSpPr>
          <p:cNvPr id="2" name="Group 3"/>
          <p:cNvGrpSpPr/>
          <p:nvPr/>
        </p:nvGrpSpPr>
        <p:grpSpPr>
          <a:xfrm>
            <a:off x="6032963" y="1798049"/>
            <a:ext cx="2821788" cy="3790988"/>
            <a:chOff x="2797493" y="3029903"/>
            <a:chExt cx="2352576" cy="3313112"/>
          </a:xfrm>
        </p:grpSpPr>
        <p:pic>
          <p:nvPicPr>
            <p:cNvPr id="5" name="Picture 4"/>
            <p:cNvPicPr>
              <a:picLocks noChangeAspect="1" noChangeArrowheads="1"/>
            </p:cNvPicPr>
            <p:nvPr/>
          </p:nvPicPr>
          <p:blipFill>
            <a:blip r:embed="rId2" cstate="print"/>
            <a:srcRect r="35287"/>
            <a:stretch>
              <a:fillRect/>
            </a:stretch>
          </p:blipFill>
          <p:spPr bwMode="auto">
            <a:xfrm>
              <a:off x="2797493" y="3029903"/>
              <a:ext cx="2352576" cy="3313112"/>
            </a:xfrm>
            <a:prstGeom prst="rect">
              <a:avLst/>
            </a:prstGeom>
            <a:noFill/>
            <a:ln w="9525">
              <a:noFill/>
              <a:miter lim="800000"/>
              <a:headEnd/>
              <a:tailEnd/>
            </a:ln>
          </p:spPr>
        </p:pic>
        <p:sp>
          <p:nvSpPr>
            <p:cNvPr id="6" name="Rectangle 8"/>
            <p:cNvSpPr>
              <a:spLocks noChangeArrowheads="1"/>
            </p:cNvSpPr>
            <p:nvPr/>
          </p:nvSpPr>
          <p:spPr bwMode="auto">
            <a:xfrm>
              <a:off x="3533611" y="4251938"/>
              <a:ext cx="806450" cy="523220"/>
            </a:xfrm>
            <a:prstGeom prst="rect">
              <a:avLst/>
            </a:prstGeom>
            <a:noFill/>
            <a:ln w="28575" algn="ctr">
              <a:solidFill>
                <a:srgbClr val="CC3300"/>
              </a:solidFill>
              <a:round/>
              <a:headEnd/>
              <a:tailEnd/>
            </a:ln>
          </p:spPr>
          <p:txBody>
            <a:bodyPr wrap="square">
              <a:spAutoFit/>
            </a:bodyPr>
            <a:lstStyle/>
            <a:p>
              <a:pPr algn="ctr" eaLnBrk="0" hangingPunct="0"/>
              <a:endParaRPr lang="en-US"/>
            </a:p>
          </p:txBody>
        </p:sp>
      </p:grpSp>
      <p:sp>
        <p:nvSpPr>
          <p:cNvPr id="7" name="ZoneTexte 6"/>
          <p:cNvSpPr txBox="1"/>
          <p:nvPr/>
        </p:nvSpPr>
        <p:spPr>
          <a:xfrm>
            <a:off x="784746" y="4334069"/>
            <a:ext cx="4832284" cy="1323439"/>
          </a:xfrm>
          <a:prstGeom prst="rect">
            <a:avLst/>
          </a:prstGeom>
          <a:solidFill>
            <a:schemeClr val="bg1">
              <a:lumMod val="95000"/>
            </a:schemeClr>
          </a:solidFill>
          <a:ln>
            <a:solidFill>
              <a:schemeClr val="accent6"/>
            </a:solidFill>
          </a:ln>
        </p:spPr>
        <p:txBody>
          <a:bodyPr wrap="square" rtlCol="0">
            <a:spAutoFit/>
          </a:bodyPr>
          <a:lstStyle/>
          <a:p>
            <a:pPr marL="0" lvl="1"/>
            <a:r>
              <a:rPr lang="en-US" sz="1600" b="0" dirty="0" smtClean="0">
                <a:solidFill>
                  <a:schemeClr val="accent6"/>
                </a:solidFill>
              </a:rPr>
              <a:t>Solution Steering enables the robust first order </a:t>
            </a:r>
            <a:r>
              <a:rPr lang="en-US" sz="1600" b="0" dirty="0" err="1" smtClean="0">
                <a:solidFill>
                  <a:schemeClr val="accent6"/>
                </a:solidFill>
              </a:rPr>
              <a:t>discretization</a:t>
            </a:r>
            <a:r>
              <a:rPr lang="en-US" sz="1600" b="0" dirty="0" smtClean="0">
                <a:solidFill>
                  <a:schemeClr val="accent6"/>
                </a:solidFill>
              </a:rPr>
              <a:t> in the early-stages of the computation, then blends to the more accurate second order schemes as the solution stabilizes</a:t>
            </a:r>
          </a:p>
          <a:p>
            <a:pPr marL="0" lvl="1">
              <a:buFont typeface="Arial" pitchFamily="34" charset="0"/>
              <a:buChar char="•"/>
            </a:pPr>
            <a:endParaRPr lang="en-US" sz="1600" dirty="0">
              <a:solidFill>
                <a:schemeClr val="accent6"/>
              </a:solidFill>
            </a:endParaRPr>
          </a:p>
        </p:txBody>
      </p:sp>
      <p:sp>
        <p:nvSpPr>
          <p:cNvPr id="8" name="Rectangle 7"/>
          <p:cNvSpPr/>
          <p:nvPr/>
        </p:nvSpPr>
        <p:spPr bwMode="auto">
          <a:xfrm>
            <a:off x="7903029" y="3480318"/>
            <a:ext cx="839755" cy="251927"/>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smtClean="0">
              <a:ln>
                <a:noFill/>
              </a:ln>
              <a:solidFill>
                <a:schemeClr val="tx1"/>
              </a:solidFill>
              <a:effectLst/>
              <a:latin typeface="Arial" charset="0"/>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title"/>
          </p:nvPr>
        </p:nvSpPr>
        <p:spPr/>
        <p:txBody>
          <a:bodyPr/>
          <a:lstStyle/>
          <a:p>
            <a:pPr eaLnBrk="1" hangingPunct="1"/>
            <a:r>
              <a:rPr lang="en-GB" dirty="0" smtClean="0"/>
              <a:t>Case Check</a:t>
            </a:r>
            <a:endParaRPr lang="en-US" dirty="0" smtClean="0"/>
          </a:p>
        </p:txBody>
      </p:sp>
      <p:sp>
        <p:nvSpPr>
          <p:cNvPr id="28675" name="Rectangle 8"/>
          <p:cNvSpPr>
            <a:spLocks noGrp="1" noChangeArrowheads="1"/>
          </p:cNvSpPr>
          <p:nvPr>
            <p:ph idx="1"/>
          </p:nvPr>
        </p:nvSpPr>
        <p:spPr>
          <a:xfrm>
            <a:off x="180975" y="935038"/>
            <a:ext cx="8151262" cy="5553075"/>
          </a:xfrm>
        </p:spPr>
        <p:txBody>
          <a:bodyPr>
            <a:noAutofit/>
          </a:bodyPr>
          <a:lstStyle/>
          <a:p>
            <a:pPr eaLnBrk="1" hangingPunct="1"/>
            <a:endParaRPr lang="en-GB" dirty="0" smtClean="0"/>
          </a:p>
          <a:p>
            <a:pPr eaLnBrk="1" hangingPunct="1"/>
            <a:r>
              <a:rPr lang="en-GB" dirty="0" smtClean="0"/>
              <a:t>Check the case file and make sure there are no reported issues</a:t>
            </a:r>
          </a:p>
          <a:p>
            <a:pPr lvl="1" eaLnBrk="1" hangingPunct="1"/>
            <a:r>
              <a:rPr lang="en-GB" sz="1600" b="0" dirty="0" smtClean="0"/>
              <a:t>Use Run Calculation &gt; Check Case</a:t>
            </a:r>
          </a:p>
          <a:p>
            <a:pPr lvl="1" eaLnBrk="1" hangingPunct="1"/>
            <a:endParaRPr lang="en-GB" dirty="0" smtClean="0"/>
          </a:p>
          <a:p>
            <a:pPr lvl="1" eaLnBrk="1" hangingPunct="1"/>
            <a:endParaRPr lang="en-GB" dirty="0" smtClean="0"/>
          </a:p>
          <a:p>
            <a:pPr lvl="1" eaLnBrk="1" hangingPunct="1"/>
            <a:endParaRPr lang="en-GB" dirty="0" smtClean="0"/>
          </a:p>
          <a:p>
            <a:pPr lvl="1" eaLnBrk="1" hangingPunct="1">
              <a:buNone/>
            </a:pPr>
            <a:endParaRPr lang="en-GB" dirty="0" smtClean="0"/>
          </a:p>
          <a:p>
            <a:pPr lvl="1" eaLnBrk="1" hangingPunct="1">
              <a:buNone/>
            </a:pPr>
            <a:endParaRPr lang="en-GB" dirty="0" smtClean="0"/>
          </a:p>
          <a:p>
            <a:pPr lvl="1" eaLnBrk="1" hangingPunct="1"/>
            <a:r>
              <a:rPr lang="en-US" sz="1600" b="0" dirty="0" smtClean="0"/>
              <a:t>Any potential problems with the case setup will be raised in the case check panel  if there are no problems this panel will not appear. In this case there is a recommendation to check the reference values for the force monitors. Since we have already set these we can ignore this warning.</a:t>
            </a:r>
          </a:p>
        </p:txBody>
      </p:sp>
      <p:pic>
        <p:nvPicPr>
          <p:cNvPr id="28676" name="Picture 2"/>
          <p:cNvPicPr>
            <a:picLocks noChangeAspect="1" noChangeArrowheads="1"/>
          </p:cNvPicPr>
          <p:nvPr/>
        </p:nvPicPr>
        <p:blipFill>
          <a:blip r:embed="rId2" cstate="print"/>
          <a:srcRect/>
          <a:stretch>
            <a:fillRect/>
          </a:stretch>
        </p:blipFill>
        <p:spPr bwMode="auto">
          <a:xfrm>
            <a:off x="2127587" y="2022920"/>
            <a:ext cx="3605213" cy="1435211"/>
          </a:xfrm>
          <a:prstGeom prst="rect">
            <a:avLst/>
          </a:prstGeom>
          <a:noFill/>
          <a:ln w="9525">
            <a:noFill/>
            <a:miter lim="800000"/>
            <a:headEnd/>
            <a:tailEnd/>
          </a:ln>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title"/>
          </p:nvPr>
        </p:nvSpPr>
        <p:spPr/>
        <p:txBody>
          <a:bodyPr/>
          <a:lstStyle/>
          <a:p>
            <a:pPr eaLnBrk="1" hangingPunct="1"/>
            <a:r>
              <a:rPr lang="en-GB" dirty="0" smtClean="0"/>
              <a:t>Save the Case File</a:t>
            </a:r>
            <a:endParaRPr lang="en-US" dirty="0" smtClean="0"/>
          </a:p>
        </p:txBody>
      </p:sp>
      <p:sp>
        <p:nvSpPr>
          <p:cNvPr id="28675" name="Rectangle 8"/>
          <p:cNvSpPr>
            <a:spLocks noGrp="1" noChangeArrowheads="1"/>
          </p:cNvSpPr>
          <p:nvPr>
            <p:ph idx="1"/>
          </p:nvPr>
        </p:nvSpPr>
        <p:spPr>
          <a:xfrm>
            <a:off x="180974" y="935038"/>
            <a:ext cx="5240111" cy="5553075"/>
          </a:xfrm>
        </p:spPr>
        <p:txBody>
          <a:bodyPr>
            <a:noAutofit/>
          </a:bodyPr>
          <a:lstStyle/>
          <a:p>
            <a:pPr eaLnBrk="1" hangingPunct="1">
              <a:buNone/>
            </a:pPr>
            <a:endParaRPr lang="en-US" sz="1000" dirty="0" smtClean="0"/>
          </a:p>
          <a:p>
            <a:pPr eaLnBrk="1" hangingPunct="1"/>
            <a:r>
              <a:rPr lang="en-US" dirty="0" smtClean="0"/>
              <a:t>Save the case file</a:t>
            </a:r>
          </a:p>
          <a:p>
            <a:pPr eaLnBrk="1" hangingPunct="1"/>
            <a:endParaRPr lang="en-US" sz="500" dirty="0" smtClean="0"/>
          </a:p>
          <a:p>
            <a:pPr lvl="1" eaLnBrk="1" hangingPunct="1"/>
            <a:r>
              <a:rPr lang="en-US" sz="1600" b="0" dirty="0" smtClean="0"/>
              <a:t>File &gt; Write Case</a:t>
            </a:r>
          </a:p>
          <a:p>
            <a:pPr lvl="2" eaLnBrk="1" hangingPunct="1"/>
            <a:r>
              <a:rPr lang="en-US" sz="1400" b="0" dirty="0" smtClean="0"/>
              <a:t>You can write case and data files with extension .</a:t>
            </a:r>
            <a:r>
              <a:rPr lang="en-US" sz="1400" b="0" dirty="0" err="1" smtClean="0"/>
              <a:t>gz</a:t>
            </a:r>
            <a:r>
              <a:rPr lang="en-US" sz="1400" b="0" dirty="0" smtClean="0"/>
              <a:t> – the files will be compressed automatically</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0" y="419100"/>
            <a:ext cx="6934200" cy="438150"/>
          </a:xfrm>
        </p:spPr>
        <p:txBody>
          <a:bodyPr/>
          <a:lstStyle/>
          <a:p>
            <a:pPr eaLnBrk="1" hangingPunct="1"/>
            <a:r>
              <a:rPr lang="en-GB" dirty="0" smtClean="0"/>
              <a:t>Run Calculation – FMG Initialization (1)</a:t>
            </a:r>
            <a:endParaRPr lang="en-US" dirty="0" smtClean="0"/>
          </a:p>
        </p:txBody>
      </p:sp>
      <p:sp>
        <p:nvSpPr>
          <p:cNvPr id="29699" name="Rectangle 3"/>
          <p:cNvSpPr>
            <a:spLocks noGrp="1" noChangeArrowheads="1"/>
          </p:cNvSpPr>
          <p:nvPr>
            <p:ph type="body" idx="4294967295"/>
          </p:nvPr>
        </p:nvSpPr>
        <p:spPr>
          <a:xfrm>
            <a:off x="0" y="935038"/>
            <a:ext cx="8782050" cy="5553075"/>
          </a:xfrm>
        </p:spPr>
        <p:txBody>
          <a:bodyPr/>
          <a:lstStyle/>
          <a:p>
            <a:pPr algn="just" eaLnBrk="1" hangingPunct="1"/>
            <a:endParaRPr lang="en-GB" sz="1600" b="0" dirty="0" smtClean="0"/>
          </a:p>
          <a:p>
            <a:pPr algn="just" eaLnBrk="1" hangingPunct="1"/>
            <a:r>
              <a:rPr lang="en-GB" sz="1800" dirty="0" smtClean="0"/>
              <a:t>Although the calculation is ready to compute, It is good practice (but not strictly necessary) to run the FMG initialization and then check the coarse FMG solution before starting the main calculation iterations</a:t>
            </a:r>
          </a:p>
          <a:p>
            <a:pPr algn="just" eaLnBrk="1" hangingPunct="1"/>
            <a:endParaRPr lang="en-GB" sz="500" dirty="0" smtClean="0"/>
          </a:p>
          <a:p>
            <a:pPr lvl="1" algn="just" eaLnBrk="1" hangingPunct="1"/>
            <a:r>
              <a:rPr lang="en-GB" sz="1600" b="0" dirty="0" smtClean="0"/>
              <a:t>Set the number of requested iterations to zero, and press ‘Calculate’</a:t>
            </a:r>
          </a:p>
          <a:p>
            <a:pPr lvl="1" algn="just" eaLnBrk="1" hangingPunct="1">
              <a:buNone/>
            </a:pPr>
            <a:r>
              <a:rPr lang="en-GB" sz="1600" b="0" dirty="0" smtClean="0"/>
              <a:t>	or input /solve/init/</a:t>
            </a:r>
            <a:r>
              <a:rPr lang="en-GB" sz="1600" b="0" dirty="0" err="1" smtClean="0"/>
              <a:t>fmg</a:t>
            </a:r>
            <a:r>
              <a:rPr lang="en-GB" sz="1600" b="0" dirty="0" smtClean="0"/>
              <a:t> at TUI</a:t>
            </a:r>
          </a:p>
          <a:p>
            <a:pPr lvl="1" algn="just" eaLnBrk="1" hangingPunct="1"/>
            <a:r>
              <a:rPr lang="en-GB" sz="1600" u="sng" dirty="0" smtClean="0">
                <a:solidFill>
                  <a:schemeClr val="accent6"/>
                </a:solidFill>
              </a:rPr>
              <a:t>Do it twice!</a:t>
            </a:r>
          </a:p>
          <a:p>
            <a:pPr lvl="1" algn="just" eaLnBrk="1" hangingPunct="1">
              <a:buNone/>
            </a:pPr>
            <a:endParaRPr lang="en-US" sz="1600" b="0" dirty="0" smtClean="0"/>
          </a:p>
        </p:txBody>
      </p:sp>
      <p:grpSp>
        <p:nvGrpSpPr>
          <p:cNvPr id="8" name="Group 7"/>
          <p:cNvGrpSpPr/>
          <p:nvPr/>
        </p:nvGrpSpPr>
        <p:grpSpPr>
          <a:xfrm>
            <a:off x="2545568" y="2983251"/>
            <a:ext cx="3248743" cy="3184284"/>
            <a:chOff x="2797493" y="3029903"/>
            <a:chExt cx="3635375" cy="3313112"/>
          </a:xfrm>
        </p:grpSpPr>
        <p:pic>
          <p:nvPicPr>
            <p:cNvPr id="29700" name="Picture 4"/>
            <p:cNvPicPr>
              <a:picLocks noChangeAspect="1" noChangeArrowheads="1"/>
            </p:cNvPicPr>
            <p:nvPr/>
          </p:nvPicPr>
          <p:blipFill>
            <a:blip r:embed="rId2" cstate="print"/>
            <a:srcRect/>
            <a:stretch>
              <a:fillRect/>
            </a:stretch>
          </p:blipFill>
          <p:spPr bwMode="auto">
            <a:xfrm>
              <a:off x="2797493" y="3029903"/>
              <a:ext cx="3635375" cy="3313112"/>
            </a:xfrm>
            <a:prstGeom prst="rect">
              <a:avLst/>
            </a:prstGeom>
            <a:noFill/>
            <a:ln w="9525">
              <a:noFill/>
              <a:miter lim="800000"/>
              <a:headEnd/>
              <a:tailEnd/>
            </a:ln>
          </p:spPr>
        </p:pic>
        <p:sp>
          <p:nvSpPr>
            <p:cNvPr id="29702" name="Rectangle 8"/>
            <p:cNvSpPr>
              <a:spLocks noChangeArrowheads="1"/>
            </p:cNvSpPr>
            <p:nvPr/>
          </p:nvSpPr>
          <p:spPr bwMode="auto">
            <a:xfrm>
              <a:off x="3586163" y="5681345"/>
              <a:ext cx="806450" cy="158750"/>
            </a:xfrm>
            <a:prstGeom prst="rect">
              <a:avLst/>
            </a:prstGeom>
            <a:noFill/>
            <a:ln w="28575" algn="ctr">
              <a:solidFill>
                <a:srgbClr val="CC3300"/>
              </a:solidFill>
              <a:round/>
              <a:headEnd/>
              <a:tailEnd/>
            </a:ln>
          </p:spPr>
          <p:txBody>
            <a:bodyPr>
              <a:spAutoFit/>
            </a:bodyPr>
            <a:lstStyle/>
            <a:p>
              <a:pPr algn="ctr" eaLnBrk="0" hangingPunct="0"/>
              <a:endParaRPr lang="en-US"/>
            </a:p>
          </p:txBody>
        </p:sp>
        <p:sp>
          <p:nvSpPr>
            <p:cNvPr id="7" name="Rectangle 6"/>
            <p:cNvSpPr/>
            <p:nvPr/>
          </p:nvSpPr>
          <p:spPr bwMode="auto">
            <a:xfrm>
              <a:off x="3566160" y="3820160"/>
              <a:ext cx="772160" cy="27432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0" y="419100"/>
            <a:ext cx="6934200" cy="438150"/>
          </a:xfrm>
        </p:spPr>
        <p:txBody>
          <a:bodyPr/>
          <a:lstStyle/>
          <a:p>
            <a:pPr eaLnBrk="1" hangingPunct="1"/>
            <a:r>
              <a:rPr lang="en-GB" dirty="0" smtClean="0"/>
              <a:t>Run Calculation – FMG Initialization (2)</a:t>
            </a:r>
            <a:endParaRPr lang="en-US" dirty="0" smtClean="0"/>
          </a:p>
        </p:txBody>
      </p:sp>
      <p:sp>
        <p:nvSpPr>
          <p:cNvPr id="31747" name="Rectangle 3"/>
          <p:cNvSpPr>
            <a:spLocks noGrp="1" noChangeArrowheads="1"/>
          </p:cNvSpPr>
          <p:nvPr>
            <p:ph type="body" idx="4294967295"/>
          </p:nvPr>
        </p:nvSpPr>
        <p:spPr>
          <a:xfrm>
            <a:off x="361950" y="935038"/>
            <a:ext cx="8502131" cy="5553075"/>
          </a:xfrm>
        </p:spPr>
        <p:txBody>
          <a:bodyPr/>
          <a:lstStyle/>
          <a:p>
            <a:pPr eaLnBrk="1" hangingPunct="1"/>
            <a:endParaRPr lang="en-GB" sz="1000" dirty="0" smtClean="0"/>
          </a:p>
          <a:p>
            <a:pPr eaLnBrk="1" hangingPunct="1"/>
            <a:r>
              <a:rPr lang="en-GB" dirty="0" smtClean="0"/>
              <a:t>Check the pressure and velocity contours</a:t>
            </a:r>
          </a:p>
          <a:p>
            <a:pPr lvl="1" eaLnBrk="1" hangingPunct="1"/>
            <a:r>
              <a:rPr lang="en-GB" sz="1600" b="0" dirty="0" smtClean="0"/>
              <a:t>Go to ‘Graphics and Animations’ in the LHS tree, choose ‘Contours’ and ‘Set Up’</a:t>
            </a:r>
          </a:p>
          <a:p>
            <a:pPr lvl="2" eaLnBrk="1" hangingPunct="1"/>
            <a:r>
              <a:rPr lang="en-GB" sz="1400" b="0" dirty="0" smtClean="0"/>
              <a:t>Choose Contours of Pressure &gt; Static Pressure, ‘Filled’ Option and select the Surface ‘symmetry’</a:t>
            </a:r>
          </a:p>
          <a:p>
            <a:pPr lvl="3" eaLnBrk="1" hangingPunct="1"/>
            <a:r>
              <a:rPr lang="en-GB" sz="1200" b="0" dirty="0" smtClean="0"/>
              <a:t>Display (If you need to </a:t>
            </a:r>
            <a:r>
              <a:rPr lang="en-GB" sz="1200" b="0" dirty="0" err="1" smtClean="0"/>
              <a:t>autoscale</a:t>
            </a:r>
            <a:r>
              <a:rPr lang="en-GB" sz="1200" b="0" dirty="0" smtClean="0"/>
              <a:t> the display, press &lt;control&gt; A)</a:t>
            </a:r>
          </a:p>
          <a:p>
            <a:pPr lvl="2" eaLnBrk="1" hangingPunct="1"/>
            <a:r>
              <a:rPr lang="en-GB" sz="1400" b="0" dirty="0" smtClean="0"/>
              <a:t>Repeat for Contours of Velocity&gt; Mach Number</a:t>
            </a:r>
            <a:endParaRPr lang="en-US" sz="1400" b="0" dirty="0" smtClean="0"/>
          </a:p>
        </p:txBody>
      </p:sp>
      <p:pic>
        <p:nvPicPr>
          <p:cNvPr id="30" name="Image 29" descr="rae2822_coarse-mach.png"/>
          <p:cNvPicPr>
            <a:picLocks noChangeAspect="1"/>
          </p:cNvPicPr>
          <p:nvPr/>
        </p:nvPicPr>
        <p:blipFill>
          <a:blip r:embed="rId2" cstate="print"/>
          <a:stretch>
            <a:fillRect/>
          </a:stretch>
        </p:blipFill>
        <p:spPr>
          <a:xfrm>
            <a:off x="513183" y="3013787"/>
            <a:ext cx="3657600" cy="2743200"/>
          </a:xfrm>
          <a:prstGeom prst="rect">
            <a:avLst/>
          </a:prstGeom>
        </p:spPr>
      </p:pic>
      <p:pic>
        <p:nvPicPr>
          <p:cNvPr id="31" name="Image 30" descr="rae2822_coarse-pressure.png"/>
          <p:cNvPicPr>
            <a:picLocks noChangeAspect="1"/>
          </p:cNvPicPr>
          <p:nvPr/>
        </p:nvPicPr>
        <p:blipFill>
          <a:blip r:embed="rId3" cstate="print"/>
          <a:stretch>
            <a:fillRect/>
          </a:stretch>
        </p:blipFill>
        <p:spPr>
          <a:xfrm>
            <a:off x="4450702" y="3013788"/>
            <a:ext cx="3657600" cy="2743200"/>
          </a:xfrm>
          <a:prstGeom prst="rect">
            <a:avLst/>
          </a:prstGeom>
        </p:spPr>
      </p:pic>
      <p:sp>
        <p:nvSpPr>
          <p:cNvPr id="32" name="ZoneTexte 31"/>
          <p:cNvSpPr txBox="1"/>
          <p:nvPr/>
        </p:nvSpPr>
        <p:spPr>
          <a:xfrm>
            <a:off x="3135086" y="4665306"/>
            <a:ext cx="858416" cy="523220"/>
          </a:xfrm>
          <a:prstGeom prst="rect">
            <a:avLst/>
          </a:prstGeom>
          <a:noFill/>
        </p:spPr>
        <p:txBody>
          <a:bodyPr wrap="square" rtlCol="0">
            <a:spAutoFit/>
          </a:bodyPr>
          <a:lstStyle/>
          <a:p>
            <a:pPr algn="r"/>
            <a:r>
              <a:rPr lang="en-US" dirty="0" smtClean="0"/>
              <a:t>Ma</a:t>
            </a:r>
            <a:endParaRPr lang="en-US" dirty="0"/>
          </a:p>
        </p:txBody>
      </p:sp>
      <p:sp>
        <p:nvSpPr>
          <p:cNvPr id="33" name="ZoneTexte 32"/>
          <p:cNvSpPr txBox="1"/>
          <p:nvPr/>
        </p:nvSpPr>
        <p:spPr>
          <a:xfrm>
            <a:off x="7122367" y="4743061"/>
            <a:ext cx="858416" cy="523220"/>
          </a:xfrm>
          <a:prstGeom prst="rect">
            <a:avLst/>
          </a:prstGeom>
          <a:noFill/>
        </p:spPr>
        <p:txBody>
          <a:bodyPr wrap="square" rtlCol="0">
            <a:spAutoFit/>
          </a:bodyPr>
          <a:lstStyle/>
          <a:p>
            <a:pPr algn="r"/>
            <a:r>
              <a:rPr lang="en-US" dirty="0" smtClean="0"/>
              <a:t>P</a:t>
            </a:r>
            <a:endParaRPr lang="en-US" dirty="0"/>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0" y="419100"/>
            <a:ext cx="6934200" cy="438150"/>
          </a:xfrm>
        </p:spPr>
        <p:txBody>
          <a:bodyPr/>
          <a:lstStyle/>
          <a:p>
            <a:pPr eaLnBrk="1" hangingPunct="1"/>
            <a:r>
              <a:rPr lang="en-GB" dirty="0" smtClean="0"/>
              <a:t>Run Calculation (1) </a:t>
            </a:r>
            <a:endParaRPr lang="en-US" dirty="0" smtClean="0"/>
          </a:p>
        </p:txBody>
      </p:sp>
      <p:sp>
        <p:nvSpPr>
          <p:cNvPr id="32771" name="Rectangle 3"/>
          <p:cNvSpPr>
            <a:spLocks noGrp="1" noChangeArrowheads="1"/>
          </p:cNvSpPr>
          <p:nvPr>
            <p:ph type="body" idx="4294967295"/>
          </p:nvPr>
        </p:nvSpPr>
        <p:spPr>
          <a:xfrm>
            <a:off x="0" y="935038"/>
            <a:ext cx="4898571" cy="5553075"/>
          </a:xfrm>
        </p:spPr>
        <p:txBody>
          <a:bodyPr/>
          <a:lstStyle/>
          <a:p>
            <a:pPr algn="just" eaLnBrk="1" hangingPunct="1"/>
            <a:endParaRPr lang="en-GB" sz="1000" dirty="0" smtClean="0"/>
          </a:p>
          <a:p>
            <a:pPr algn="just" eaLnBrk="1" hangingPunct="1"/>
            <a:r>
              <a:rPr lang="en-GB" dirty="0" smtClean="0"/>
              <a:t>There are no spurious results from the FMG Initialization, so proceed to the main calculation</a:t>
            </a:r>
          </a:p>
          <a:p>
            <a:pPr algn="just" eaLnBrk="1" hangingPunct="1"/>
            <a:endParaRPr lang="en-GB" sz="1000" dirty="0" smtClean="0"/>
          </a:p>
          <a:p>
            <a:pPr algn="just" eaLnBrk="1" hangingPunct="1"/>
            <a:r>
              <a:rPr lang="en-GB" dirty="0" smtClean="0"/>
              <a:t>Return to ‘Run Calculation’ in the LHS tree</a:t>
            </a:r>
          </a:p>
          <a:p>
            <a:pPr lvl="1" algn="just" eaLnBrk="1" hangingPunct="1"/>
            <a:r>
              <a:rPr lang="en-GB" sz="1600" b="0" dirty="0" smtClean="0"/>
              <a:t>Disable ‘Use FMG Initialization’</a:t>
            </a:r>
          </a:p>
          <a:p>
            <a:pPr lvl="1" algn="just" eaLnBrk="1" hangingPunct="1"/>
            <a:r>
              <a:rPr lang="en-GB" sz="1600" b="0" dirty="0" smtClean="0"/>
              <a:t>Change the number of windows to three</a:t>
            </a:r>
          </a:p>
          <a:p>
            <a:pPr lvl="2" algn="just" eaLnBrk="1" hangingPunct="1"/>
            <a:r>
              <a:rPr lang="en-GB" sz="1400" b="0" dirty="0" smtClean="0"/>
              <a:t>for the residual, drag and lift monitors that we set up earlier (see disposition on next slide)</a:t>
            </a:r>
          </a:p>
          <a:p>
            <a:pPr lvl="1" algn="just" eaLnBrk="1" hangingPunct="1"/>
            <a:r>
              <a:rPr lang="en-GB" sz="1600" b="0" dirty="0" smtClean="0"/>
              <a:t>Request 900 iterations</a:t>
            </a:r>
          </a:p>
          <a:p>
            <a:pPr lvl="1" algn="just" eaLnBrk="1" hangingPunct="1"/>
            <a:r>
              <a:rPr lang="en-GB" sz="1600" b="0" dirty="0" smtClean="0"/>
              <a:t>‘Calculate’</a:t>
            </a:r>
            <a:endParaRPr lang="en-US" sz="1600" b="0" dirty="0" smtClean="0"/>
          </a:p>
        </p:txBody>
      </p:sp>
      <p:pic>
        <p:nvPicPr>
          <p:cNvPr id="49153" name="Picture 1"/>
          <p:cNvPicPr>
            <a:picLocks noChangeAspect="1" noChangeArrowheads="1"/>
          </p:cNvPicPr>
          <p:nvPr/>
        </p:nvPicPr>
        <p:blipFill>
          <a:blip r:embed="rId2" cstate="print"/>
          <a:srcRect/>
          <a:stretch>
            <a:fillRect/>
          </a:stretch>
        </p:blipFill>
        <p:spPr bwMode="auto">
          <a:xfrm>
            <a:off x="5429348" y="1132502"/>
            <a:ext cx="3565362" cy="4732354"/>
          </a:xfrm>
          <a:prstGeom prst="rect">
            <a:avLst/>
          </a:prstGeom>
          <a:noFill/>
          <a:ln w="9525">
            <a:noFill/>
            <a:miter lim="800000"/>
            <a:headEnd/>
            <a:tailEnd/>
          </a:ln>
        </p:spPr>
      </p:pic>
      <p:sp>
        <p:nvSpPr>
          <p:cNvPr id="12" name="Rectangle 11"/>
          <p:cNvSpPr/>
          <p:nvPr/>
        </p:nvSpPr>
        <p:spPr bwMode="auto">
          <a:xfrm>
            <a:off x="7781731" y="3433665"/>
            <a:ext cx="1101012" cy="261257"/>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smtClean="0">
              <a:ln>
                <a:noFill/>
              </a:ln>
              <a:solidFill>
                <a:schemeClr val="tx1"/>
              </a:solidFill>
              <a:effectLst/>
              <a:latin typeface="Arial" charset="0"/>
            </a:endParaRPr>
          </a:p>
        </p:txBody>
      </p:sp>
      <p:sp>
        <p:nvSpPr>
          <p:cNvPr id="13" name="Rectangle 12"/>
          <p:cNvSpPr/>
          <p:nvPr/>
        </p:nvSpPr>
        <p:spPr bwMode="auto">
          <a:xfrm>
            <a:off x="8388220" y="1576873"/>
            <a:ext cx="214604" cy="205274"/>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smtClean="0">
              <a:ln>
                <a:noFill/>
              </a:ln>
              <a:solidFill>
                <a:schemeClr val="tx1"/>
              </a:solidFill>
              <a:effectLst/>
              <a:latin typeface="Arial" charset="0"/>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3"/>
          <p:cNvSpPr>
            <a:spLocks noGrp="1" noChangeArrowheads="1"/>
          </p:cNvSpPr>
          <p:nvPr>
            <p:ph type="title"/>
          </p:nvPr>
        </p:nvSpPr>
        <p:spPr/>
        <p:txBody>
          <a:bodyPr/>
          <a:lstStyle/>
          <a:p>
            <a:pPr eaLnBrk="1" hangingPunct="1"/>
            <a:r>
              <a:rPr lang="en-GB" dirty="0" smtClean="0"/>
              <a:t>Run Calculation (2)</a:t>
            </a:r>
            <a:endParaRPr lang="en-US" dirty="0" smtClean="0"/>
          </a:p>
        </p:txBody>
      </p:sp>
      <p:sp>
        <p:nvSpPr>
          <p:cNvPr id="33795" name="Rectangle 14"/>
          <p:cNvSpPr>
            <a:spLocks noGrp="1" noChangeArrowheads="1"/>
          </p:cNvSpPr>
          <p:nvPr>
            <p:ph idx="1"/>
          </p:nvPr>
        </p:nvSpPr>
        <p:spPr>
          <a:xfrm>
            <a:off x="180974" y="935038"/>
            <a:ext cx="8851059" cy="2573272"/>
          </a:xfrm>
        </p:spPr>
        <p:txBody>
          <a:bodyPr/>
          <a:lstStyle/>
          <a:p>
            <a:pPr eaLnBrk="1" hangingPunct="1">
              <a:lnSpc>
                <a:spcPct val="90000"/>
              </a:lnSpc>
            </a:pPr>
            <a:endParaRPr lang="en-GB" sz="1000" dirty="0" smtClean="0"/>
          </a:p>
          <a:p>
            <a:pPr eaLnBrk="1" hangingPunct="1">
              <a:lnSpc>
                <a:spcPct val="90000"/>
              </a:lnSpc>
            </a:pPr>
            <a:r>
              <a:rPr lang="en-GB" dirty="0" smtClean="0"/>
              <a:t>After 900 iterations the calculation has fully converged</a:t>
            </a:r>
          </a:p>
          <a:p>
            <a:pPr eaLnBrk="1" hangingPunct="1">
              <a:lnSpc>
                <a:spcPct val="90000"/>
              </a:lnSpc>
            </a:pPr>
            <a:endParaRPr lang="en-GB" sz="500" dirty="0" smtClean="0"/>
          </a:p>
          <a:p>
            <a:pPr lvl="1" eaLnBrk="1" hangingPunct="1">
              <a:lnSpc>
                <a:spcPct val="90000"/>
              </a:lnSpc>
            </a:pPr>
            <a:r>
              <a:rPr lang="en-GB" sz="1600" b="0" dirty="0" smtClean="0"/>
              <a:t>Note that the CFL has been updated during the calculation in a number of stages, ramping up from 5 to 200 (as requested by default). This can be seen in the CFL window and the effect on the residuals is also evident</a:t>
            </a:r>
          </a:p>
          <a:p>
            <a:pPr lvl="1" eaLnBrk="1" hangingPunct="1">
              <a:lnSpc>
                <a:spcPct val="90000"/>
              </a:lnSpc>
            </a:pPr>
            <a:endParaRPr lang="en-GB" sz="500" b="0" dirty="0" smtClean="0"/>
          </a:p>
          <a:p>
            <a:pPr lvl="1" eaLnBrk="1" hangingPunct="1">
              <a:lnSpc>
                <a:spcPct val="90000"/>
              </a:lnSpc>
            </a:pPr>
            <a:r>
              <a:rPr lang="en-GB" sz="1600" b="0" dirty="0" smtClean="0"/>
              <a:t>By the end of the calculation the residuals have converged well and are no longer changing. The drag and lift monitors are also stable</a:t>
            </a:r>
          </a:p>
          <a:p>
            <a:pPr lvl="2" eaLnBrk="1" hangingPunct="1">
              <a:lnSpc>
                <a:spcPct val="90000"/>
              </a:lnSpc>
            </a:pPr>
            <a:r>
              <a:rPr lang="en-US" sz="1400" b="0" dirty="0" smtClean="0"/>
              <a:t>It can be observed that the Residuals of Y-velocity is quite high. This is not a problem because this simulation is a 2d analysis on the XZ plane, on Y-direction there is only one layer of cells and the flow field in that direction is not of interest !</a:t>
            </a:r>
          </a:p>
        </p:txBody>
      </p:sp>
      <p:pic>
        <p:nvPicPr>
          <p:cNvPr id="48129" name="Picture 1"/>
          <p:cNvPicPr>
            <a:picLocks noChangeAspect="1" noChangeArrowheads="1"/>
          </p:cNvPicPr>
          <p:nvPr/>
        </p:nvPicPr>
        <p:blipFill>
          <a:blip r:embed="rId2" cstate="print"/>
          <a:srcRect/>
          <a:stretch>
            <a:fillRect/>
          </a:stretch>
        </p:blipFill>
        <p:spPr bwMode="auto">
          <a:xfrm>
            <a:off x="2230018" y="3461656"/>
            <a:ext cx="5061857" cy="2939143"/>
          </a:xfrm>
          <a:prstGeom prst="rect">
            <a:avLst/>
          </a:prstGeom>
          <a:noFill/>
          <a:ln w="9525">
            <a:noFill/>
            <a:miter lim="800000"/>
            <a:headEnd/>
            <a:tailEnd/>
          </a:ln>
        </p:spPr>
      </p:pic>
      <p:sp>
        <p:nvSpPr>
          <p:cNvPr id="8" name="Rectangle 7"/>
          <p:cNvSpPr/>
          <p:nvPr/>
        </p:nvSpPr>
        <p:spPr bwMode="auto">
          <a:xfrm>
            <a:off x="3172408" y="4805265"/>
            <a:ext cx="485192" cy="14929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smtClean="0">
              <a:ln>
                <a:noFill/>
              </a:ln>
              <a:solidFill>
                <a:schemeClr val="tx1"/>
              </a:solidFill>
              <a:effectLst/>
              <a:latin typeface="Arial" charset="0"/>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title"/>
          </p:nvPr>
        </p:nvSpPr>
        <p:spPr/>
        <p:txBody>
          <a:bodyPr/>
          <a:lstStyle/>
          <a:p>
            <a:pPr eaLnBrk="1" hangingPunct="1"/>
            <a:r>
              <a:rPr lang="en-GB" dirty="0" smtClean="0"/>
              <a:t>Save the </a:t>
            </a:r>
            <a:r>
              <a:rPr lang="en-GB" dirty="0" err="1" smtClean="0"/>
              <a:t>Case&amp;Data</a:t>
            </a:r>
            <a:r>
              <a:rPr lang="en-GB" dirty="0" smtClean="0"/>
              <a:t> Files</a:t>
            </a:r>
            <a:endParaRPr lang="en-US" dirty="0" smtClean="0"/>
          </a:p>
        </p:txBody>
      </p:sp>
      <p:sp>
        <p:nvSpPr>
          <p:cNvPr id="28675" name="Rectangle 8"/>
          <p:cNvSpPr>
            <a:spLocks noGrp="1" noChangeArrowheads="1"/>
          </p:cNvSpPr>
          <p:nvPr>
            <p:ph idx="1"/>
          </p:nvPr>
        </p:nvSpPr>
        <p:spPr>
          <a:xfrm>
            <a:off x="180975" y="935038"/>
            <a:ext cx="5165466" cy="5553075"/>
          </a:xfrm>
        </p:spPr>
        <p:txBody>
          <a:bodyPr>
            <a:noAutofit/>
          </a:bodyPr>
          <a:lstStyle/>
          <a:p>
            <a:pPr eaLnBrk="1" hangingPunct="1">
              <a:buNone/>
            </a:pPr>
            <a:endParaRPr lang="en-US" sz="1000" dirty="0" smtClean="0"/>
          </a:p>
          <a:p>
            <a:pPr eaLnBrk="1" hangingPunct="1"/>
            <a:r>
              <a:rPr lang="en-US" dirty="0" smtClean="0"/>
              <a:t>Save the </a:t>
            </a:r>
            <a:r>
              <a:rPr lang="en-US" dirty="0" err="1" smtClean="0"/>
              <a:t>Case&amp;Data</a:t>
            </a:r>
            <a:r>
              <a:rPr lang="en-US" dirty="0" smtClean="0"/>
              <a:t> files</a:t>
            </a:r>
          </a:p>
          <a:p>
            <a:pPr eaLnBrk="1" hangingPunct="1"/>
            <a:endParaRPr lang="en-US" sz="500" dirty="0" smtClean="0"/>
          </a:p>
          <a:p>
            <a:pPr lvl="1" eaLnBrk="1" hangingPunct="1"/>
            <a:r>
              <a:rPr lang="en-US" sz="1600" b="0" dirty="0" smtClean="0"/>
              <a:t>File &gt; Write </a:t>
            </a:r>
            <a:r>
              <a:rPr lang="en-US" sz="1600" b="0" dirty="0" err="1" smtClean="0"/>
              <a:t>Case&amp;Data</a:t>
            </a:r>
            <a:r>
              <a:rPr lang="en-US" sz="1600" b="0" dirty="0" smtClean="0"/>
              <a:t>..</a:t>
            </a:r>
          </a:p>
          <a:p>
            <a:pPr lvl="2" eaLnBrk="1" hangingPunct="1"/>
            <a:r>
              <a:rPr lang="en-US" sz="1400" b="0" dirty="0" smtClean="0"/>
              <a:t>You can write case and data files with extension .</a:t>
            </a:r>
            <a:r>
              <a:rPr lang="en-US" sz="1400" b="0" dirty="0" err="1" smtClean="0"/>
              <a:t>gz</a:t>
            </a:r>
            <a:r>
              <a:rPr lang="en-US" sz="1400" b="0" dirty="0" smtClean="0"/>
              <a:t> – the files will be compressed automatically</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1"/>
          <p:cNvSpPr>
            <a:spLocks noGrp="1" noChangeArrowheads="1"/>
          </p:cNvSpPr>
          <p:nvPr>
            <p:ph type="title"/>
          </p:nvPr>
        </p:nvSpPr>
        <p:spPr/>
        <p:txBody>
          <a:bodyPr/>
          <a:lstStyle/>
          <a:p>
            <a:pPr eaLnBrk="1" hangingPunct="1"/>
            <a:r>
              <a:rPr lang="en-GB" dirty="0" smtClean="0"/>
              <a:t>Post Processing – Data Export</a:t>
            </a:r>
            <a:endParaRPr lang="en-US" dirty="0" smtClean="0"/>
          </a:p>
        </p:txBody>
      </p:sp>
      <p:sp>
        <p:nvSpPr>
          <p:cNvPr id="41987" name="Rectangle 12"/>
          <p:cNvSpPr>
            <a:spLocks noGrp="1" noChangeArrowheads="1"/>
          </p:cNvSpPr>
          <p:nvPr>
            <p:ph idx="1"/>
          </p:nvPr>
        </p:nvSpPr>
        <p:spPr>
          <a:xfrm>
            <a:off x="180975" y="935038"/>
            <a:ext cx="4590722" cy="5372456"/>
          </a:xfrm>
        </p:spPr>
        <p:txBody>
          <a:bodyPr/>
          <a:lstStyle/>
          <a:p>
            <a:pPr eaLnBrk="1" hangingPunct="1"/>
            <a:endParaRPr lang="en-GB" sz="1000" dirty="0" smtClean="0"/>
          </a:p>
          <a:p>
            <a:pPr eaLnBrk="1" hangingPunct="1"/>
            <a:r>
              <a:rPr lang="en-GB" sz="1800" dirty="0" smtClean="0">
                <a:solidFill>
                  <a:schemeClr val="accent6"/>
                </a:solidFill>
              </a:rPr>
              <a:t>Additional post-processing will now be performed in CFD Post</a:t>
            </a:r>
          </a:p>
          <a:p>
            <a:pPr eaLnBrk="1" hangingPunct="1"/>
            <a:endParaRPr lang="en-GB" sz="1800" dirty="0" smtClean="0"/>
          </a:p>
          <a:p>
            <a:pPr eaLnBrk="1" hangingPunct="1"/>
            <a:r>
              <a:rPr lang="en-GB" sz="1800" dirty="0" smtClean="0"/>
              <a:t>Export the data in CFD-Post compatible Format</a:t>
            </a:r>
          </a:p>
          <a:p>
            <a:pPr eaLnBrk="1" hangingPunct="1"/>
            <a:endParaRPr lang="en-GB" sz="500" dirty="0" smtClean="0"/>
          </a:p>
          <a:p>
            <a:pPr lvl="1" eaLnBrk="1" hangingPunct="1"/>
            <a:r>
              <a:rPr lang="en-GB" sz="1600" b="0" dirty="0" smtClean="0"/>
              <a:t>You can specify which values you will have for Post-processing</a:t>
            </a:r>
          </a:p>
          <a:p>
            <a:pPr lvl="2" eaLnBrk="1" hangingPunct="1"/>
            <a:r>
              <a:rPr lang="en-GB" b="0" dirty="0" smtClean="0"/>
              <a:t>Velocity Magnitude and Components</a:t>
            </a:r>
          </a:p>
          <a:p>
            <a:pPr lvl="2" eaLnBrk="1" hangingPunct="1"/>
            <a:r>
              <a:rPr lang="en-GB" b="0" dirty="0" smtClean="0"/>
              <a:t>Mach Number</a:t>
            </a:r>
          </a:p>
          <a:p>
            <a:pPr lvl="2" eaLnBrk="1" hangingPunct="1"/>
            <a:r>
              <a:rPr lang="en-GB" b="0" dirty="0" smtClean="0"/>
              <a:t>Pressure</a:t>
            </a:r>
          </a:p>
          <a:p>
            <a:pPr lvl="2" eaLnBrk="1" hangingPunct="1"/>
            <a:endParaRPr lang="en-GB" sz="500" b="0" dirty="0" smtClean="0"/>
          </a:p>
          <a:p>
            <a:pPr marL="514350" lvl="2" eaLnBrk="1" hangingPunct="1"/>
            <a:r>
              <a:rPr lang="en-GB" b="0" dirty="0" smtClean="0">
                <a:solidFill>
                  <a:schemeClr val="accent6"/>
                </a:solidFill>
              </a:rPr>
              <a:t>Click on ‘Open CFD-Post’ to automatically start a CFD-Post session</a:t>
            </a:r>
            <a:endParaRPr lang="en-GB" sz="1800" dirty="0" smtClean="0">
              <a:solidFill>
                <a:schemeClr val="accent6"/>
              </a:solidFill>
            </a:endParaRPr>
          </a:p>
          <a:p>
            <a:pPr eaLnBrk="1" hangingPunct="1"/>
            <a:endParaRPr lang="en-GB" sz="1800" dirty="0" smtClean="0"/>
          </a:p>
          <a:p>
            <a:pPr eaLnBrk="1" hangingPunct="1"/>
            <a:endParaRPr lang="en-GB" sz="1800" dirty="0" smtClean="0"/>
          </a:p>
          <a:p>
            <a:pPr marL="171450" lvl="2" eaLnBrk="1" hangingPunct="1"/>
            <a:r>
              <a:rPr lang="en-GB" sz="2000" dirty="0" smtClean="0"/>
              <a:t>Close FLUENT (File &gt; Exit)</a:t>
            </a:r>
          </a:p>
          <a:p>
            <a:pPr eaLnBrk="1" hangingPunct="1"/>
            <a:endParaRPr lang="en-GB" sz="1800" dirty="0" smtClean="0"/>
          </a:p>
          <a:p>
            <a:pPr lvl="2" eaLnBrk="1" hangingPunct="1"/>
            <a:endParaRPr lang="en-GB" b="0" dirty="0" smtClean="0"/>
          </a:p>
          <a:p>
            <a:pPr lvl="2" eaLnBrk="1" hangingPunct="1"/>
            <a:endParaRPr lang="en-GB" dirty="0" smtClean="0"/>
          </a:p>
        </p:txBody>
      </p:sp>
      <p:grpSp>
        <p:nvGrpSpPr>
          <p:cNvPr id="11" name="Group 10"/>
          <p:cNvGrpSpPr/>
          <p:nvPr/>
        </p:nvGrpSpPr>
        <p:grpSpPr>
          <a:xfrm>
            <a:off x="4666593" y="1282261"/>
            <a:ext cx="4351283" cy="4776487"/>
            <a:chOff x="4666593" y="1282261"/>
            <a:chExt cx="4351283" cy="4776487"/>
          </a:xfrm>
        </p:grpSpPr>
        <p:pic>
          <p:nvPicPr>
            <p:cNvPr id="59394" name="Picture 2"/>
            <p:cNvPicPr>
              <a:picLocks noChangeAspect="1" noChangeArrowheads="1"/>
            </p:cNvPicPr>
            <p:nvPr/>
          </p:nvPicPr>
          <p:blipFill>
            <a:blip r:embed="rId2" cstate="print"/>
            <a:srcRect l="3965" r="47069" b="31824"/>
            <a:stretch>
              <a:fillRect/>
            </a:stretch>
          </p:blipFill>
          <p:spPr bwMode="auto">
            <a:xfrm>
              <a:off x="4729655" y="1282261"/>
              <a:ext cx="4288221" cy="4776487"/>
            </a:xfrm>
            <a:prstGeom prst="rect">
              <a:avLst/>
            </a:prstGeom>
            <a:noFill/>
            <a:ln w="9525">
              <a:noFill/>
              <a:miter lim="800000"/>
              <a:headEnd/>
              <a:tailEnd/>
            </a:ln>
          </p:spPr>
        </p:pic>
        <p:sp>
          <p:nvSpPr>
            <p:cNvPr id="9" name="Rectangle 8"/>
            <p:cNvSpPr/>
            <p:nvPr/>
          </p:nvSpPr>
          <p:spPr bwMode="auto">
            <a:xfrm>
              <a:off x="4666593" y="2070538"/>
              <a:ext cx="1198179" cy="157655"/>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pic>
        <p:nvPicPr>
          <p:cNvPr id="47105" name="Picture 1"/>
          <p:cNvPicPr>
            <a:picLocks noChangeAspect="1" noChangeArrowheads="1"/>
          </p:cNvPicPr>
          <p:nvPr/>
        </p:nvPicPr>
        <p:blipFill>
          <a:blip r:embed="rId3" cstate="print"/>
          <a:srcRect/>
          <a:stretch>
            <a:fillRect/>
          </a:stretch>
        </p:blipFill>
        <p:spPr bwMode="auto">
          <a:xfrm>
            <a:off x="6597520" y="2027270"/>
            <a:ext cx="1939804" cy="3477791"/>
          </a:xfrm>
          <a:prstGeom prst="rect">
            <a:avLst/>
          </a:prstGeom>
          <a:noFill/>
          <a:ln w="9525">
            <a:noFill/>
            <a:miter lim="800000"/>
            <a:headEnd/>
            <a:tailEnd/>
          </a:ln>
        </p:spPr>
      </p:pic>
      <p:sp>
        <p:nvSpPr>
          <p:cNvPr id="12" name="Rectangle 11"/>
          <p:cNvSpPr/>
          <p:nvPr/>
        </p:nvSpPr>
        <p:spPr bwMode="auto">
          <a:xfrm>
            <a:off x="6621517" y="2274845"/>
            <a:ext cx="1878671" cy="1709325"/>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sp>
        <p:nvSpPr>
          <p:cNvPr id="13" name="Rectangle 12"/>
          <p:cNvSpPr/>
          <p:nvPr/>
        </p:nvSpPr>
        <p:spPr bwMode="auto">
          <a:xfrm>
            <a:off x="7100596" y="4907902"/>
            <a:ext cx="727788" cy="121298"/>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smtClean="0">
              <a:ln>
                <a:noFill/>
              </a:ln>
              <a:solidFill>
                <a:schemeClr val="tx1"/>
              </a:solidFill>
              <a:effectLst/>
              <a:latin typeface="Arial" charset="0"/>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GB" dirty="0" smtClean="0"/>
              <a:t>CFD-Post</a:t>
            </a:r>
          </a:p>
        </p:txBody>
      </p:sp>
      <p:sp>
        <p:nvSpPr>
          <p:cNvPr id="24579" name="Content Placeholder 2"/>
          <p:cNvSpPr>
            <a:spLocks noGrp="1"/>
          </p:cNvSpPr>
          <p:nvPr>
            <p:ph idx="1"/>
          </p:nvPr>
        </p:nvSpPr>
        <p:spPr>
          <a:xfrm>
            <a:off x="180975" y="935038"/>
            <a:ext cx="8776413" cy="5553075"/>
          </a:xfrm>
        </p:spPr>
        <p:txBody>
          <a:bodyPr/>
          <a:lstStyle/>
          <a:p>
            <a:pPr marL="381000" indent="-381000" eaLnBrk="1" hangingPunct="1">
              <a:buFontTx/>
              <a:buNone/>
            </a:pPr>
            <a:r>
              <a:rPr lang="en-GB" sz="1000" b="0" dirty="0" smtClean="0"/>
              <a:t>	</a:t>
            </a:r>
          </a:p>
          <a:p>
            <a:pPr marL="381000" indent="-381000" eaLnBrk="1" hangingPunct="1">
              <a:buFontTx/>
              <a:buNone/>
            </a:pPr>
            <a:r>
              <a:rPr lang="en-GB" dirty="0" smtClean="0"/>
              <a:t>Define the Post-processing view</a:t>
            </a:r>
          </a:p>
          <a:p>
            <a:pPr marL="381000" indent="-381000" eaLnBrk="1" hangingPunct="1">
              <a:buFontTx/>
              <a:buNone/>
            </a:pPr>
            <a:endParaRPr lang="en-GB" sz="500" b="0" dirty="0" smtClean="0"/>
          </a:p>
          <a:p>
            <a:pPr marL="381000" indent="-381000" eaLnBrk="1" hangingPunct="1">
              <a:buFontTx/>
              <a:buAutoNum type="arabicPeriod"/>
            </a:pPr>
            <a:r>
              <a:rPr lang="en-GB" sz="1600" b="0" dirty="0" smtClean="0"/>
              <a:t>Right-click on a blank area of the screen and select </a:t>
            </a:r>
            <a:r>
              <a:rPr lang="en-GB" sz="1600" b="0" i="1" dirty="0" smtClean="0"/>
              <a:t>Predefined Camera&gt;View Towards –Y</a:t>
            </a:r>
          </a:p>
          <a:p>
            <a:pPr marL="381000" indent="-381000" eaLnBrk="1" hangingPunct="1">
              <a:buFontTx/>
              <a:buAutoNum type="arabicPeriod"/>
            </a:pPr>
            <a:endParaRPr lang="en-GB" sz="500" b="0" dirty="0" smtClean="0"/>
          </a:p>
          <a:p>
            <a:pPr marL="381000" indent="-381000" eaLnBrk="1" hangingPunct="1">
              <a:buFontTx/>
              <a:buAutoNum type="arabicPeriod"/>
            </a:pPr>
            <a:r>
              <a:rPr lang="en-GB" sz="1600" b="0" dirty="0" smtClean="0"/>
              <a:t>Use the box zoom so the viewer displays the region around the airfoil</a:t>
            </a:r>
          </a:p>
        </p:txBody>
      </p:sp>
      <p:pic>
        <p:nvPicPr>
          <p:cNvPr id="24580" name="Picture 5"/>
          <p:cNvPicPr>
            <a:picLocks noChangeAspect="1" noChangeArrowheads="1"/>
          </p:cNvPicPr>
          <p:nvPr/>
        </p:nvPicPr>
        <p:blipFill>
          <a:blip r:embed="rId2" cstate="print">
            <a:clrChange>
              <a:clrFrom>
                <a:srgbClr val="000000"/>
              </a:clrFrom>
              <a:clrTo>
                <a:srgbClr val="000000">
                  <a:alpha val="0"/>
                </a:srgbClr>
              </a:clrTo>
            </a:clrChange>
          </a:blip>
          <a:srcRect l="69940" t="49411" r="9711" b="22598"/>
          <a:stretch>
            <a:fillRect/>
          </a:stretch>
        </p:blipFill>
        <p:spPr bwMode="auto">
          <a:xfrm>
            <a:off x="2893916" y="2417244"/>
            <a:ext cx="2438400" cy="2517775"/>
          </a:xfrm>
          <a:prstGeom prst="rect">
            <a:avLst/>
          </a:prstGeom>
          <a:noFill/>
          <a:ln w="9525">
            <a:noFill/>
            <a:miter lim="800000"/>
            <a:headEnd/>
            <a:tailEnd/>
          </a:ln>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GB" dirty="0" smtClean="0"/>
              <a:t>CDF-Post</a:t>
            </a:r>
          </a:p>
        </p:txBody>
      </p:sp>
      <p:sp>
        <p:nvSpPr>
          <p:cNvPr id="25603" name="Content Placeholder 2"/>
          <p:cNvSpPr>
            <a:spLocks noGrp="1"/>
          </p:cNvSpPr>
          <p:nvPr>
            <p:ph idx="1"/>
          </p:nvPr>
        </p:nvSpPr>
        <p:spPr>
          <a:xfrm>
            <a:off x="180975" y="935038"/>
            <a:ext cx="8767082" cy="5553075"/>
          </a:xfrm>
        </p:spPr>
        <p:txBody>
          <a:bodyPr/>
          <a:lstStyle/>
          <a:p>
            <a:pPr marL="381000" indent="-381000" eaLnBrk="1" hangingPunct="1">
              <a:buFontTx/>
              <a:buNone/>
            </a:pPr>
            <a:r>
              <a:rPr lang="en-GB" sz="1800" b="0" dirty="0" smtClean="0"/>
              <a:t>	</a:t>
            </a:r>
          </a:p>
          <a:p>
            <a:pPr marL="381000" indent="-381000" eaLnBrk="1" hangingPunct="1">
              <a:buFontTx/>
              <a:buNone/>
            </a:pPr>
            <a:r>
              <a:rPr lang="en-GB" sz="1800" b="0" dirty="0" smtClean="0"/>
              <a:t>	</a:t>
            </a:r>
            <a:r>
              <a:rPr lang="en-GB" sz="1800" dirty="0" smtClean="0"/>
              <a:t>When  looking at the flow around an airfoil, plots of several variables can be of interest such as velocity, pressure, and Mach number</a:t>
            </a:r>
          </a:p>
        </p:txBody>
      </p:sp>
      <p:pic>
        <p:nvPicPr>
          <p:cNvPr id="44033" name="Picture 1"/>
          <p:cNvPicPr>
            <a:picLocks noChangeAspect="1" noChangeArrowheads="1"/>
          </p:cNvPicPr>
          <p:nvPr/>
        </p:nvPicPr>
        <p:blipFill>
          <a:blip r:embed="rId2" cstate="print"/>
          <a:srcRect/>
          <a:stretch>
            <a:fillRect/>
          </a:stretch>
        </p:blipFill>
        <p:spPr bwMode="auto">
          <a:xfrm>
            <a:off x="3454418" y="2118049"/>
            <a:ext cx="5512301" cy="3685592"/>
          </a:xfrm>
          <a:prstGeom prst="rect">
            <a:avLst/>
          </a:prstGeom>
          <a:noFill/>
          <a:ln w="9525">
            <a:noFill/>
            <a:miter lim="800000"/>
            <a:headEnd/>
            <a:tailEnd/>
          </a:ln>
        </p:spPr>
      </p:pic>
      <p:sp>
        <p:nvSpPr>
          <p:cNvPr id="6" name="Content Placeholder 2"/>
          <p:cNvSpPr txBox="1">
            <a:spLocks/>
          </p:cNvSpPr>
          <p:nvPr/>
        </p:nvSpPr>
        <p:spPr bwMode="auto">
          <a:xfrm>
            <a:off x="305383" y="1846101"/>
            <a:ext cx="3137613" cy="4078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81000" marR="0" lvl="0" indent="-381000" algn="l" defTabSz="914400" rtl="0" eaLnBrk="1" fontAlgn="base" latinLnBrk="0" hangingPunct="1">
              <a:lnSpc>
                <a:spcPct val="100000"/>
              </a:lnSpc>
              <a:spcBef>
                <a:spcPct val="20000"/>
              </a:spcBef>
              <a:spcAft>
                <a:spcPct val="0"/>
              </a:spcAft>
              <a:buClr>
                <a:srgbClr val="16707C"/>
              </a:buClr>
              <a:buSzTx/>
              <a:buFontTx/>
              <a:buNone/>
              <a:tabLst/>
              <a:defRPr/>
            </a:pPr>
            <a:r>
              <a:rPr kumimoji="0" lang="en-GB" sz="1800" b="0" i="0" u="none" strike="noStrike" kern="0" cap="none" spc="0" normalizeH="0" baseline="0" noProof="0" dirty="0" smtClean="0">
                <a:ln>
                  <a:noFill/>
                </a:ln>
                <a:solidFill>
                  <a:schemeClr val="tx1"/>
                </a:solidFill>
                <a:effectLst/>
                <a:uLnTx/>
                <a:uFillTx/>
                <a:latin typeface="+mn-lt"/>
                <a:ea typeface="+mn-ea"/>
                <a:cs typeface="+mn-cs"/>
              </a:rPr>
              <a:t>	</a:t>
            </a:r>
          </a:p>
          <a:p>
            <a:pPr marL="381000" marR="0" lvl="0" indent="-381000" algn="l" defTabSz="914400" rtl="0" eaLnBrk="1" fontAlgn="base" latinLnBrk="0" hangingPunct="1">
              <a:lnSpc>
                <a:spcPct val="100000"/>
              </a:lnSpc>
              <a:spcBef>
                <a:spcPct val="20000"/>
              </a:spcBef>
              <a:spcAft>
                <a:spcPct val="0"/>
              </a:spcAft>
              <a:buClr>
                <a:srgbClr val="16707C"/>
              </a:buClr>
              <a:buSzTx/>
              <a:buFontTx/>
              <a:buAutoNum type="arabicPeriod"/>
              <a:tabLst/>
              <a:defRPr/>
            </a:pPr>
            <a:r>
              <a:rPr kumimoji="0" lang="en-GB" sz="1600" b="0" i="0" u="none" strike="noStrike" kern="0" cap="none" spc="0" normalizeH="0" baseline="0" noProof="0" dirty="0" smtClean="0">
                <a:ln>
                  <a:noFill/>
                </a:ln>
                <a:solidFill>
                  <a:schemeClr val="tx1"/>
                </a:solidFill>
                <a:effectLst/>
                <a:uLnTx/>
                <a:uFillTx/>
                <a:latin typeface="+mn-lt"/>
                <a:ea typeface="+mn-ea"/>
                <a:cs typeface="+mn-cs"/>
              </a:rPr>
              <a:t>In the tree turn on the visibility of </a:t>
            </a:r>
            <a:r>
              <a:rPr kumimoji="0" lang="en-GB" sz="1600" b="0" i="1" u="none" strike="noStrike" kern="0" cap="none" spc="0" normalizeH="0" baseline="0" noProof="0" dirty="0" smtClean="0">
                <a:ln>
                  <a:noFill/>
                </a:ln>
                <a:solidFill>
                  <a:schemeClr val="tx1"/>
                </a:solidFill>
                <a:effectLst/>
                <a:uLnTx/>
                <a:uFillTx/>
                <a:latin typeface="+mn-lt"/>
                <a:ea typeface="+mn-ea"/>
                <a:cs typeface="+mn-cs"/>
              </a:rPr>
              <a:t>symmetry</a:t>
            </a:r>
            <a:r>
              <a:rPr kumimoji="0" lang="en-GB" sz="1600" b="0" i="0" u="none" strike="noStrike" kern="0" cap="none" spc="0" normalizeH="0" baseline="0" noProof="0" dirty="0" smtClean="0">
                <a:ln>
                  <a:noFill/>
                </a:ln>
                <a:solidFill>
                  <a:schemeClr val="tx1"/>
                </a:solidFill>
                <a:effectLst/>
                <a:uLnTx/>
                <a:uFillTx/>
                <a:latin typeface="+mn-lt"/>
                <a:ea typeface="+mn-ea"/>
                <a:cs typeface="+mn-cs"/>
              </a:rPr>
              <a:t> by clicking in the tick box the double click on it to bring up the details section</a:t>
            </a:r>
          </a:p>
          <a:p>
            <a:pPr marL="381000" marR="0" lvl="0" indent="-381000" algn="l" defTabSz="914400" rtl="0" eaLnBrk="1" fontAlgn="base" latinLnBrk="0" hangingPunct="1">
              <a:lnSpc>
                <a:spcPct val="100000"/>
              </a:lnSpc>
              <a:spcBef>
                <a:spcPct val="20000"/>
              </a:spcBef>
              <a:spcAft>
                <a:spcPct val="0"/>
              </a:spcAft>
              <a:buClr>
                <a:srgbClr val="16707C"/>
              </a:buClr>
              <a:buSzTx/>
              <a:buFontTx/>
              <a:buAutoNum type="arabicPeriod"/>
              <a:tabLst/>
              <a:defRPr/>
            </a:pPr>
            <a:endParaRPr kumimoji="0" lang="en-GB" sz="500" b="0" i="0" u="none" strike="noStrike" kern="0" cap="none" spc="0" normalizeH="0" baseline="0" noProof="0" dirty="0" smtClean="0">
              <a:ln>
                <a:noFill/>
              </a:ln>
              <a:solidFill>
                <a:schemeClr val="tx1"/>
              </a:solidFill>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rgbClr val="16707C"/>
              </a:buClr>
              <a:buSzTx/>
              <a:buFontTx/>
              <a:buAutoNum type="arabicPeriod"/>
              <a:tabLst/>
              <a:defRPr/>
            </a:pPr>
            <a:r>
              <a:rPr kumimoji="0" lang="en-GB" sz="1600" b="0" i="0" u="none" strike="noStrike" kern="0" cap="none" spc="0" normalizeH="0" baseline="0" noProof="0" dirty="0" smtClean="0">
                <a:ln>
                  <a:noFill/>
                </a:ln>
                <a:solidFill>
                  <a:schemeClr val="tx1"/>
                </a:solidFill>
                <a:effectLst/>
                <a:uLnTx/>
                <a:uFillTx/>
                <a:latin typeface="+mn-lt"/>
                <a:ea typeface="+mn-ea"/>
                <a:cs typeface="+mn-cs"/>
              </a:rPr>
              <a:t>Under the </a:t>
            </a:r>
            <a:r>
              <a:rPr kumimoji="0" lang="en-GB" sz="1600" b="0" i="1" u="none" strike="noStrike" kern="0" cap="none" spc="0" normalizeH="0" baseline="0" noProof="0" dirty="0" smtClean="0">
                <a:ln>
                  <a:noFill/>
                </a:ln>
                <a:solidFill>
                  <a:schemeClr val="tx1"/>
                </a:solidFill>
                <a:effectLst/>
                <a:uLnTx/>
                <a:uFillTx/>
                <a:latin typeface="+mn-lt"/>
                <a:ea typeface="+mn-ea"/>
                <a:cs typeface="+mn-cs"/>
              </a:rPr>
              <a:t>Colour</a:t>
            </a:r>
            <a:r>
              <a:rPr kumimoji="0" lang="en-GB" sz="1600" b="0" i="0" u="none" strike="noStrike" kern="0" cap="none" spc="0" normalizeH="0" baseline="0" noProof="0" dirty="0" smtClean="0">
                <a:ln>
                  <a:noFill/>
                </a:ln>
                <a:solidFill>
                  <a:schemeClr val="tx1"/>
                </a:solidFill>
                <a:effectLst/>
                <a:uLnTx/>
                <a:uFillTx/>
                <a:latin typeface="+mn-lt"/>
                <a:ea typeface="+mn-ea"/>
                <a:cs typeface="+mn-cs"/>
              </a:rPr>
              <a:t> tab change the mode to </a:t>
            </a:r>
            <a:r>
              <a:rPr kumimoji="0" lang="en-GB" sz="1600" b="0" i="1" u="none" strike="noStrike" kern="0" cap="none" spc="0" normalizeH="0" baseline="0" noProof="0" dirty="0" smtClean="0">
                <a:ln>
                  <a:noFill/>
                </a:ln>
                <a:solidFill>
                  <a:schemeClr val="tx1"/>
                </a:solidFill>
                <a:effectLst/>
                <a:uLnTx/>
                <a:uFillTx/>
                <a:latin typeface="+mn-lt"/>
                <a:ea typeface="+mn-ea"/>
                <a:cs typeface="+mn-cs"/>
              </a:rPr>
              <a:t>Variable</a:t>
            </a:r>
            <a:r>
              <a:rPr kumimoji="0" lang="en-GB" sz="1600" b="0" i="0" u="none" strike="noStrike" kern="0" cap="none" spc="0" normalizeH="0" baseline="0" noProof="0" dirty="0" smtClean="0">
                <a:ln>
                  <a:noFill/>
                </a:ln>
                <a:solidFill>
                  <a:schemeClr val="tx1"/>
                </a:solidFill>
                <a:effectLst/>
                <a:uLnTx/>
                <a:uFillTx/>
                <a:latin typeface="+mn-lt"/>
                <a:ea typeface="+mn-ea"/>
                <a:cs typeface="+mn-cs"/>
              </a:rPr>
              <a:t> and select </a:t>
            </a:r>
            <a:r>
              <a:rPr kumimoji="0" lang="en-GB" sz="1600" b="0" i="1" u="none" strike="noStrike" kern="0" cap="none" spc="0" normalizeH="0" baseline="0" noProof="0" dirty="0" smtClean="0">
                <a:ln>
                  <a:noFill/>
                </a:ln>
                <a:solidFill>
                  <a:schemeClr val="tx1"/>
                </a:solidFill>
                <a:effectLst/>
                <a:uLnTx/>
                <a:uFillTx/>
                <a:latin typeface="+mn-lt"/>
                <a:ea typeface="+mn-ea"/>
                <a:cs typeface="+mn-cs"/>
              </a:rPr>
              <a:t>Velocity</a:t>
            </a:r>
            <a:r>
              <a:rPr kumimoji="0" lang="en-GB" sz="1600" b="0" i="0" u="none" strike="noStrike" kern="0" cap="none" spc="0" normalizeH="0" baseline="0" noProof="0" dirty="0" smtClean="0">
                <a:ln>
                  <a:noFill/>
                </a:ln>
                <a:solidFill>
                  <a:schemeClr val="tx1"/>
                </a:solidFill>
                <a:effectLst/>
                <a:uLnTx/>
                <a:uFillTx/>
                <a:latin typeface="+mn-lt"/>
                <a:ea typeface="+mn-ea"/>
                <a:cs typeface="+mn-cs"/>
              </a:rPr>
              <a:t> using the </a:t>
            </a:r>
            <a:r>
              <a:rPr kumimoji="0" lang="en-GB" sz="1600" b="0" i="1" u="none" strike="noStrike" kern="0" cap="none" spc="0" normalizeH="0" baseline="0" noProof="0" dirty="0" smtClean="0">
                <a:ln>
                  <a:noFill/>
                </a:ln>
                <a:solidFill>
                  <a:schemeClr val="tx1"/>
                </a:solidFill>
                <a:effectLst/>
                <a:uLnTx/>
                <a:uFillTx/>
                <a:latin typeface="+mn-lt"/>
                <a:ea typeface="+mn-ea"/>
                <a:cs typeface="+mn-cs"/>
              </a:rPr>
              <a:t>Global</a:t>
            </a:r>
            <a:r>
              <a:rPr kumimoji="0" lang="en-GB" sz="1600" b="0" i="0" u="none" strike="noStrike" kern="0" cap="none" spc="0" normalizeH="0" baseline="0" noProof="0" dirty="0" smtClean="0">
                <a:ln>
                  <a:noFill/>
                </a:ln>
                <a:solidFill>
                  <a:schemeClr val="tx1"/>
                </a:solidFill>
                <a:effectLst/>
                <a:uLnTx/>
                <a:uFillTx/>
                <a:latin typeface="+mn-lt"/>
                <a:ea typeface="+mn-ea"/>
                <a:cs typeface="+mn-cs"/>
              </a:rPr>
              <a:t> Range, then click </a:t>
            </a:r>
            <a:r>
              <a:rPr kumimoji="0" lang="en-GB" sz="1600" b="0" i="1" u="none" strike="noStrike" kern="0" cap="none" spc="0" normalizeH="0" baseline="0" noProof="0" dirty="0" smtClean="0">
                <a:ln>
                  <a:noFill/>
                </a:ln>
                <a:solidFill>
                  <a:schemeClr val="tx1"/>
                </a:solidFill>
                <a:effectLst/>
                <a:uLnTx/>
                <a:uFillTx/>
                <a:latin typeface="+mn-lt"/>
                <a:ea typeface="+mn-ea"/>
                <a:cs typeface="+mn-cs"/>
              </a:rPr>
              <a:t>Apply</a:t>
            </a:r>
            <a:r>
              <a:rPr kumimoji="0" lang="en-GB" sz="1600" b="0" i="0" u="none" strike="noStrike" kern="0" cap="none" spc="0" normalizeH="0" baseline="0" noProof="0" dirty="0" smtClean="0">
                <a:ln>
                  <a:noFill/>
                </a:ln>
                <a:solidFill>
                  <a:schemeClr val="tx1"/>
                </a:solidFill>
                <a:effectLst/>
                <a:uLnTx/>
                <a:uFillTx/>
                <a:latin typeface="+mn-lt"/>
                <a:ea typeface="+mn-ea"/>
                <a:cs typeface="+mn-cs"/>
              </a:rPr>
              <a:t>.</a:t>
            </a:r>
          </a:p>
          <a:p>
            <a:pPr marL="381000" marR="0" lvl="0" indent="-381000" algn="l" defTabSz="914400" rtl="0" eaLnBrk="1" fontAlgn="base" latinLnBrk="0" hangingPunct="1">
              <a:lnSpc>
                <a:spcPct val="100000"/>
              </a:lnSpc>
              <a:spcBef>
                <a:spcPct val="20000"/>
              </a:spcBef>
              <a:spcAft>
                <a:spcPct val="0"/>
              </a:spcAft>
              <a:buClr>
                <a:srgbClr val="16707C"/>
              </a:buClr>
              <a:buSzTx/>
              <a:buFontTx/>
              <a:buNone/>
              <a:tabLst/>
              <a:defRPr/>
            </a:pPr>
            <a:endParaRPr kumimoji="0" lang="en-GB" sz="1800" b="0" i="0" u="none" strike="noStrike" kern="0" cap="none" spc="0" normalizeH="0" baseline="0" noProof="0" dirty="0" smtClean="0">
              <a:ln>
                <a:noFill/>
              </a:ln>
              <a:solidFill>
                <a:schemeClr val="tx1"/>
              </a:solidFill>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rgbClr val="16707C"/>
              </a:buClr>
              <a:buSzTx/>
              <a:buFontTx/>
              <a:buNone/>
              <a:tabLst/>
              <a:defRPr/>
            </a:pPr>
            <a:r>
              <a:rPr kumimoji="0" lang="en-GB" sz="1800" b="0" i="0" u="none" strike="noStrike" kern="0" cap="none" spc="0" normalizeH="0" baseline="0" noProof="0" dirty="0" smtClean="0">
                <a:ln>
                  <a:noFill/>
                </a:ln>
                <a:solidFill>
                  <a:schemeClr val="tx1"/>
                </a:solidFill>
                <a:effectLst/>
                <a:uLnTx/>
                <a:uFillTx/>
                <a:latin typeface="+mn-lt"/>
                <a:ea typeface="+mn-ea"/>
                <a:cs typeface="+mn-cs"/>
              </a:rPr>
              <a:t>	</a:t>
            </a:r>
            <a:r>
              <a:rPr kumimoji="0" lang="en-GB" sz="1600" b="0" i="0" u="none" strike="noStrike" kern="0" cap="none" spc="0" normalizeH="0" baseline="0" noProof="0" dirty="0" smtClean="0">
                <a:ln>
                  <a:noFill/>
                </a:ln>
                <a:solidFill>
                  <a:schemeClr val="tx1"/>
                </a:solidFill>
                <a:effectLst/>
                <a:uLnTx/>
                <a:uFillTx/>
                <a:latin typeface="+mn-lt"/>
                <a:ea typeface="+mn-ea"/>
                <a:cs typeface="+mn-cs"/>
              </a:rPr>
              <a:t>Notice that the maximum velocity is around 354 m/s</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GB" dirty="0" smtClean="0"/>
              <a:t>CFD-Post</a:t>
            </a:r>
          </a:p>
        </p:txBody>
      </p:sp>
      <p:sp>
        <p:nvSpPr>
          <p:cNvPr id="26627" name="Content Placeholder 2"/>
          <p:cNvSpPr>
            <a:spLocks noGrp="1"/>
          </p:cNvSpPr>
          <p:nvPr>
            <p:ph idx="1"/>
          </p:nvPr>
        </p:nvSpPr>
        <p:spPr>
          <a:xfrm>
            <a:off x="180976" y="935038"/>
            <a:ext cx="5081490" cy="5553075"/>
          </a:xfrm>
        </p:spPr>
        <p:txBody>
          <a:bodyPr/>
          <a:lstStyle/>
          <a:p>
            <a:pPr marL="381000" indent="-381000" eaLnBrk="1" hangingPunct="1">
              <a:buFontTx/>
              <a:buNone/>
            </a:pPr>
            <a:r>
              <a:rPr lang="en-GB" sz="1800" b="0" dirty="0" smtClean="0"/>
              <a:t>	</a:t>
            </a:r>
          </a:p>
          <a:p>
            <a:pPr marL="381000" indent="-381000" eaLnBrk="1" hangingPunct="1">
              <a:buFontTx/>
              <a:buNone/>
            </a:pPr>
            <a:r>
              <a:rPr lang="en-GB" dirty="0" smtClean="0"/>
              <a:t>	To plot Mach number a contour plot will  be used so the supersonic region can clearly be identified</a:t>
            </a:r>
          </a:p>
          <a:p>
            <a:pPr marL="381000" indent="-381000" eaLnBrk="1" hangingPunct="1">
              <a:buFontTx/>
              <a:buNone/>
            </a:pPr>
            <a:endParaRPr lang="en-GB" sz="1800" b="0" dirty="0" smtClean="0"/>
          </a:p>
          <a:p>
            <a:pPr marL="381000" indent="-381000" eaLnBrk="1" hangingPunct="1">
              <a:buFontTx/>
              <a:buAutoNum type="arabicPeriod"/>
            </a:pPr>
            <a:r>
              <a:rPr lang="en-GB" sz="1600" b="0" dirty="0" smtClean="0"/>
              <a:t>Select </a:t>
            </a:r>
            <a:r>
              <a:rPr lang="en-GB" sz="1600" b="0" i="1" dirty="0" smtClean="0"/>
              <a:t>Insert&gt;Contour</a:t>
            </a:r>
            <a:r>
              <a:rPr lang="en-GB" sz="1600" b="0" dirty="0" smtClean="0"/>
              <a:t> or click on the contour icon     </a:t>
            </a:r>
          </a:p>
          <a:p>
            <a:pPr marL="381000" indent="-381000" eaLnBrk="1" hangingPunct="1">
              <a:buFontTx/>
              <a:buAutoNum type="arabicPeriod"/>
            </a:pPr>
            <a:endParaRPr lang="en-GB" sz="500" b="0" dirty="0" smtClean="0"/>
          </a:p>
          <a:p>
            <a:pPr marL="381000" indent="-381000" eaLnBrk="1" hangingPunct="1">
              <a:buFontTx/>
              <a:buAutoNum type="arabicPeriod"/>
            </a:pPr>
            <a:r>
              <a:rPr lang="en-GB" sz="1600" b="0" dirty="0" smtClean="0"/>
              <a:t>Accept the default name then set </a:t>
            </a:r>
            <a:r>
              <a:rPr lang="en-GB" sz="1600" b="0" i="1" dirty="0" smtClean="0"/>
              <a:t>Location</a:t>
            </a:r>
            <a:r>
              <a:rPr lang="en-GB" sz="1600" b="0" dirty="0" smtClean="0"/>
              <a:t> </a:t>
            </a:r>
            <a:r>
              <a:rPr lang="en-GB" sz="1600" b="0" i="1" dirty="0" smtClean="0"/>
              <a:t>to symmetry</a:t>
            </a:r>
            <a:r>
              <a:rPr lang="en-GB" sz="1600" b="0" dirty="0" smtClean="0"/>
              <a:t> and the </a:t>
            </a:r>
            <a:r>
              <a:rPr lang="en-GB" sz="1600" b="0" i="1" dirty="0" smtClean="0"/>
              <a:t>Variable</a:t>
            </a:r>
            <a:r>
              <a:rPr lang="en-GB" sz="1600" b="0" dirty="0" smtClean="0"/>
              <a:t> to </a:t>
            </a:r>
            <a:r>
              <a:rPr lang="en-GB" sz="1600" b="0" i="1" dirty="0" smtClean="0"/>
              <a:t>Mach Number</a:t>
            </a:r>
            <a:endParaRPr lang="en-GB" sz="1600" b="0" dirty="0" smtClean="0"/>
          </a:p>
          <a:p>
            <a:pPr marL="381000" indent="-381000" eaLnBrk="1" hangingPunct="1">
              <a:buFontTx/>
              <a:buAutoNum type="arabicPeriod"/>
            </a:pPr>
            <a:endParaRPr lang="en-GB" sz="500" b="0" dirty="0" smtClean="0"/>
          </a:p>
          <a:p>
            <a:pPr marL="381000" indent="-381000" eaLnBrk="1" hangingPunct="1">
              <a:buFontTx/>
              <a:buAutoNum type="arabicPeriod"/>
            </a:pPr>
            <a:r>
              <a:rPr lang="en-GB" sz="1600" b="0" dirty="0" smtClean="0"/>
              <a:t>Change the </a:t>
            </a:r>
            <a:r>
              <a:rPr lang="en-GB" sz="1600" b="0" i="1" dirty="0" smtClean="0"/>
              <a:t>Range</a:t>
            </a:r>
            <a:r>
              <a:rPr lang="en-GB" sz="1600" b="0" dirty="0" smtClean="0"/>
              <a:t> to </a:t>
            </a:r>
            <a:r>
              <a:rPr lang="en-GB" sz="1600" b="0" i="1" dirty="0" smtClean="0"/>
              <a:t>User Specified</a:t>
            </a:r>
            <a:r>
              <a:rPr lang="en-GB" sz="1600" b="0" dirty="0" smtClean="0"/>
              <a:t> and enter </a:t>
            </a:r>
            <a:r>
              <a:rPr lang="en-GB" sz="1600" b="0" i="1" dirty="0" smtClean="0"/>
              <a:t>0</a:t>
            </a:r>
            <a:r>
              <a:rPr lang="en-GB" sz="1600" b="0" dirty="0" smtClean="0"/>
              <a:t> to </a:t>
            </a:r>
            <a:r>
              <a:rPr lang="en-GB" sz="1600" b="0" i="1" dirty="0" smtClean="0"/>
              <a:t>1.33</a:t>
            </a:r>
            <a:r>
              <a:rPr lang="en-GB" sz="1600" b="0" dirty="0" smtClean="0"/>
              <a:t> as the range</a:t>
            </a:r>
          </a:p>
          <a:p>
            <a:pPr marL="381000" indent="-381000" eaLnBrk="1" hangingPunct="1">
              <a:buFontTx/>
              <a:buAutoNum type="arabicPeriod"/>
            </a:pPr>
            <a:endParaRPr lang="en-GB" sz="500" b="0" dirty="0" smtClean="0"/>
          </a:p>
          <a:p>
            <a:pPr marL="381000" indent="-381000" eaLnBrk="1" hangingPunct="1">
              <a:buFontTx/>
              <a:buAutoNum type="arabicPeriod"/>
            </a:pPr>
            <a:r>
              <a:rPr lang="en-GB" sz="1600" b="0" dirty="0" smtClean="0"/>
              <a:t>Set </a:t>
            </a:r>
            <a:r>
              <a:rPr lang="en-GB" sz="1600" b="0" i="1" dirty="0" smtClean="0"/>
              <a:t># of Contours to 21</a:t>
            </a:r>
            <a:r>
              <a:rPr lang="en-GB" sz="1600" b="0" dirty="0" smtClean="0"/>
              <a:t>, the click </a:t>
            </a:r>
            <a:r>
              <a:rPr lang="en-GB" sz="1600" b="0" i="1" dirty="0" smtClean="0"/>
              <a:t>Apply</a:t>
            </a:r>
            <a:endParaRPr lang="en-GB" sz="1600" b="0" dirty="0" smtClean="0"/>
          </a:p>
          <a:p>
            <a:pPr marL="381000" indent="-381000" eaLnBrk="1" hangingPunct="1">
              <a:buFontTx/>
              <a:buAutoNum type="arabicPeriod"/>
            </a:pPr>
            <a:endParaRPr lang="en-GB" sz="1800" b="0" dirty="0" smtClean="0"/>
          </a:p>
          <a:p>
            <a:pPr marL="381000" indent="-381000" eaLnBrk="1" hangingPunct="1">
              <a:buFontTx/>
              <a:buNone/>
            </a:pPr>
            <a:r>
              <a:rPr lang="en-GB" sz="1800" b="0" dirty="0" smtClean="0"/>
              <a:t>	</a:t>
            </a:r>
          </a:p>
        </p:txBody>
      </p:sp>
      <p:pic>
        <p:nvPicPr>
          <p:cNvPr id="26628" name="Picture 3" descr="cont.JPG"/>
          <p:cNvPicPr>
            <a:picLocks noChangeAspect="1"/>
          </p:cNvPicPr>
          <p:nvPr/>
        </p:nvPicPr>
        <p:blipFill>
          <a:blip r:embed="rId2" cstate="print"/>
          <a:srcRect/>
          <a:stretch>
            <a:fillRect/>
          </a:stretch>
        </p:blipFill>
        <p:spPr bwMode="auto">
          <a:xfrm>
            <a:off x="660433" y="2372276"/>
            <a:ext cx="228600" cy="252412"/>
          </a:xfrm>
          <a:prstGeom prst="rect">
            <a:avLst/>
          </a:prstGeom>
          <a:noFill/>
          <a:ln w="9525">
            <a:noFill/>
            <a:miter lim="800000"/>
            <a:headEnd/>
            <a:tailEnd/>
          </a:ln>
        </p:spPr>
      </p:pic>
      <p:pic>
        <p:nvPicPr>
          <p:cNvPr id="26629" name="Picture 6"/>
          <p:cNvPicPr>
            <a:picLocks noChangeAspect="1" noChangeArrowheads="1"/>
          </p:cNvPicPr>
          <p:nvPr/>
        </p:nvPicPr>
        <p:blipFill>
          <a:blip r:embed="rId3" cstate="print"/>
          <a:srcRect l="38838" t="11555" r="10020" b="26675"/>
          <a:stretch>
            <a:fillRect/>
          </a:stretch>
        </p:blipFill>
        <p:spPr bwMode="auto">
          <a:xfrm>
            <a:off x="5305425" y="1027113"/>
            <a:ext cx="3611563" cy="3273425"/>
          </a:xfrm>
          <a:prstGeom prst="rect">
            <a:avLst/>
          </a:prstGeom>
          <a:noFill/>
          <a:ln w="9525">
            <a:noFill/>
            <a:miter lim="800000"/>
            <a:headEnd/>
            <a:tailEnd/>
          </a:ln>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smtClean="0"/>
              <a:t>CFD-Post</a:t>
            </a:r>
            <a:endParaRPr lang="de-DE" dirty="0"/>
          </a:p>
        </p:txBody>
      </p:sp>
      <p:sp>
        <p:nvSpPr>
          <p:cNvPr id="3" name="Content Placeholder 2"/>
          <p:cNvSpPr>
            <a:spLocks noGrp="1"/>
          </p:cNvSpPr>
          <p:nvPr>
            <p:ph idx="1"/>
          </p:nvPr>
        </p:nvSpPr>
        <p:spPr>
          <a:xfrm>
            <a:off x="180975" y="935038"/>
            <a:ext cx="8806614" cy="5553075"/>
          </a:xfrm>
        </p:spPr>
        <p:txBody>
          <a:bodyPr/>
          <a:lstStyle/>
          <a:p>
            <a:endParaRPr lang="de-DE" sz="1000" dirty="0" smtClean="0"/>
          </a:p>
          <a:p>
            <a:r>
              <a:rPr lang="en-US" dirty="0" smtClean="0"/>
              <a:t>To have some further variables available</a:t>
            </a:r>
            <a:r>
              <a:rPr lang="en-US" baseline="0" dirty="0" smtClean="0"/>
              <a:t> (Pressure Coefficient, Lift</a:t>
            </a:r>
            <a:r>
              <a:rPr lang="en-US" dirty="0" smtClean="0"/>
              <a:t> Coefficient</a:t>
            </a:r>
            <a:r>
              <a:rPr lang="en-US" baseline="0" dirty="0" smtClean="0"/>
              <a:t>, …) we need</a:t>
            </a:r>
            <a:r>
              <a:rPr lang="en-US" dirty="0" smtClean="0"/>
              <a:t> some Expressions</a:t>
            </a:r>
          </a:p>
          <a:p>
            <a:pPr lvl="1"/>
            <a:r>
              <a:rPr lang="en-US" sz="1600" b="0" dirty="0" smtClean="0">
                <a:solidFill>
                  <a:schemeClr val="accent6"/>
                </a:solidFill>
              </a:rPr>
              <a:t>Read these with File &gt; Load State expressions.cst</a:t>
            </a:r>
          </a:p>
          <a:p>
            <a:pPr lvl="1"/>
            <a:r>
              <a:rPr lang="en-US" sz="1600" b="0" dirty="0" smtClean="0"/>
              <a:t>Now you can see the Definitions in the Expression Tab </a:t>
            </a:r>
            <a:endParaRPr lang="en-US" sz="1600" b="0" dirty="0"/>
          </a:p>
        </p:txBody>
      </p:sp>
      <p:grpSp>
        <p:nvGrpSpPr>
          <p:cNvPr id="9" name="Group 8"/>
          <p:cNvGrpSpPr/>
          <p:nvPr/>
        </p:nvGrpSpPr>
        <p:grpSpPr>
          <a:xfrm>
            <a:off x="870448" y="2523931"/>
            <a:ext cx="7471594" cy="3898232"/>
            <a:chOff x="926432" y="2514600"/>
            <a:chExt cx="7471594" cy="3898232"/>
          </a:xfrm>
        </p:grpSpPr>
        <p:grpSp>
          <p:nvGrpSpPr>
            <p:cNvPr id="6" name="Group 5"/>
            <p:cNvGrpSpPr/>
            <p:nvPr/>
          </p:nvGrpSpPr>
          <p:grpSpPr>
            <a:xfrm>
              <a:off x="4239912" y="2514600"/>
              <a:ext cx="4158114" cy="3898232"/>
              <a:chOff x="3915060" y="2514600"/>
              <a:chExt cx="4158114" cy="3898232"/>
            </a:xfrm>
          </p:grpSpPr>
          <p:pic>
            <p:nvPicPr>
              <p:cNvPr id="60418" name="Picture 2"/>
              <p:cNvPicPr>
                <a:picLocks noChangeAspect="1" noChangeArrowheads="1"/>
              </p:cNvPicPr>
              <p:nvPr/>
            </p:nvPicPr>
            <p:blipFill>
              <a:blip r:embed="rId2" cstate="print"/>
              <a:srcRect r="55789" b="48191"/>
              <a:stretch>
                <a:fillRect/>
              </a:stretch>
            </p:blipFill>
            <p:spPr bwMode="auto">
              <a:xfrm>
                <a:off x="3915060" y="2514600"/>
                <a:ext cx="4158114" cy="3898232"/>
              </a:xfrm>
              <a:prstGeom prst="rect">
                <a:avLst/>
              </a:prstGeom>
              <a:noFill/>
              <a:ln w="9525">
                <a:noFill/>
                <a:miter lim="800000"/>
                <a:headEnd/>
                <a:tailEnd/>
              </a:ln>
            </p:spPr>
          </p:pic>
          <p:sp>
            <p:nvSpPr>
              <p:cNvPr id="5" name="Rectangle 4"/>
              <p:cNvSpPr/>
              <p:nvPr/>
            </p:nvSpPr>
            <p:spPr bwMode="auto">
              <a:xfrm>
                <a:off x="4870089" y="3013297"/>
                <a:ext cx="601579" cy="240631"/>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pic>
          <p:nvPicPr>
            <p:cNvPr id="60419" name="Picture 3"/>
            <p:cNvPicPr>
              <a:picLocks noChangeAspect="1" noChangeArrowheads="1"/>
            </p:cNvPicPr>
            <p:nvPr/>
          </p:nvPicPr>
          <p:blipFill>
            <a:blip r:embed="rId3" cstate="print"/>
            <a:srcRect l="291" r="84013" b="62747"/>
            <a:stretch>
              <a:fillRect/>
            </a:stretch>
          </p:blipFill>
          <p:spPr bwMode="auto">
            <a:xfrm>
              <a:off x="950495" y="2538663"/>
              <a:ext cx="1949115" cy="3700824"/>
            </a:xfrm>
            <a:prstGeom prst="rect">
              <a:avLst/>
            </a:prstGeom>
            <a:noFill/>
            <a:ln w="9525">
              <a:noFill/>
              <a:miter lim="800000"/>
              <a:headEnd/>
              <a:tailEnd/>
            </a:ln>
          </p:spPr>
        </p:pic>
        <p:sp>
          <p:nvSpPr>
            <p:cNvPr id="8" name="Rectangle 7"/>
            <p:cNvSpPr/>
            <p:nvPr/>
          </p:nvSpPr>
          <p:spPr bwMode="auto">
            <a:xfrm>
              <a:off x="926432" y="3441032"/>
              <a:ext cx="2093494" cy="228600"/>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GB" dirty="0" smtClean="0"/>
              <a:t>CFD-Post</a:t>
            </a:r>
          </a:p>
        </p:txBody>
      </p:sp>
      <p:sp>
        <p:nvSpPr>
          <p:cNvPr id="27651" name="Content Placeholder 2"/>
          <p:cNvSpPr>
            <a:spLocks noGrp="1"/>
          </p:cNvSpPr>
          <p:nvPr>
            <p:ph idx="1"/>
          </p:nvPr>
        </p:nvSpPr>
        <p:spPr>
          <a:xfrm>
            <a:off x="367588" y="894380"/>
            <a:ext cx="8384526" cy="1372959"/>
          </a:xfrm>
        </p:spPr>
        <p:txBody>
          <a:bodyPr/>
          <a:lstStyle/>
          <a:p>
            <a:pPr marL="381000" indent="-381000" eaLnBrk="1" hangingPunct="1">
              <a:buFontTx/>
              <a:buNone/>
            </a:pPr>
            <a:r>
              <a:rPr lang="en-GB" sz="1800" b="0" dirty="0" smtClean="0"/>
              <a:t>	</a:t>
            </a:r>
          </a:p>
          <a:p>
            <a:pPr marL="381000" indent="-381000" eaLnBrk="1" hangingPunct="1">
              <a:buFontTx/>
              <a:buNone/>
            </a:pPr>
            <a:r>
              <a:rPr lang="en-GB" sz="1800" b="0" dirty="0" smtClean="0"/>
              <a:t>	</a:t>
            </a:r>
            <a:r>
              <a:rPr lang="en-GB" dirty="0" smtClean="0"/>
              <a:t>To plot the pressure coefficient distribution around the airfoil a </a:t>
            </a:r>
            <a:r>
              <a:rPr lang="en-GB" dirty="0" err="1" smtClean="0"/>
              <a:t>polyline</a:t>
            </a:r>
            <a:r>
              <a:rPr lang="en-GB" dirty="0" smtClean="0"/>
              <a:t> is needed to represent the airfoil profile and a variable needs to be created to give CP</a:t>
            </a:r>
            <a:endParaRPr lang="en-GB" b="0" dirty="0" smtClean="0"/>
          </a:p>
          <a:p>
            <a:pPr marL="381000" indent="-381000" eaLnBrk="1" hangingPunct="1">
              <a:buFontTx/>
              <a:buNone/>
            </a:pPr>
            <a:endParaRPr lang="en-GB" b="0" dirty="0" smtClean="0"/>
          </a:p>
        </p:txBody>
      </p:sp>
      <p:pic>
        <p:nvPicPr>
          <p:cNvPr id="40963" name="Picture 3"/>
          <p:cNvPicPr>
            <a:picLocks noChangeAspect="1" noChangeArrowheads="1"/>
          </p:cNvPicPr>
          <p:nvPr/>
        </p:nvPicPr>
        <p:blipFill>
          <a:blip r:embed="rId2" cstate="print"/>
          <a:srcRect/>
          <a:stretch>
            <a:fillRect/>
          </a:stretch>
        </p:blipFill>
        <p:spPr bwMode="auto">
          <a:xfrm>
            <a:off x="6258218" y="2288820"/>
            <a:ext cx="2643188" cy="3976688"/>
          </a:xfrm>
          <a:prstGeom prst="rect">
            <a:avLst/>
          </a:prstGeom>
          <a:noFill/>
          <a:ln w="9525">
            <a:noFill/>
            <a:miter lim="800000"/>
            <a:headEnd/>
            <a:tailEnd/>
          </a:ln>
        </p:spPr>
      </p:pic>
      <p:sp>
        <p:nvSpPr>
          <p:cNvPr id="7" name="Content Placeholder 2"/>
          <p:cNvSpPr txBox="1">
            <a:spLocks/>
          </p:cNvSpPr>
          <p:nvPr/>
        </p:nvSpPr>
        <p:spPr bwMode="auto">
          <a:xfrm>
            <a:off x="408021" y="1642188"/>
            <a:ext cx="5918135" cy="36920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81000" marR="0" lvl="0" indent="-381000" algn="l" defTabSz="914400" rtl="0" eaLnBrk="1" fontAlgn="base" latinLnBrk="0" hangingPunct="1">
              <a:lnSpc>
                <a:spcPct val="100000"/>
              </a:lnSpc>
              <a:spcBef>
                <a:spcPct val="20000"/>
              </a:spcBef>
              <a:spcAft>
                <a:spcPct val="0"/>
              </a:spcAft>
              <a:buClr>
                <a:srgbClr val="16707C"/>
              </a:buClr>
              <a:buSzTx/>
              <a:buFontTx/>
              <a:buNone/>
              <a:tabLst/>
              <a:defRPr/>
            </a:pPr>
            <a:r>
              <a:rPr kumimoji="0" lang="en-GB" sz="1800" b="0" i="0" u="none" strike="noStrike" kern="0" cap="none" spc="0" normalizeH="0" baseline="0" noProof="0" dirty="0" smtClean="0">
                <a:ln>
                  <a:noFill/>
                </a:ln>
                <a:solidFill>
                  <a:schemeClr val="tx1"/>
                </a:solidFill>
                <a:effectLst/>
                <a:uLnTx/>
                <a:uFillTx/>
                <a:latin typeface="+mn-lt"/>
                <a:ea typeface="+mn-ea"/>
                <a:cs typeface="+mn-cs"/>
              </a:rPr>
              <a:t>	</a:t>
            </a:r>
          </a:p>
          <a:p>
            <a:pPr marL="381000" marR="0" lvl="0" indent="-381000" algn="l" defTabSz="914400" rtl="0" eaLnBrk="1" fontAlgn="base" latinLnBrk="0" hangingPunct="1">
              <a:lnSpc>
                <a:spcPct val="100000"/>
              </a:lnSpc>
              <a:spcBef>
                <a:spcPct val="20000"/>
              </a:spcBef>
              <a:spcAft>
                <a:spcPct val="0"/>
              </a:spcAft>
              <a:buClr>
                <a:srgbClr val="16707C"/>
              </a:buClr>
              <a:buSzTx/>
              <a:buFontTx/>
              <a:buNone/>
              <a:tabLst/>
              <a:defRPr/>
            </a:pPr>
            <a:r>
              <a:rPr kumimoji="0" lang="en-GB" sz="1800" b="0" i="0" u="none" strike="noStrike" kern="0" cap="none" spc="0" normalizeH="0" baseline="0" noProof="0" dirty="0" smtClean="0">
                <a:ln>
                  <a:noFill/>
                </a:ln>
                <a:solidFill>
                  <a:schemeClr val="tx1"/>
                </a:solidFill>
                <a:effectLst/>
                <a:uLnTx/>
                <a:uFillTx/>
                <a:latin typeface="+mn-lt"/>
                <a:ea typeface="+mn-ea"/>
                <a:cs typeface="+mn-cs"/>
              </a:rPr>
              <a:t>	</a:t>
            </a:r>
            <a:endParaRPr kumimoji="0" lang="en-GB" sz="2000" b="1" i="0" u="none" strike="noStrike" kern="0" cap="none" spc="0" normalizeH="0" baseline="0" noProof="0" dirty="0" smtClean="0">
              <a:ln>
                <a:noFill/>
              </a:ln>
              <a:solidFill>
                <a:schemeClr val="tx1"/>
              </a:solidFill>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rgbClr val="16707C"/>
              </a:buClr>
              <a:buSzTx/>
              <a:buFontTx/>
              <a:buNone/>
              <a:tabLst/>
              <a:defRPr/>
            </a:pPr>
            <a:endParaRPr kumimoji="0" lang="en-GB" sz="500" b="0" i="0" u="none" strike="noStrike" kern="0" cap="none" spc="0" normalizeH="0" baseline="0" noProof="0" dirty="0" smtClean="0">
              <a:ln>
                <a:noFill/>
              </a:ln>
              <a:solidFill>
                <a:schemeClr val="tx1"/>
              </a:solidFill>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rgbClr val="16707C"/>
              </a:buClr>
              <a:buSzTx/>
              <a:buFontTx/>
              <a:buAutoNum type="arabicPeriod"/>
              <a:tabLst/>
              <a:defRPr/>
            </a:pPr>
            <a:r>
              <a:rPr kumimoji="0" lang="en-GB" sz="1600" b="0" i="0" u="none" strike="noStrike" kern="0" cap="none" spc="0" normalizeH="0" baseline="0" noProof="0" dirty="0" smtClean="0">
                <a:ln>
                  <a:noFill/>
                </a:ln>
                <a:solidFill>
                  <a:schemeClr val="tx1"/>
                </a:solidFill>
                <a:effectLst/>
                <a:uLnTx/>
                <a:uFillTx/>
                <a:latin typeface="+mn-lt"/>
                <a:ea typeface="+mn-ea"/>
                <a:cs typeface="+mn-cs"/>
              </a:rPr>
              <a:t>Create a </a:t>
            </a:r>
            <a:r>
              <a:rPr kumimoji="0" lang="en-GB" sz="1600" b="0" i="0" u="none" strike="noStrike" kern="0" cap="none" spc="0" normalizeH="0" baseline="0" noProof="0" dirty="0" err="1" smtClean="0">
                <a:ln>
                  <a:noFill/>
                </a:ln>
                <a:solidFill>
                  <a:schemeClr val="tx1"/>
                </a:solidFill>
                <a:effectLst/>
                <a:uLnTx/>
                <a:uFillTx/>
                <a:latin typeface="+mn-lt"/>
                <a:ea typeface="+mn-ea"/>
                <a:cs typeface="+mn-cs"/>
              </a:rPr>
              <a:t>Polyline</a:t>
            </a:r>
            <a:r>
              <a:rPr kumimoji="0" lang="en-GB" sz="1600" b="0" i="0" u="none" strike="noStrike" kern="0" cap="none" spc="0" normalizeH="0" baseline="0" noProof="0" dirty="0" smtClean="0">
                <a:ln>
                  <a:noFill/>
                </a:ln>
                <a:solidFill>
                  <a:schemeClr val="tx1"/>
                </a:solidFill>
                <a:effectLst/>
                <a:uLnTx/>
                <a:uFillTx/>
                <a:latin typeface="+mn-lt"/>
                <a:ea typeface="+mn-ea"/>
                <a:cs typeface="+mn-cs"/>
              </a:rPr>
              <a:t> using </a:t>
            </a:r>
            <a:r>
              <a:rPr kumimoji="0" lang="en-GB" sz="1600" b="0" i="1" u="none" strike="noStrike" kern="0" cap="none" spc="0" normalizeH="0" baseline="0" noProof="0" dirty="0" smtClean="0">
                <a:ln>
                  <a:noFill/>
                </a:ln>
                <a:solidFill>
                  <a:schemeClr val="tx1"/>
                </a:solidFill>
                <a:effectLst/>
                <a:uLnTx/>
                <a:uFillTx/>
                <a:latin typeface="+mn-lt"/>
                <a:ea typeface="+mn-ea"/>
                <a:cs typeface="+mn-cs"/>
              </a:rPr>
              <a:t>Insert&gt;Location&gt;</a:t>
            </a:r>
            <a:r>
              <a:rPr kumimoji="0" lang="en-GB" sz="1600" b="0" i="1" u="none" strike="noStrike" kern="0" cap="none" spc="0" normalizeH="0" baseline="0" noProof="0" dirty="0" err="1" smtClean="0">
                <a:ln>
                  <a:noFill/>
                </a:ln>
                <a:solidFill>
                  <a:schemeClr val="tx1"/>
                </a:solidFill>
                <a:effectLst/>
                <a:uLnTx/>
                <a:uFillTx/>
                <a:latin typeface="+mn-lt"/>
                <a:ea typeface="+mn-ea"/>
                <a:cs typeface="+mn-cs"/>
              </a:rPr>
              <a:t>Polyline</a:t>
            </a:r>
            <a:endParaRPr kumimoji="0" lang="en-GB" sz="1600" b="0" i="0" u="none" strike="noStrike" kern="0" cap="none" spc="0" normalizeH="0" baseline="0" noProof="0" dirty="0" smtClean="0">
              <a:ln>
                <a:noFill/>
              </a:ln>
              <a:solidFill>
                <a:schemeClr val="tx1"/>
              </a:solidFill>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rgbClr val="16707C"/>
              </a:buClr>
              <a:buSzTx/>
              <a:buFontTx/>
              <a:buAutoNum type="arabicPeriod"/>
              <a:tabLst/>
              <a:defRPr/>
            </a:pPr>
            <a:endParaRPr kumimoji="0" lang="en-GB" sz="500" b="0" i="0" u="none" strike="noStrike" kern="0" cap="none" spc="0" normalizeH="0" baseline="0" noProof="0" dirty="0" smtClean="0">
              <a:ln>
                <a:noFill/>
              </a:ln>
              <a:solidFill>
                <a:schemeClr val="tx1"/>
              </a:solidFill>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rgbClr val="16707C"/>
              </a:buClr>
              <a:buSzTx/>
              <a:buFontTx/>
              <a:buAutoNum type="arabicPeriod"/>
              <a:tabLst/>
              <a:defRPr/>
            </a:pPr>
            <a:r>
              <a:rPr kumimoji="0" lang="en-GB" sz="1600" b="0" i="0" u="none" strike="noStrike" kern="0" cap="none" spc="0" normalizeH="0" baseline="0" noProof="0" dirty="0" smtClean="0">
                <a:ln>
                  <a:noFill/>
                </a:ln>
                <a:solidFill>
                  <a:schemeClr val="tx1"/>
                </a:solidFill>
                <a:effectLst/>
                <a:uLnTx/>
                <a:uFillTx/>
                <a:latin typeface="+mn-lt"/>
                <a:ea typeface="+mn-ea"/>
                <a:cs typeface="+mn-cs"/>
              </a:rPr>
              <a:t>Change the </a:t>
            </a:r>
            <a:r>
              <a:rPr kumimoji="0" lang="en-GB" sz="1600" b="0" i="1" u="none" strike="noStrike" kern="0" cap="none" spc="0" normalizeH="0" baseline="0" noProof="0" dirty="0" smtClean="0">
                <a:ln>
                  <a:noFill/>
                </a:ln>
                <a:solidFill>
                  <a:schemeClr val="tx1"/>
                </a:solidFill>
                <a:effectLst/>
                <a:uLnTx/>
                <a:uFillTx/>
                <a:latin typeface="+mn-lt"/>
                <a:ea typeface="+mn-ea"/>
                <a:cs typeface="+mn-cs"/>
              </a:rPr>
              <a:t>Method</a:t>
            </a:r>
            <a:r>
              <a:rPr kumimoji="0" lang="en-GB" sz="1600" b="0" i="0" u="none" strike="noStrike" kern="0" cap="none" spc="0" normalizeH="0" baseline="0" noProof="0" dirty="0" smtClean="0">
                <a:ln>
                  <a:noFill/>
                </a:ln>
                <a:solidFill>
                  <a:schemeClr val="tx1"/>
                </a:solidFill>
                <a:effectLst/>
                <a:uLnTx/>
                <a:uFillTx/>
                <a:latin typeface="+mn-lt"/>
                <a:ea typeface="+mn-ea"/>
                <a:cs typeface="+mn-cs"/>
              </a:rPr>
              <a:t> to </a:t>
            </a:r>
            <a:r>
              <a:rPr kumimoji="0" lang="en-GB" sz="1600" b="0" i="1" u="none" strike="noStrike" kern="0" cap="none" spc="0" normalizeH="0" baseline="0" noProof="0" dirty="0" smtClean="0">
                <a:ln>
                  <a:noFill/>
                </a:ln>
                <a:solidFill>
                  <a:schemeClr val="tx1"/>
                </a:solidFill>
                <a:effectLst/>
                <a:uLnTx/>
                <a:uFillTx/>
                <a:latin typeface="+mn-lt"/>
                <a:ea typeface="+mn-ea"/>
                <a:cs typeface="+mn-cs"/>
              </a:rPr>
              <a:t>Boundary Intersection</a:t>
            </a:r>
            <a:endParaRPr kumimoji="0" lang="en-GB" sz="1600" b="0" i="0" u="none" strike="noStrike" kern="0" cap="none" spc="0" normalizeH="0" baseline="0" noProof="0" dirty="0" smtClean="0">
              <a:ln>
                <a:noFill/>
              </a:ln>
              <a:solidFill>
                <a:schemeClr val="tx1"/>
              </a:solidFill>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rgbClr val="16707C"/>
              </a:buClr>
              <a:buSzTx/>
              <a:buFontTx/>
              <a:buAutoNum type="arabicPeriod"/>
              <a:tabLst/>
              <a:defRPr/>
            </a:pPr>
            <a:endParaRPr kumimoji="0" lang="en-GB" sz="500" b="0" i="0" u="none" strike="noStrike" kern="0" cap="none" spc="0" normalizeH="0" baseline="0" noProof="0" dirty="0" smtClean="0">
              <a:ln>
                <a:noFill/>
              </a:ln>
              <a:solidFill>
                <a:schemeClr val="tx1"/>
              </a:solidFill>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rgbClr val="16707C"/>
              </a:buClr>
              <a:buSzTx/>
              <a:buFontTx/>
              <a:buAutoNum type="arabicPeriod"/>
              <a:tabLst/>
              <a:defRPr/>
            </a:pPr>
            <a:r>
              <a:rPr kumimoji="0" lang="en-GB" sz="1600" b="0" i="0" u="none" strike="noStrike" kern="0" cap="none" spc="0" normalizeH="0" baseline="0" noProof="0" dirty="0" smtClean="0">
                <a:ln>
                  <a:noFill/>
                </a:ln>
                <a:solidFill>
                  <a:schemeClr val="tx1"/>
                </a:solidFill>
                <a:effectLst/>
                <a:uLnTx/>
                <a:uFillTx/>
                <a:latin typeface="+mn-lt"/>
                <a:ea typeface="+mn-ea"/>
                <a:cs typeface="+mn-cs"/>
              </a:rPr>
              <a:t>Set </a:t>
            </a:r>
            <a:r>
              <a:rPr kumimoji="0" lang="en-GB" sz="1600" b="0" i="1" u="none" strike="noStrike" kern="0" cap="none" spc="0" normalizeH="0" baseline="0" noProof="0" dirty="0" smtClean="0">
                <a:ln>
                  <a:noFill/>
                </a:ln>
                <a:solidFill>
                  <a:schemeClr val="tx1"/>
                </a:solidFill>
                <a:effectLst/>
                <a:uLnTx/>
                <a:uFillTx/>
                <a:latin typeface="+mn-lt"/>
                <a:ea typeface="+mn-ea"/>
                <a:cs typeface="+mn-cs"/>
              </a:rPr>
              <a:t>Boundary List </a:t>
            </a:r>
            <a:r>
              <a:rPr kumimoji="0" lang="en-GB" sz="1600" b="0" i="0" u="none" strike="noStrike" kern="0" cap="none" spc="0" normalizeH="0" baseline="0" noProof="0" dirty="0" smtClean="0">
                <a:ln>
                  <a:noFill/>
                </a:ln>
                <a:solidFill>
                  <a:schemeClr val="tx1"/>
                </a:solidFill>
                <a:effectLst/>
                <a:uLnTx/>
                <a:uFillTx/>
                <a:latin typeface="+mn-lt"/>
                <a:ea typeface="+mn-ea"/>
                <a:cs typeface="+mn-cs"/>
              </a:rPr>
              <a:t>to </a:t>
            </a:r>
            <a:r>
              <a:rPr kumimoji="0" lang="en-GB" sz="1600" b="0" i="1" u="none" strike="noStrike" kern="0" cap="none" spc="0" normalizeH="0" baseline="0" noProof="0" dirty="0" smtClean="0">
                <a:ln>
                  <a:noFill/>
                </a:ln>
                <a:solidFill>
                  <a:schemeClr val="tx1"/>
                </a:solidFill>
                <a:effectLst/>
                <a:uLnTx/>
                <a:uFillTx/>
                <a:latin typeface="+mn-lt"/>
                <a:ea typeface="+mn-ea"/>
                <a:cs typeface="+mn-cs"/>
              </a:rPr>
              <a:t>Airfoil</a:t>
            </a:r>
            <a:r>
              <a:rPr kumimoji="0" lang="en-GB" sz="1600" b="0" i="0" u="none" strike="noStrike" kern="0" cap="none" spc="0" normalizeH="0" baseline="0" noProof="0" dirty="0" smtClean="0">
                <a:ln>
                  <a:noFill/>
                </a:ln>
                <a:solidFill>
                  <a:schemeClr val="tx1"/>
                </a:solidFill>
                <a:effectLst/>
                <a:uLnTx/>
                <a:uFillTx/>
                <a:latin typeface="+mn-lt"/>
                <a:ea typeface="+mn-ea"/>
                <a:cs typeface="+mn-cs"/>
              </a:rPr>
              <a:t>, </a:t>
            </a:r>
            <a:r>
              <a:rPr kumimoji="0" lang="en-GB" sz="1600" b="0" i="1" u="none" strike="noStrike" kern="0" cap="none" spc="0" normalizeH="0" baseline="0" noProof="0" dirty="0" smtClean="0">
                <a:ln>
                  <a:noFill/>
                </a:ln>
                <a:solidFill>
                  <a:schemeClr val="tx1"/>
                </a:solidFill>
                <a:effectLst/>
                <a:uLnTx/>
                <a:uFillTx/>
                <a:latin typeface="+mn-lt"/>
                <a:ea typeface="+mn-ea"/>
                <a:cs typeface="+mn-cs"/>
              </a:rPr>
              <a:t>Intersect With</a:t>
            </a:r>
            <a:r>
              <a:rPr kumimoji="0" lang="en-GB" sz="1600" b="0" i="0" u="none" strike="noStrike" kern="0" cap="none" spc="0" normalizeH="0" baseline="0" noProof="0" dirty="0" smtClean="0">
                <a:ln>
                  <a:noFill/>
                </a:ln>
                <a:solidFill>
                  <a:schemeClr val="tx1"/>
                </a:solidFill>
                <a:effectLst/>
                <a:uLnTx/>
                <a:uFillTx/>
                <a:latin typeface="+mn-lt"/>
                <a:ea typeface="+mn-ea"/>
                <a:cs typeface="+mn-cs"/>
              </a:rPr>
              <a:t> to </a:t>
            </a:r>
            <a:r>
              <a:rPr kumimoji="0" lang="en-GB" sz="1600" b="0" i="1" u="none" strike="noStrike" kern="0" cap="none" spc="0" normalizeH="0" baseline="0" noProof="0" dirty="0" smtClean="0">
                <a:ln>
                  <a:noFill/>
                </a:ln>
                <a:solidFill>
                  <a:schemeClr val="tx1"/>
                </a:solidFill>
                <a:effectLst/>
                <a:uLnTx/>
                <a:uFillTx/>
                <a:latin typeface="+mn-lt"/>
                <a:ea typeface="+mn-ea"/>
                <a:cs typeface="+mn-cs"/>
              </a:rPr>
              <a:t>Sym 1</a:t>
            </a:r>
            <a:r>
              <a:rPr kumimoji="0" lang="en-GB" sz="1600" b="0" i="0" u="none" strike="noStrike" kern="0" cap="none" spc="0" normalizeH="0" baseline="0" noProof="0" dirty="0" smtClean="0">
                <a:ln>
                  <a:noFill/>
                </a:ln>
                <a:solidFill>
                  <a:schemeClr val="tx1"/>
                </a:solidFill>
                <a:effectLst/>
                <a:uLnTx/>
                <a:uFillTx/>
                <a:latin typeface="+mn-lt"/>
                <a:ea typeface="+mn-ea"/>
                <a:cs typeface="+mn-cs"/>
              </a:rPr>
              <a:t> then click </a:t>
            </a:r>
            <a:r>
              <a:rPr kumimoji="0" lang="en-GB" sz="1600" b="0" i="1" u="none" strike="noStrike" kern="0" cap="none" spc="0" normalizeH="0" baseline="0" noProof="0" dirty="0" smtClean="0">
                <a:ln>
                  <a:noFill/>
                </a:ln>
                <a:solidFill>
                  <a:schemeClr val="tx1"/>
                </a:solidFill>
                <a:effectLst/>
                <a:uLnTx/>
                <a:uFillTx/>
                <a:latin typeface="+mn-lt"/>
                <a:ea typeface="+mn-ea"/>
                <a:cs typeface="+mn-cs"/>
              </a:rPr>
              <a:t>Apply</a:t>
            </a:r>
            <a:endParaRPr kumimoji="0" lang="en-GB" sz="1600" b="0" i="0" u="none" strike="noStrike" kern="0" cap="none" spc="0" normalizeH="0" baseline="0" noProof="0" dirty="0" smtClean="0">
              <a:ln>
                <a:noFill/>
              </a:ln>
              <a:solidFill>
                <a:schemeClr val="tx1"/>
              </a:solidFill>
              <a:effectLst/>
              <a:uLnTx/>
              <a:uFillTx/>
              <a:latin typeface="+mn-lt"/>
              <a:ea typeface="+mn-ea"/>
              <a:cs typeface="+mn-cs"/>
            </a:endParaRPr>
          </a:p>
          <a:p>
            <a:pPr marL="781050" marR="0" lvl="1" indent="-381000" algn="l" defTabSz="914400" rtl="0" eaLnBrk="1" fontAlgn="base" latinLnBrk="0" hangingPunct="1">
              <a:lnSpc>
                <a:spcPct val="100000"/>
              </a:lnSpc>
              <a:spcBef>
                <a:spcPct val="20000"/>
              </a:spcBef>
              <a:spcAft>
                <a:spcPct val="0"/>
              </a:spcAft>
              <a:buClr>
                <a:srgbClr val="16707C"/>
              </a:buClr>
              <a:buSzTx/>
              <a:buFontTx/>
              <a:buChar char="-"/>
              <a:tabLst/>
              <a:defRPr/>
            </a:pPr>
            <a:r>
              <a:rPr kumimoji="0" lang="en-GB" sz="1400" b="0" i="0" u="none" strike="noStrike" kern="0" cap="none" spc="0" normalizeH="0" baseline="0" noProof="0" dirty="0" smtClean="0">
                <a:ln>
                  <a:noFill/>
                </a:ln>
                <a:solidFill>
                  <a:schemeClr val="tx1"/>
                </a:solidFill>
                <a:effectLst/>
                <a:uLnTx/>
                <a:uFillTx/>
                <a:latin typeface="+mn-lt"/>
              </a:rPr>
              <a:t>A line will be created around one end of the airfoil</a:t>
            </a:r>
          </a:p>
          <a:p>
            <a:pPr marL="1123950" marR="0" lvl="2" indent="-381000" algn="l" defTabSz="914400" rtl="0" eaLnBrk="1" fontAlgn="base" latinLnBrk="0" hangingPunct="1">
              <a:lnSpc>
                <a:spcPct val="100000"/>
              </a:lnSpc>
              <a:spcBef>
                <a:spcPct val="20000"/>
              </a:spcBef>
              <a:spcAft>
                <a:spcPct val="0"/>
              </a:spcAft>
              <a:buClr>
                <a:srgbClr val="16707C"/>
              </a:buClr>
              <a:buSzTx/>
              <a:buFontTx/>
              <a:buChar char="-"/>
              <a:tabLst/>
              <a:defRPr/>
            </a:pPr>
            <a:r>
              <a:rPr kumimoji="0" lang="en-GB" sz="1200" b="0" i="0" u="none" strike="noStrike" kern="0" cap="none" spc="0" normalizeH="0" baseline="0" noProof="0" dirty="0" smtClean="0">
                <a:ln>
                  <a:noFill/>
                </a:ln>
                <a:solidFill>
                  <a:schemeClr val="tx1"/>
                </a:solidFill>
                <a:effectLst/>
                <a:uLnTx/>
                <a:uFillTx/>
                <a:latin typeface="+mn-lt"/>
              </a:rPr>
              <a:t>For full 3D cases other locations could have been extracted if a XY plane was first created</a:t>
            </a:r>
          </a:p>
          <a:p>
            <a:pPr marL="381000" marR="0" lvl="0" indent="-381000" algn="l" defTabSz="914400" rtl="0" eaLnBrk="1" fontAlgn="base" latinLnBrk="0" hangingPunct="1">
              <a:lnSpc>
                <a:spcPct val="100000"/>
              </a:lnSpc>
              <a:spcBef>
                <a:spcPct val="20000"/>
              </a:spcBef>
              <a:spcAft>
                <a:spcPct val="0"/>
              </a:spcAft>
              <a:buClr>
                <a:srgbClr val="16707C"/>
              </a:buClr>
              <a:buSzTx/>
              <a:buFontTx/>
              <a:buAutoNum type="arabicPeriod"/>
              <a:tabLst/>
              <a:defRPr/>
            </a:pPr>
            <a:endParaRPr kumimoji="0" lang="en-GB" sz="500" b="0" i="1" u="none" strike="noStrike" kern="0" cap="none" spc="0" normalizeH="0" baseline="0" noProof="0" dirty="0" smtClean="0">
              <a:ln>
                <a:noFill/>
              </a:ln>
              <a:solidFill>
                <a:schemeClr val="tx1"/>
              </a:solidFill>
              <a:effectLst/>
              <a:uLnTx/>
              <a:uFillTx/>
              <a:latin typeface="+mn-lt"/>
              <a:ea typeface="+mn-ea"/>
              <a:cs typeface="+mn-cs"/>
            </a:endParaRPr>
          </a:p>
          <a:p>
            <a:pPr marL="381000" marR="0" lvl="0" indent="-381000" algn="l" defTabSz="914400" rtl="0" eaLnBrk="1" fontAlgn="base" latinLnBrk="0" hangingPunct="1">
              <a:lnSpc>
                <a:spcPct val="100000"/>
              </a:lnSpc>
              <a:spcBef>
                <a:spcPct val="20000"/>
              </a:spcBef>
              <a:spcAft>
                <a:spcPct val="0"/>
              </a:spcAft>
              <a:buClr>
                <a:srgbClr val="16707C"/>
              </a:buClr>
              <a:buSzTx/>
              <a:buFontTx/>
              <a:buNone/>
              <a:tabLst/>
              <a:defRPr/>
            </a:pPr>
            <a:endParaRPr kumimoji="0" lang="en-GB" sz="20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GB" dirty="0" smtClean="0"/>
              <a:t>CFD-Post</a:t>
            </a:r>
          </a:p>
        </p:txBody>
      </p:sp>
      <p:sp>
        <p:nvSpPr>
          <p:cNvPr id="27651" name="Content Placeholder 2"/>
          <p:cNvSpPr>
            <a:spLocks noGrp="1"/>
          </p:cNvSpPr>
          <p:nvPr>
            <p:ph idx="1"/>
          </p:nvPr>
        </p:nvSpPr>
        <p:spPr>
          <a:xfrm>
            <a:off x="180975" y="935038"/>
            <a:ext cx="8468503" cy="5553075"/>
          </a:xfrm>
        </p:spPr>
        <p:txBody>
          <a:bodyPr/>
          <a:lstStyle/>
          <a:p>
            <a:pPr marL="381000" indent="-381000" eaLnBrk="1" hangingPunct="1">
              <a:buFontTx/>
              <a:buNone/>
            </a:pPr>
            <a:r>
              <a:rPr lang="en-GB" sz="1800" b="0" dirty="0" smtClean="0"/>
              <a:t>	</a:t>
            </a:r>
          </a:p>
          <a:p>
            <a:pPr marL="381000" indent="-381000" eaLnBrk="1" hangingPunct="1">
              <a:buFontTx/>
              <a:buNone/>
            </a:pPr>
            <a:r>
              <a:rPr lang="en-GB" sz="1800" b="0" dirty="0" smtClean="0"/>
              <a:t>	</a:t>
            </a:r>
            <a:endParaRPr lang="en-GB" sz="500" b="0" i="1" dirty="0" smtClean="0"/>
          </a:p>
          <a:p>
            <a:pPr marL="381000" indent="-381000" eaLnBrk="1" hangingPunct="1">
              <a:buNone/>
            </a:pPr>
            <a:r>
              <a:rPr lang="en-GB" sz="1600" b="0" i="1" dirty="0" smtClean="0">
                <a:solidFill>
                  <a:schemeClr val="accent5">
                    <a:lumMod val="50000"/>
                  </a:schemeClr>
                </a:solidFill>
              </a:rPr>
              <a:t>4.</a:t>
            </a:r>
            <a:r>
              <a:rPr lang="en-GB" sz="1600" b="0" i="1" dirty="0" smtClean="0"/>
              <a:t>	Move to the Variables tab </a:t>
            </a:r>
            <a:r>
              <a:rPr lang="en-GB" sz="1600" b="0" dirty="0" smtClean="0"/>
              <a:t>and enter a variable </a:t>
            </a:r>
            <a:r>
              <a:rPr lang="en-GB" sz="1600" b="0" dirty="0" err="1" smtClean="0"/>
              <a:t>My</a:t>
            </a:r>
            <a:r>
              <a:rPr lang="en-GB" sz="1600" b="0" i="1" dirty="0" err="1" smtClean="0"/>
              <a:t>CP</a:t>
            </a:r>
            <a:endParaRPr lang="en-GB" sz="1600" b="0" dirty="0" smtClean="0"/>
          </a:p>
          <a:p>
            <a:pPr marL="781050" lvl="1" indent="-381000" eaLnBrk="1" hangingPunct="1">
              <a:buNone/>
            </a:pPr>
            <a:r>
              <a:rPr lang="en-GB" sz="1400" b="0" dirty="0" smtClean="0"/>
              <a:t>- 	Set the </a:t>
            </a:r>
            <a:r>
              <a:rPr lang="en-GB" sz="1400" b="0" i="1" dirty="0" smtClean="0"/>
              <a:t>Method</a:t>
            </a:r>
            <a:r>
              <a:rPr lang="en-GB" sz="1400" b="0" dirty="0" smtClean="0"/>
              <a:t> to </a:t>
            </a:r>
            <a:r>
              <a:rPr lang="en-GB" sz="1400" b="0" i="1" dirty="0" smtClean="0"/>
              <a:t>Expression</a:t>
            </a:r>
            <a:r>
              <a:rPr lang="en-GB" sz="1400" b="0" dirty="0" smtClean="0"/>
              <a:t> and select </a:t>
            </a:r>
            <a:r>
              <a:rPr lang="en-GB" sz="1400" b="0" i="1" dirty="0" smtClean="0"/>
              <a:t>CP</a:t>
            </a:r>
            <a:endParaRPr lang="en-GB" sz="1400" b="0" dirty="0" smtClean="0"/>
          </a:p>
          <a:p>
            <a:pPr marL="381000" indent="-381000" eaLnBrk="1" hangingPunct="1">
              <a:buFontTx/>
              <a:buAutoNum type="arabicPeriod"/>
            </a:pPr>
            <a:endParaRPr lang="en-GB" b="0" dirty="0" smtClean="0"/>
          </a:p>
          <a:p>
            <a:pPr marL="381000" indent="-381000" eaLnBrk="1" hangingPunct="1">
              <a:buFontTx/>
              <a:buNone/>
            </a:pPr>
            <a:endParaRPr lang="en-GB" b="0" dirty="0" smtClean="0"/>
          </a:p>
        </p:txBody>
      </p:sp>
      <p:pic>
        <p:nvPicPr>
          <p:cNvPr id="40962" name="Picture 2"/>
          <p:cNvPicPr>
            <a:picLocks noChangeAspect="1" noChangeArrowheads="1"/>
          </p:cNvPicPr>
          <p:nvPr/>
        </p:nvPicPr>
        <p:blipFill>
          <a:blip r:embed="rId2" cstate="print"/>
          <a:srcRect/>
          <a:stretch>
            <a:fillRect/>
          </a:stretch>
        </p:blipFill>
        <p:spPr bwMode="auto">
          <a:xfrm>
            <a:off x="2352677" y="2202999"/>
            <a:ext cx="2676525" cy="3838575"/>
          </a:xfrm>
          <a:prstGeom prst="rect">
            <a:avLst/>
          </a:prstGeom>
          <a:noFill/>
          <a:ln w="9525">
            <a:noFill/>
            <a:miter lim="800000"/>
            <a:headEnd/>
            <a:tailEnd/>
          </a:ln>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GB" dirty="0" smtClean="0"/>
              <a:t>CFD-Post</a:t>
            </a:r>
          </a:p>
        </p:txBody>
      </p:sp>
      <p:sp>
        <p:nvSpPr>
          <p:cNvPr id="28675" name="Content Placeholder 2"/>
          <p:cNvSpPr>
            <a:spLocks noGrp="1"/>
          </p:cNvSpPr>
          <p:nvPr>
            <p:ph idx="1"/>
          </p:nvPr>
        </p:nvSpPr>
        <p:spPr>
          <a:xfrm>
            <a:off x="180975" y="935038"/>
            <a:ext cx="6406438" cy="5553075"/>
          </a:xfrm>
        </p:spPr>
        <p:txBody>
          <a:bodyPr/>
          <a:lstStyle/>
          <a:p>
            <a:pPr marL="457200" indent="-457200" eaLnBrk="1" hangingPunct="1">
              <a:buFontTx/>
              <a:buNone/>
            </a:pPr>
            <a:r>
              <a:rPr lang="en-GB" sz="1600" b="0" dirty="0" smtClean="0"/>
              <a:t>	</a:t>
            </a:r>
          </a:p>
          <a:p>
            <a:pPr marL="457200" indent="-457200" eaLnBrk="1" hangingPunct="1">
              <a:buFontTx/>
              <a:buNone/>
            </a:pPr>
            <a:r>
              <a:rPr lang="en-GB" sz="1600" b="0" dirty="0" smtClean="0"/>
              <a:t>	 </a:t>
            </a:r>
            <a:r>
              <a:rPr lang="en-GB" dirty="0" smtClean="0"/>
              <a:t>A chart showing the pressure distribution around the airfoil will now be created</a:t>
            </a:r>
          </a:p>
          <a:p>
            <a:pPr marL="457200" indent="-457200" eaLnBrk="1" hangingPunct="1">
              <a:buFontTx/>
              <a:buNone/>
            </a:pPr>
            <a:endParaRPr lang="en-GB" sz="1000" b="0" dirty="0" smtClean="0"/>
          </a:p>
          <a:p>
            <a:pPr marL="457200" indent="-457200" eaLnBrk="1" hangingPunct="1">
              <a:buFontTx/>
              <a:buAutoNum type="arabicPeriod"/>
            </a:pPr>
            <a:r>
              <a:rPr lang="en-GB" sz="1600" b="0" dirty="0" smtClean="0"/>
              <a:t>Insert a chart using </a:t>
            </a:r>
            <a:r>
              <a:rPr lang="en-GB" sz="1600" b="0" i="1" dirty="0" smtClean="0"/>
              <a:t>Insert&gt;Chart </a:t>
            </a:r>
            <a:r>
              <a:rPr lang="en-GB" sz="1600" b="0" dirty="0" smtClean="0"/>
              <a:t>or selecting      .</a:t>
            </a:r>
          </a:p>
          <a:p>
            <a:pPr marL="857250" lvl="1" indent="-457200" eaLnBrk="1" hangingPunct="1">
              <a:buFontTx/>
              <a:buAutoNum type="arabicPeriod"/>
            </a:pPr>
            <a:r>
              <a:rPr lang="en-GB" sz="1400" b="0" dirty="0" smtClean="0"/>
              <a:t>In the </a:t>
            </a:r>
            <a:r>
              <a:rPr lang="en-GB" sz="1400" b="0" i="1" dirty="0" smtClean="0"/>
              <a:t>General</a:t>
            </a:r>
            <a:r>
              <a:rPr lang="en-GB" sz="1400" b="0" dirty="0" smtClean="0"/>
              <a:t> tab leave the type as </a:t>
            </a:r>
            <a:r>
              <a:rPr lang="en-GB" sz="1400" b="0" i="1" dirty="0" smtClean="0"/>
              <a:t>XY</a:t>
            </a:r>
            <a:endParaRPr lang="en-GB" sz="1400" b="0" dirty="0" smtClean="0"/>
          </a:p>
          <a:p>
            <a:pPr marL="857250" lvl="1" indent="-457200" eaLnBrk="1" hangingPunct="1">
              <a:buFontTx/>
              <a:buAutoNum type="arabicPeriod"/>
            </a:pPr>
            <a:r>
              <a:rPr lang="en-GB" sz="1400" b="0" dirty="0" smtClean="0"/>
              <a:t>Move to the </a:t>
            </a:r>
            <a:r>
              <a:rPr lang="en-GB" sz="1400" b="0" i="1" dirty="0" smtClean="0"/>
              <a:t>Data Series</a:t>
            </a:r>
            <a:r>
              <a:rPr lang="en-GB" sz="1400" b="0" dirty="0" smtClean="0"/>
              <a:t> tab and enter a new series</a:t>
            </a:r>
          </a:p>
          <a:p>
            <a:pPr marL="857250" lvl="1" indent="-457200" eaLnBrk="1" hangingPunct="1">
              <a:buNone/>
            </a:pPr>
            <a:r>
              <a:rPr lang="en-GB" sz="1400" b="0" dirty="0" smtClean="0"/>
              <a:t>	- Set the location to </a:t>
            </a:r>
            <a:r>
              <a:rPr lang="en-GB" sz="1400" b="0" i="1" dirty="0" err="1" smtClean="0"/>
              <a:t>Polyline</a:t>
            </a:r>
            <a:r>
              <a:rPr lang="en-GB" sz="1400" b="0" i="1" dirty="0" smtClean="0"/>
              <a:t> 1</a:t>
            </a:r>
            <a:endParaRPr lang="en-GB" sz="1400" b="0" dirty="0" smtClean="0"/>
          </a:p>
          <a:p>
            <a:pPr marL="857250" lvl="1" indent="-457200" eaLnBrk="1" hangingPunct="1">
              <a:buFontTx/>
              <a:buAutoNum type="arabicPeriod"/>
            </a:pPr>
            <a:r>
              <a:rPr lang="en-GB" sz="1400" b="0" dirty="0" smtClean="0"/>
              <a:t>Move to the </a:t>
            </a:r>
            <a:r>
              <a:rPr lang="en-GB" sz="1400" b="0" i="1" dirty="0" smtClean="0"/>
              <a:t>X Axis</a:t>
            </a:r>
            <a:r>
              <a:rPr lang="en-GB" sz="1400" b="0" dirty="0" smtClean="0"/>
              <a:t> tab and change the variable to </a:t>
            </a:r>
            <a:r>
              <a:rPr lang="en-GB" sz="1400" b="0" i="1" dirty="0" smtClean="0"/>
              <a:t>X</a:t>
            </a:r>
            <a:endParaRPr lang="en-GB" sz="1400" b="0" dirty="0" smtClean="0"/>
          </a:p>
          <a:p>
            <a:pPr marL="857250" lvl="1" indent="-457200" eaLnBrk="1" hangingPunct="1">
              <a:buFontTx/>
              <a:buAutoNum type="arabicPeriod"/>
            </a:pPr>
            <a:r>
              <a:rPr lang="en-GB" sz="1400" b="0" dirty="0" smtClean="0"/>
              <a:t>Move to the </a:t>
            </a:r>
            <a:r>
              <a:rPr lang="en-GB" sz="1400" b="0" i="1" dirty="0" smtClean="0"/>
              <a:t>Y Axis</a:t>
            </a:r>
            <a:r>
              <a:rPr lang="en-GB" sz="1400" b="0" dirty="0" smtClean="0"/>
              <a:t> tab and change the variable to </a:t>
            </a:r>
            <a:r>
              <a:rPr lang="en-GB" sz="1400" b="0" dirty="0" err="1" smtClean="0"/>
              <a:t>My</a:t>
            </a:r>
            <a:r>
              <a:rPr lang="en-GB" sz="1400" b="0" i="1" dirty="0" err="1" smtClean="0"/>
              <a:t>Cp</a:t>
            </a:r>
            <a:endParaRPr lang="en-GB" sz="1400" b="0" dirty="0" smtClean="0"/>
          </a:p>
          <a:p>
            <a:pPr marL="857250" lvl="1" indent="-457200" eaLnBrk="1" hangingPunct="1">
              <a:buNone/>
            </a:pPr>
            <a:r>
              <a:rPr lang="en-GB" sz="1400" b="0" dirty="0" smtClean="0"/>
              <a:t>	- Invert Axis selected</a:t>
            </a:r>
          </a:p>
          <a:p>
            <a:pPr marL="857250" lvl="1" indent="-457200" eaLnBrk="1" hangingPunct="1">
              <a:buFontTx/>
              <a:buAutoNum type="arabicPeriod"/>
            </a:pPr>
            <a:r>
              <a:rPr lang="en-GB" sz="1400" b="0" dirty="0" smtClean="0"/>
              <a:t>Click </a:t>
            </a:r>
            <a:r>
              <a:rPr lang="en-GB" sz="1400" b="0" i="1" dirty="0" smtClean="0"/>
              <a:t>Apply</a:t>
            </a:r>
            <a:r>
              <a:rPr lang="en-GB" sz="1400" b="0" dirty="0" smtClean="0"/>
              <a:t> and the chart is generated</a:t>
            </a:r>
          </a:p>
          <a:p>
            <a:pPr marL="457200" indent="-457200" eaLnBrk="1" hangingPunct="1">
              <a:buFontTx/>
              <a:buNone/>
            </a:pPr>
            <a:endParaRPr lang="en-GB" sz="1600" b="0" dirty="0" smtClean="0"/>
          </a:p>
          <a:p>
            <a:pPr marL="457200" indent="-457200" eaLnBrk="1" hangingPunct="1">
              <a:buFontTx/>
              <a:buNone/>
            </a:pPr>
            <a:r>
              <a:rPr lang="en-GB" sz="1600" b="0" dirty="0" smtClean="0"/>
              <a:t>	</a:t>
            </a:r>
            <a:r>
              <a:rPr lang="en-GB" sz="1600" dirty="0" smtClean="0"/>
              <a:t>These values can be compared with experimental results</a:t>
            </a:r>
          </a:p>
          <a:p>
            <a:pPr marL="457200" indent="-457200" eaLnBrk="1" hangingPunct="1">
              <a:buFontTx/>
              <a:buNone/>
            </a:pPr>
            <a:endParaRPr lang="en-GB" sz="500" b="0" dirty="0" smtClean="0"/>
          </a:p>
          <a:p>
            <a:pPr marL="457200" indent="-457200" eaLnBrk="1" hangingPunct="1">
              <a:buFontTx/>
              <a:buAutoNum type="arabicPeriod"/>
            </a:pPr>
            <a:r>
              <a:rPr lang="en-GB" sz="1600" b="0" dirty="0" smtClean="0"/>
              <a:t>Return to the </a:t>
            </a:r>
            <a:r>
              <a:rPr lang="en-GB" sz="1600" b="0" i="1" dirty="0" smtClean="0"/>
              <a:t>Data Series</a:t>
            </a:r>
            <a:r>
              <a:rPr lang="en-GB" sz="1600" b="0" dirty="0" smtClean="0"/>
              <a:t> tab and change the name to </a:t>
            </a:r>
            <a:r>
              <a:rPr lang="en-GB" sz="1600" b="0" i="1" dirty="0" smtClean="0"/>
              <a:t>FLUENT</a:t>
            </a:r>
            <a:endParaRPr lang="en-GB" sz="1600" b="0" dirty="0" smtClean="0"/>
          </a:p>
          <a:p>
            <a:pPr marL="457200" indent="-457200" eaLnBrk="1" hangingPunct="1">
              <a:buFontTx/>
              <a:buAutoNum type="arabicPeriod"/>
            </a:pPr>
            <a:r>
              <a:rPr lang="en-GB" sz="1600" b="0" dirty="0" smtClean="0"/>
              <a:t>Insert a new series and give it the name </a:t>
            </a:r>
            <a:r>
              <a:rPr lang="en-GB" sz="1600" b="0" i="1" dirty="0" smtClean="0"/>
              <a:t>Experiment</a:t>
            </a:r>
            <a:endParaRPr lang="en-GB" sz="1600" b="0" dirty="0" smtClean="0"/>
          </a:p>
          <a:p>
            <a:pPr marL="457200" indent="-457200" eaLnBrk="1" hangingPunct="1">
              <a:buFontTx/>
              <a:buAutoNum type="arabicPeriod"/>
            </a:pPr>
            <a:r>
              <a:rPr lang="en-GB" sz="1600" b="0" dirty="0" smtClean="0"/>
              <a:t>Change the </a:t>
            </a:r>
            <a:r>
              <a:rPr lang="en-GB" sz="1600" b="0" i="1" dirty="0" smtClean="0"/>
              <a:t>Data Source</a:t>
            </a:r>
            <a:r>
              <a:rPr lang="en-GB" sz="1600" b="0" dirty="0" smtClean="0"/>
              <a:t> to File and select </a:t>
            </a:r>
            <a:r>
              <a:rPr lang="en-GB" sz="1600" b="0" i="1" dirty="0" smtClean="0">
                <a:solidFill>
                  <a:schemeClr val="accent6"/>
                </a:solidFill>
              </a:rPr>
              <a:t>ExperimentalData.csv</a:t>
            </a:r>
          </a:p>
          <a:p>
            <a:pPr marL="457200" indent="-457200" eaLnBrk="1" hangingPunct="1">
              <a:buFontTx/>
              <a:buAutoNum type="arabicPeriod"/>
            </a:pPr>
            <a:r>
              <a:rPr lang="en-GB" sz="1600" b="0" dirty="0" smtClean="0"/>
              <a:t>Click </a:t>
            </a:r>
            <a:r>
              <a:rPr lang="en-GB" sz="1600" b="0" i="1" dirty="0" smtClean="0"/>
              <a:t>Apply</a:t>
            </a:r>
            <a:r>
              <a:rPr lang="en-GB" sz="1600" b="0" dirty="0" smtClean="0"/>
              <a:t> and both lines are drawn</a:t>
            </a:r>
          </a:p>
          <a:p>
            <a:pPr marL="457200" indent="-457200" eaLnBrk="1" hangingPunct="1">
              <a:buFontTx/>
              <a:buNone/>
            </a:pPr>
            <a:endParaRPr lang="en-GB" sz="1000" b="0" dirty="0" smtClean="0"/>
          </a:p>
          <a:p>
            <a:pPr marL="457200" indent="-457200" eaLnBrk="1" hangingPunct="1">
              <a:buFontTx/>
              <a:buNone/>
            </a:pPr>
            <a:endParaRPr lang="en-GB" b="0" dirty="0" smtClean="0"/>
          </a:p>
        </p:txBody>
      </p:sp>
      <p:pic>
        <p:nvPicPr>
          <p:cNvPr id="28676" name="Picture 3" descr="chart.JPG"/>
          <p:cNvPicPr>
            <a:picLocks noChangeAspect="1"/>
          </p:cNvPicPr>
          <p:nvPr/>
        </p:nvPicPr>
        <p:blipFill>
          <a:blip r:embed="rId2" cstate="print"/>
          <a:srcRect/>
          <a:stretch>
            <a:fillRect/>
          </a:stretch>
        </p:blipFill>
        <p:spPr bwMode="auto">
          <a:xfrm>
            <a:off x="312576" y="1817688"/>
            <a:ext cx="225425" cy="217487"/>
          </a:xfrm>
          <a:prstGeom prst="rect">
            <a:avLst/>
          </a:prstGeom>
          <a:noFill/>
          <a:ln w="9525">
            <a:noFill/>
            <a:miter lim="800000"/>
            <a:headEnd/>
            <a:tailEnd/>
          </a:ln>
        </p:spPr>
      </p:pic>
      <p:pic>
        <p:nvPicPr>
          <p:cNvPr id="39938" name="Picture 2"/>
          <p:cNvPicPr>
            <a:picLocks noChangeAspect="1" noChangeArrowheads="1"/>
          </p:cNvPicPr>
          <p:nvPr/>
        </p:nvPicPr>
        <p:blipFill>
          <a:blip r:embed="rId3" cstate="print"/>
          <a:srcRect/>
          <a:stretch>
            <a:fillRect/>
          </a:stretch>
        </p:blipFill>
        <p:spPr bwMode="auto">
          <a:xfrm>
            <a:off x="5863249" y="1551020"/>
            <a:ext cx="3144348" cy="2909012"/>
          </a:xfrm>
          <a:prstGeom prst="rect">
            <a:avLst/>
          </a:prstGeom>
          <a:noFill/>
          <a:ln w="9525">
            <a:solidFill>
              <a:schemeClr val="tx1"/>
            </a:solidFill>
            <a:miter lim="800000"/>
            <a:headEnd/>
            <a:tailEnd/>
          </a:ln>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0" y="419100"/>
            <a:ext cx="6934200" cy="438150"/>
          </a:xfrm>
        </p:spPr>
        <p:txBody>
          <a:bodyPr/>
          <a:lstStyle/>
          <a:p>
            <a:pPr eaLnBrk="1" hangingPunct="1"/>
            <a:r>
              <a:rPr lang="en-GB" dirty="0" smtClean="0"/>
              <a:t>Summary	</a:t>
            </a:r>
            <a:endParaRPr lang="en-US" dirty="0" smtClean="0"/>
          </a:p>
        </p:txBody>
      </p:sp>
      <p:sp>
        <p:nvSpPr>
          <p:cNvPr id="49155" name="Rectangle 3"/>
          <p:cNvSpPr>
            <a:spLocks noGrp="1" noChangeArrowheads="1"/>
          </p:cNvSpPr>
          <p:nvPr>
            <p:ph type="body" idx="4294967295"/>
          </p:nvPr>
        </p:nvSpPr>
        <p:spPr>
          <a:xfrm>
            <a:off x="121920" y="935038"/>
            <a:ext cx="8782050" cy="5553075"/>
          </a:xfrm>
        </p:spPr>
        <p:txBody>
          <a:bodyPr/>
          <a:lstStyle/>
          <a:p>
            <a:pPr algn="just" eaLnBrk="1" hangingPunct="1"/>
            <a:endParaRPr lang="en-GB" dirty="0" smtClean="0"/>
          </a:p>
          <a:p>
            <a:pPr algn="just" eaLnBrk="1" hangingPunct="1"/>
            <a:r>
              <a:rPr lang="en-GB" dirty="0" smtClean="0"/>
              <a:t>In this tutorial we have used FLUENT to compute the transonic, compressible flow over a RAE 2822 airfoil</a:t>
            </a:r>
          </a:p>
          <a:p>
            <a:pPr algn="just" eaLnBrk="1" hangingPunct="1"/>
            <a:endParaRPr lang="en-GB" sz="1000" dirty="0" smtClean="0"/>
          </a:p>
          <a:p>
            <a:pPr algn="just" eaLnBrk="1" hangingPunct="1"/>
            <a:r>
              <a:rPr lang="en-GB" dirty="0" smtClean="0"/>
              <a:t>We have used the density based solver with solution steering</a:t>
            </a:r>
          </a:p>
          <a:p>
            <a:pPr algn="just" eaLnBrk="1" hangingPunct="1">
              <a:buNone/>
            </a:pPr>
            <a:endParaRPr lang="en-GB" sz="1000" dirty="0" smtClean="0"/>
          </a:p>
          <a:p>
            <a:pPr algn="just" eaLnBrk="1" hangingPunct="1"/>
            <a:r>
              <a:rPr lang="en-GB" dirty="0" smtClean="0"/>
              <a:t>We have seen how FLUENT can be linked to CFD Post, and we have explored some of the features within CFD Post</a:t>
            </a:r>
          </a:p>
          <a:p>
            <a:pPr algn="just" eaLnBrk="1" hangingPunct="1"/>
            <a:endParaRPr lang="en-GB" sz="1000" dirty="0" smtClean="0"/>
          </a:p>
          <a:p>
            <a:pPr algn="just" eaLnBrk="1" hangingPunct="1"/>
            <a:r>
              <a:rPr lang="en-GB" dirty="0" smtClean="0"/>
              <a:t>We have compared the results to published experimental data</a:t>
            </a:r>
          </a:p>
          <a:p>
            <a:pPr algn="just" eaLnBrk="1" hangingPunct="1"/>
            <a:endParaRPr lang="en-GB" sz="1000" dirty="0" smtClean="0"/>
          </a:p>
          <a:p>
            <a:pPr algn="just" eaLnBrk="1" hangingPunct="1"/>
            <a:r>
              <a:rPr lang="en-GB" dirty="0" smtClean="0"/>
              <a:t>Next step could be to use medium and fine mesh – Grid dependency of solution?</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0" y="419100"/>
            <a:ext cx="6934200" cy="438150"/>
          </a:xfrm>
        </p:spPr>
        <p:txBody>
          <a:bodyPr/>
          <a:lstStyle/>
          <a:p>
            <a:pPr eaLnBrk="1" hangingPunct="1"/>
            <a:r>
              <a:rPr lang="en-GB" dirty="0" smtClean="0"/>
              <a:t>References</a:t>
            </a:r>
            <a:endParaRPr lang="en-US" dirty="0" smtClean="0"/>
          </a:p>
        </p:txBody>
      </p:sp>
      <p:sp>
        <p:nvSpPr>
          <p:cNvPr id="50179" name="Rectangle 3"/>
          <p:cNvSpPr>
            <a:spLocks noGrp="1" noChangeArrowheads="1"/>
          </p:cNvSpPr>
          <p:nvPr>
            <p:ph type="body" idx="4294967295"/>
          </p:nvPr>
        </p:nvSpPr>
        <p:spPr>
          <a:xfrm>
            <a:off x="0" y="935038"/>
            <a:ext cx="8782050" cy="5553075"/>
          </a:xfrm>
        </p:spPr>
        <p:txBody>
          <a:bodyPr/>
          <a:lstStyle/>
          <a:p>
            <a:pPr lvl="0"/>
            <a:endParaRPr lang="en-US" dirty="0" smtClean="0"/>
          </a:p>
          <a:p>
            <a:pPr lvl="0"/>
            <a:r>
              <a:rPr lang="en-US" dirty="0" smtClean="0"/>
              <a:t>AGARD 138; Test Case 13A</a:t>
            </a:r>
          </a:p>
          <a:p>
            <a:pPr lvl="1"/>
            <a:r>
              <a:rPr lang="en-US" sz="1600" b="0" dirty="0" smtClean="0"/>
              <a:t>Airfoil RAE 2822 – Pressure distributions and boundary layer and wake measurements; Cook, McDonald, </a:t>
            </a:r>
            <a:r>
              <a:rPr lang="en-US" sz="1600" b="0" dirty="0" err="1" smtClean="0"/>
              <a:t>Firmin</a:t>
            </a:r>
            <a:endParaRPr lang="en-US" sz="1600" b="0" dirty="0" smtClean="0"/>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70"/>
          <p:cNvSpPr>
            <a:spLocks noGrp="1" noChangeArrowheads="1"/>
          </p:cNvSpPr>
          <p:nvPr>
            <p:ph type="ctrTitle"/>
          </p:nvPr>
        </p:nvSpPr>
        <p:spPr/>
        <p:txBody>
          <a:bodyPr/>
          <a:lstStyle/>
          <a:p>
            <a:r>
              <a:rPr lang="en-US" dirty="0" smtClean="0"/>
              <a:t>Appendix: Post-Processing</a:t>
            </a:r>
            <a:br>
              <a:rPr lang="en-US" dirty="0" smtClean="0"/>
            </a:br>
            <a:r>
              <a:rPr lang="en-US" dirty="0" smtClean="0"/>
              <a:t>FLUENT</a:t>
            </a:r>
          </a:p>
        </p:txBody>
      </p:sp>
      <p:sp>
        <p:nvSpPr>
          <p:cNvPr id="4" name="Subtitle 3"/>
          <p:cNvSpPr>
            <a:spLocks noGrp="1"/>
          </p:cNvSpPr>
          <p:nvPr>
            <p:ph type="subTitle" idx="1"/>
          </p:nvPr>
        </p:nvSpPr>
        <p:spPr/>
        <p:txBody>
          <a:bodyPr/>
          <a:lstStyle/>
          <a:p>
            <a:endParaRPr lang="de-DE"/>
          </a:p>
        </p:txBody>
      </p:sp>
    </p:spTree>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6"/>
          <p:cNvSpPr>
            <a:spLocks noGrp="1" noChangeArrowheads="1"/>
          </p:cNvSpPr>
          <p:nvPr>
            <p:ph type="title"/>
          </p:nvPr>
        </p:nvSpPr>
        <p:spPr/>
        <p:txBody>
          <a:bodyPr/>
          <a:lstStyle/>
          <a:p>
            <a:pPr eaLnBrk="1" hangingPunct="1"/>
            <a:r>
              <a:rPr lang="en-GB" dirty="0" smtClean="0"/>
              <a:t>Post Processing [FLUENT]</a:t>
            </a:r>
            <a:endParaRPr lang="en-US" dirty="0" smtClean="0"/>
          </a:p>
        </p:txBody>
      </p:sp>
      <p:sp>
        <p:nvSpPr>
          <p:cNvPr id="34819" name="Rectangle 17"/>
          <p:cNvSpPr>
            <a:spLocks noGrp="1" noChangeArrowheads="1"/>
          </p:cNvSpPr>
          <p:nvPr>
            <p:ph idx="1"/>
          </p:nvPr>
        </p:nvSpPr>
        <p:spPr/>
        <p:txBody>
          <a:bodyPr/>
          <a:lstStyle/>
          <a:p>
            <a:pPr eaLnBrk="1" hangingPunct="1"/>
            <a:endParaRPr lang="en-GB" sz="1000" dirty="0" smtClean="0"/>
          </a:p>
          <a:p>
            <a:pPr eaLnBrk="1" hangingPunct="1"/>
            <a:r>
              <a:rPr lang="en-GB" dirty="0" smtClean="0"/>
              <a:t>Select ‘Graphics and Animations’ in the LHS menu</a:t>
            </a:r>
          </a:p>
          <a:p>
            <a:pPr eaLnBrk="1" hangingPunct="1"/>
            <a:r>
              <a:rPr lang="en-GB" dirty="0" smtClean="0"/>
              <a:t>Examine the contours of static pressure.</a:t>
            </a:r>
          </a:p>
          <a:p>
            <a:pPr lvl="1" eaLnBrk="1" hangingPunct="1"/>
            <a:r>
              <a:rPr lang="en-GB" sz="1600" b="0" dirty="0" smtClean="0"/>
              <a:t>Turn off ‘Filled’ to just display the </a:t>
            </a:r>
            <a:br>
              <a:rPr lang="en-GB" sz="1600" b="0" dirty="0" smtClean="0"/>
            </a:br>
            <a:r>
              <a:rPr lang="en-GB" sz="1600" b="0" dirty="0" smtClean="0"/>
              <a:t>contour lines</a:t>
            </a:r>
          </a:p>
          <a:p>
            <a:pPr lvl="1" eaLnBrk="1" hangingPunct="1"/>
            <a:r>
              <a:rPr lang="en-GB" sz="1600" b="0" dirty="0" smtClean="0"/>
              <a:t>Adjust the Levels to increase the </a:t>
            </a:r>
            <a:br>
              <a:rPr lang="en-GB" sz="1600" b="0" dirty="0" smtClean="0"/>
            </a:br>
            <a:r>
              <a:rPr lang="en-GB" sz="1600" b="0" dirty="0" smtClean="0"/>
              <a:t>number of contour lines</a:t>
            </a:r>
          </a:p>
          <a:p>
            <a:pPr eaLnBrk="1" hangingPunct="1"/>
            <a:endParaRPr lang="en-US" sz="1800" dirty="0" smtClean="0"/>
          </a:p>
        </p:txBody>
      </p:sp>
      <p:sp>
        <p:nvSpPr>
          <p:cNvPr id="34829" name="TextBox 15"/>
          <p:cNvSpPr txBox="1">
            <a:spLocks noChangeArrowheads="1"/>
          </p:cNvSpPr>
          <p:nvPr/>
        </p:nvSpPr>
        <p:spPr bwMode="auto">
          <a:xfrm>
            <a:off x="5486400" y="1725613"/>
            <a:ext cx="3516313" cy="1168400"/>
          </a:xfrm>
          <a:prstGeom prst="rect">
            <a:avLst/>
          </a:prstGeom>
          <a:noFill/>
          <a:ln w="9525">
            <a:noFill/>
            <a:miter lim="800000"/>
            <a:headEnd/>
            <a:tailEnd/>
          </a:ln>
        </p:spPr>
        <p:txBody>
          <a:bodyPr>
            <a:spAutoFit/>
          </a:bodyPr>
          <a:lstStyle/>
          <a:p>
            <a:pPr algn="just" eaLnBrk="0" hangingPunct="0"/>
            <a:r>
              <a:rPr lang="en-GB" sz="1400" b="0"/>
              <a:t>The contour will display in the active window (click a window to activate). Alternatively, use the drop down menu to return the display to a single window as shown here</a:t>
            </a:r>
            <a:endParaRPr lang="en-US" sz="1400" b="0"/>
          </a:p>
        </p:txBody>
      </p:sp>
      <p:grpSp>
        <p:nvGrpSpPr>
          <p:cNvPr id="17" name="Group 16"/>
          <p:cNvGrpSpPr/>
          <p:nvPr/>
        </p:nvGrpSpPr>
        <p:grpSpPr>
          <a:xfrm>
            <a:off x="126838" y="2852738"/>
            <a:ext cx="8964612" cy="3437377"/>
            <a:chOff x="179388" y="2852738"/>
            <a:chExt cx="8964612" cy="3437377"/>
          </a:xfrm>
        </p:grpSpPr>
        <p:pic>
          <p:nvPicPr>
            <p:cNvPr id="25602" name="Picture 2"/>
            <p:cNvPicPr>
              <a:picLocks noChangeAspect="1" noChangeArrowheads="1"/>
            </p:cNvPicPr>
            <p:nvPr/>
          </p:nvPicPr>
          <p:blipFill>
            <a:blip r:embed="rId2" cstate="print"/>
            <a:srcRect l="4138" b="44828"/>
            <a:stretch>
              <a:fillRect/>
            </a:stretch>
          </p:blipFill>
          <p:spPr bwMode="auto">
            <a:xfrm>
              <a:off x="3300248" y="3153103"/>
              <a:ext cx="5843752" cy="2690649"/>
            </a:xfrm>
            <a:prstGeom prst="rect">
              <a:avLst/>
            </a:prstGeom>
            <a:noFill/>
            <a:ln w="9525">
              <a:noFill/>
              <a:miter lim="800000"/>
              <a:headEnd/>
              <a:tailEnd/>
            </a:ln>
          </p:spPr>
        </p:pic>
        <p:pic>
          <p:nvPicPr>
            <p:cNvPr id="16" name="Picture 2"/>
            <p:cNvPicPr>
              <a:picLocks noChangeAspect="1" noChangeArrowheads="1"/>
            </p:cNvPicPr>
            <p:nvPr/>
          </p:nvPicPr>
          <p:blipFill>
            <a:blip r:embed="rId2" cstate="print"/>
            <a:srcRect l="4828" t="55280" r="65431" b="5739"/>
            <a:stretch>
              <a:fillRect/>
            </a:stretch>
          </p:blipFill>
          <p:spPr bwMode="auto">
            <a:xfrm>
              <a:off x="231225" y="3153106"/>
              <a:ext cx="2896857" cy="3037490"/>
            </a:xfrm>
            <a:prstGeom prst="rect">
              <a:avLst/>
            </a:prstGeom>
            <a:noFill/>
            <a:ln w="9525">
              <a:noFill/>
              <a:miter lim="800000"/>
              <a:headEnd/>
              <a:tailEnd/>
            </a:ln>
          </p:spPr>
        </p:pic>
        <p:sp>
          <p:nvSpPr>
            <p:cNvPr id="34822" name="Rectangle 6"/>
            <p:cNvSpPr>
              <a:spLocks noChangeArrowheads="1"/>
            </p:cNvSpPr>
            <p:nvPr/>
          </p:nvSpPr>
          <p:spPr bwMode="auto">
            <a:xfrm>
              <a:off x="3355975" y="4919663"/>
              <a:ext cx="647700" cy="138112"/>
            </a:xfrm>
            <a:prstGeom prst="rect">
              <a:avLst/>
            </a:prstGeom>
            <a:noFill/>
            <a:ln w="28575" algn="ctr">
              <a:solidFill>
                <a:srgbClr val="CC3300"/>
              </a:solidFill>
              <a:round/>
              <a:headEnd/>
              <a:tailEnd/>
            </a:ln>
          </p:spPr>
          <p:txBody>
            <a:bodyPr>
              <a:spAutoFit/>
            </a:bodyPr>
            <a:lstStyle/>
            <a:p>
              <a:pPr algn="ctr" eaLnBrk="0" hangingPunct="0"/>
              <a:endParaRPr lang="en-US"/>
            </a:p>
          </p:txBody>
        </p:sp>
        <p:sp>
          <p:nvSpPr>
            <p:cNvPr id="34823" name="Rectangle 7"/>
            <p:cNvSpPr>
              <a:spLocks noChangeArrowheads="1"/>
            </p:cNvSpPr>
            <p:nvPr/>
          </p:nvSpPr>
          <p:spPr bwMode="auto">
            <a:xfrm>
              <a:off x="4010025" y="3797300"/>
              <a:ext cx="352425" cy="122238"/>
            </a:xfrm>
            <a:prstGeom prst="rect">
              <a:avLst/>
            </a:prstGeom>
            <a:noFill/>
            <a:ln w="28575" algn="ctr">
              <a:solidFill>
                <a:srgbClr val="CC3300"/>
              </a:solidFill>
              <a:round/>
              <a:headEnd/>
              <a:tailEnd/>
            </a:ln>
          </p:spPr>
          <p:txBody>
            <a:bodyPr>
              <a:spAutoFit/>
            </a:bodyPr>
            <a:lstStyle/>
            <a:p>
              <a:pPr algn="ctr" eaLnBrk="0" hangingPunct="0"/>
              <a:endParaRPr lang="en-US"/>
            </a:p>
          </p:txBody>
        </p:sp>
        <p:sp>
          <p:nvSpPr>
            <p:cNvPr id="34824" name="Rectangle 8"/>
            <p:cNvSpPr>
              <a:spLocks noChangeArrowheads="1"/>
            </p:cNvSpPr>
            <p:nvPr/>
          </p:nvSpPr>
          <p:spPr bwMode="auto">
            <a:xfrm>
              <a:off x="4032250" y="4251325"/>
              <a:ext cx="287338" cy="114300"/>
            </a:xfrm>
            <a:prstGeom prst="rect">
              <a:avLst/>
            </a:prstGeom>
            <a:noFill/>
            <a:ln w="28575" algn="ctr">
              <a:solidFill>
                <a:srgbClr val="CC3300"/>
              </a:solidFill>
              <a:round/>
              <a:headEnd/>
              <a:tailEnd/>
            </a:ln>
          </p:spPr>
          <p:txBody>
            <a:bodyPr>
              <a:spAutoFit/>
            </a:bodyPr>
            <a:lstStyle/>
            <a:p>
              <a:pPr algn="ctr" eaLnBrk="0" hangingPunct="0"/>
              <a:endParaRPr lang="en-US"/>
            </a:p>
          </p:txBody>
        </p:sp>
        <p:sp>
          <p:nvSpPr>
            <p:cNvPr id="34825" name="Rectangle 9"/>
            <p:cNvSpPr>
              <a:spLocks noChangeArrowheads="1"/>
            </p:cNvSpPr>
            <p:nvPr/>
          </p:nvSpPr>
          <p:spPr bwMode="auto">
            <a:xfrm>
              <a:off x="1260475" y="3300413"/>
              <a:ext cx="1936750" cy="863600"/>
            </a:xfrm>
            <a:prstGeom prst="rect">
              <a:avLst/>
            </a:prstGeom>
            <a:noFill/>
            <a:ln w="28575" algn="ctr">
              <a:solidFill>
                <a:srgbClr val="CC3300"/>
              </a:solidFill>
              <a:round/>
              <a:headEnd/>
              <a:tailEnd/>
            </a:ln>
          </p:spPr>
          <p:txBody>
            <a:bodyPr>
              <a:spAutoFit/>
            </a:bodyPr>
            <a:lstStyle/>
            <a:p>
              <a:pPr algn="ctr" eaLnBrk="0" hangingPunct="0"/>
              <a:endParaRPr lang="en-US"/>
            </a:p>
          </p:txBody>
        </p:sp>
        <p:sp>
          <p:nvSpPr>
            <p:cNvPr id="34826" name="Rectangle 10"/>
            <p:cNvSpPr>
              <a:spLocks noChangeArrowheads="1"/>
            </p:cNvSpPr>
            <p:nvPr/>
          </p:nvSpPr>
          <p:spPr bwMode="auto">
            <a:xfrm>
              <a:off x="627063" y="5929753"/>
              <a:ext cx="560387" cy="360362"/>
            </a:xfrm>
            <a:prstGeom prst="rect">
              <a:avLst/>
            </a:prstGeom>
            <a:noFill/>
            <a:ln w="28575" algn="ctr">
              <a:solidFill>
                <a:srgbClr val="CC3300"/>
              </a:solidFill>
              <a:round/>
              <a:headEnd/>
              <a:tailEnd/>
            </a:ln>
          </p:spPr>
          <p:txBody>
            <a:bodyPr>
              <a:spAutoFit/>
            </a:bodyPr>
            <a:lstStyle/>
            <a:p>
              <a:pPr algn="ctr" eaLnBrk="0" hangingPunct="0"/>
              <a:endParaRPr lang="en-US"/>
            </a:p>
          </p:txBody>
        </p:sp>
        <p:cxnSp>
          <p:nvCxnSpPr>
            <p:cNvPr id="34827" name="Straight Arrow Connector 12"/>
            <p:cNvCxnSpPr>
              <a:cxnSpLocks noChangeShapeType="1"/>
            </p:cNvCxnSpPr>
            <p:nvPr/>
          </p:nvCxnSpPr>
          <p:spPr bwMode="auto">
            <a:xfrm rot="10800000">
              <a:off x="3240088" y="3811588"/>
              <a:ext cx="763587" cy="455612"/>
            </a:xfrm>
            <a:prstGeom prst="straightConnector1">
              <a:avLst/>
            </a:prstGeom>
            <a:noFill/>
            <a:ln w="28575" algn="ctr">
              <a:solidFill>
                <a:srgbClr val="CC0000"/>
              </a:solidFill>
              <a:round/>
              <a:headEnd/>
              <a:tailEnd type="arrow" w="med" len="med"/>
            </a:ln>
          </p:spPr>
        </p:cxnSp>
        <p:cxnSp>
          <p:nvCxnSpPr>
            <p:cNvPr id="34828" name="Straight Arrow Connector 13"/>
            <p:cNvCxnSpPr>
              <a:cxnSpLocks noChangeShapeType="1"/>
            </p:cNvCxnSpPr>
            <p:nvPr/>
          </p:nvCxnSpPr>
          <p:spPr bwMode="auto">
            <a:xfrm rot="10800000" flipV="1">
              <a:off x="5157405" y="2852738"/>
              <a:ext cx="895350" cy="555625"/>
            </a:xfrm>
            <a:prstGeom prst="straightConnector1">
              <a:avLst/>
            </a:prstGeom>
            <a:noFill/>
            <a:ln w="28575" algn="ctr">
              <a:solidFill>
                <a:srgbClr val="CC0000"/>
              </a:solidFill>
              <a:round/>
              <a:headEnd/>
              <a:tailEnd type="arrow" w="med" len="med"/>
            </a:ln>
          </p:spPr>
        </p:cxnSp>
        <p:sp>
          <p:nvSpPr>
            <p:cNvPr id="34830" name="Rectangle 14"/>
            <p:cNvSpPr>
              <a:spLocks noChangeArrowheads="1"/>
            </p:cNvSpPr>
            <p:nvPr/>
          </p:nvSpPr>
          <p:spPr bwMode="auto">
            <a:xfrm>
              <a:off x="179388" y="4533900"/>
              <a:ext cx="561975" cy="360363"/>
            </a:xfrm>
            <a:prstGeom prst="rect">
              <a:avLst/>
            </a:prstGeom>
            <a:noFill/>
            <a:ln w="28575" algn="ctr">
              <a:solidFill>
                <a:srgbClr val="CC3300"/>
              </a:solidFill>
              <a:round/>
              <a:headEnd/>
              <a:tailEnd/>
            </a:ln>
          </p:spPr>
          <p:txBody>
            <a:bodyPr>
              <a:spAutoFit/>
            </a:bodyPr>
            <a:lstStyle/>
            <a:p>
              <a:pPr algn="ctr" eaLnBrk="0" hangingPunct="0"/>
              <a:endParaRPr lang="en-US"/>
            </a:p>
          </p:txBody>
        </p:sp>
      </p:gr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0" y="419100"/>
            <a:ext cx="6934200" cy="438150"/>
          </a:xfrm>
        </p:spPr>
        <p:txBody>
          <a:bodyPr/>
          <a:lstStyle/>
          <a:p>
            <a:pPr eaLnBrk="1" hangingPunct="1"/>
            <a:r>
              <a:rPr lang="en-GB" dirty="0" smtClean="0"/>
              <a:t>Post Processing [FLUENT]</a:t>
            </a:r>
            <a:endParaRPr lang="en-US" dirty="0" smtClean="0"/>
          </a:p>
        </p:txBody>
      </p:sp>
      <p:sp>
        <p:nvSpPr>
          <p:cNvPr id="35843" name="Rectangle 3"/>
          <p:cNvSpPr>
            <a:spLocks noGrp="1" noChangeArrowheads="1"/>
          </p:cNvSpPr>
          <p:nvPr>
            <p:ph type="body" idx="4294967295"/>
          </p:nvPr>
        </p:nvSpPr>
        <p:spPr>
          <a:xfrm>
            <a:off x="0" y="935039"/>
            <a:ext cx="8782050" cy="830700"/>
          </a:xfrm>
        </p:spPr>
        <p:txBody>
          <a:bodyPr/>
          <a:lstStyle/>
          <a:p>
            <a:pPr algn="just" eaLnBrk="1" hangingPunct="1"/>
            <a:endParaRPr lang="en-GB" sz="1000" dirty="0" smtClean="0"/>
          </a:p>
          <a:p>
            <a:pPr algn="just" eaLnBrk="1" hangingPunct="1"/>
            <a:r>
              <a:rPr lang="en-GB" dirty="0" smtClean="0"/>
              <a:t>Plot contours of Velocity &gt; Mach Number and notice that the flow is now locally supersonic</a:t>
            </a:r>
            <a:endParaRPr lang="en-US" dirty="0" smtClean="0"/>
          </a:p>
        </p:txBody>
      </p:sp>
      <p:grpSp>
        <p:nvGrpSpPr>
          <p:cNvPr id="11" name="Group 10"/>
          <p:cNvGrpSpPr/>
          <p:nvPr/>
        </p:nvGrpSpPr>
        <p:grpSpPr>
          <a:xfrm>
            <a:off x="451946" y="1965433"/>
            <a:ext cx="8353757" cy="4083269"/>
            <a:chOff x="451946" y="1965433"/>
            <a:chExt cx="8353757" cy="4083269"/>
          </a:xfrm>
        </p:grpSpPr>
        <p:grpSp>
          <p:nvGrpSpPr>
            <p:cNvPr id="10" name="Group 9"/>
            <p:cNvGrpSpPr/>
            <p:nvPr/>
          </p:nvGrpSpPr>
          <p:grpSpPr>
            <a:xfrm>
              <a:off x="451946" y="2259720"/>
              <a:ext cx="2968953" cy="3090042"/>
              <a:chOff x="199697" y="2196659"/>
              <a:chExt cx="2968953" cy="3090042"/>
            </a:xfrm>
          </p:grpSpPr>
          <p:pic>
            <p:nvPicPr>
              <p:cNvPr id="26626" name="Picture 2"/>
              <p:cNvPicPr>
                <a:picLocks noChangeAspect="1" noChangeArrowheads="1"/>
              </p:cNvPicPr>
              <p:nvPr/>
            </p:nvPicPr>
            <p:blipFill>
              <a:blip r:embed="rId2" cstate="print"/>
              <a:srcRect l="28017" t="33405" r="42122" b="27263"/>
              <a:stretch>
                <a:fillRect/>
              </a:stretch>
            </p:blipFill>
            <p:spPr bwMode="auto">
              <a:xfrm>
                <a:off x="199697" y="2196659"/>
                <a:ext cx="2932386" cy="3090042"/>
              </a:xfrm>
              <a:prstGeom prst="rect">
                <a:avLst/>
              </a:prstGeom>
              <a:noFill/>
              <a:ln w="9525">
                <a:noFill/>
                <a:miter lim="800000"/>
                <a:headEnd/>
                <a:tailEnd/>
              </a:ln>
            </p:spPr>
          </p:pic>
          <p:sp>
            <p:nvSpPr>
              <p:cNvPr id="35846" name="Rectangle 5"/>
              <p:cNvSpPr>
                <a:spLocks noChangeArrowheads="1"/>
              </p:cNvSpPr>
              <p:nvPr/>
            </p:nvSpPr>
            <p:spPr bwMode="auto">
              <a:xfrm>
                <a:off x="1166813" y="2390775"/>
                <a:ext cx="2001837" cy="863600"/>
              </a:xfrm>
              <a:prstGeom prst="rect">
                <a:avLst/>
              </a:prstGeom>
              <a:noFill/>
              <a:ln w="28575" algn="ctr">
                <a:solidFill>
                  <a:srgbClr val="CC3300"/>
                </a:solidFill>
                <a:round/>
                <a:headEnd/>
                <a:tailEnd/>
              </a:ln>
            </p:spPr>
            <p:txBody>
              <a:bodyPr>
                <a:spAutoFit/>
              </a:bodyPr>
              <a:lstStyle/>
              <a:p>
                <a:pPr algn="ctr" eaLnBrk="0" hangingPunct="0"/>
                <a:endParaRPr lang="en-US"/>
              </a:p>
            </p:txBody>
          </p:sp>
          <p:sp>
            <p:nvSpPr>
              <p:cNvPr id="35847" name="Rounded Rectangle 6"/>
              <p:cNvSpPr>
                <a:spLocks noChangeArrowheads="1"/>
              </p:cNvSpPr>
              <p:nvPr/>
            </p:nvSpPr>
            <p:spPr bwMode="auto">
              <a:xfrm>
                <a:off x="2160588" y="3024188"/>
                <a:ext cx="511175" cy="136525"/>
              </a:xfrm>
              <a:prstGeom prst="roundRect">
                <a:avLst>
                  <a:gd name="adj" fmla="val 16667"/>
                </a:avLst>
              </a:prstGeom>
              <a:noFill/>
              <a:ln w="28575" algn="ctr">
                <a:solidFill>
                  <a:srgbClr val="CC3300"/>
                </a:solidFill>
                <a:round/>
                <a:headEnd/>
                <a:tailEnd/>
              </a:ln>
            </p:spPr>
            <p:txBody>
              <a:bodyPr>
                <a:spAutoFit/>
              </a:bodyPr>
              <a:lstStyle/>
              <a:p>
                <a:pPr algn="ctr" eaLnBrk="0" hangingPunct="0"/>
                <a:endParaRPr lang="en-US"/>
              </a:p>
            </p:txBody>
          </p:sp>
        </p:grpSp>
        <p:pic>
          <p:nvPicPr>
            <p:cNvPr id="8" name="Picture 7" descr="rae2822_medium.tif"/>
            <p:cNvPicPr>
              <a:picLocks noChangeAspect="1"/>
            </p:cNvPicPr>
            <p:nvPr/>
          </p:nvPicPr>
          <p:blipFill>
            <a:blip r:embed="rId3" cstate="print"/>
            <a:stretch>
              <a:fillRect/>
            </a:stretch>
          </p:blipFill>
          <p:spPr>
            <a:xfrm>
              <a:off x="3701617" y="1965433"/>
              <a:ext cx="5104086" cy="4083269"/>
            </a:xfrm>
            <a:prstGeom prst="rect">
              <a:avLst/>
            </a:prstGeom>
          </p:spPr>
        </p:pic>
      </p:grpSp>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0" y="419100"/>
            <a:ext cx="6934200" cy="438150"/>
          </a:xfrm>
        </p:spPr>
        <p:txBody>
          <a:bodyPr/>
          <a:lstStyle/>
          <a:p>
            <a:pPr eaLnBrk="1" hangingPunct="1"/>
            <a:r>
              <a:rPr lang="en-GB" dirty="0" smtClean="0"/>
              <a:t>Post Processing [FLUENT]</a:t>
            </a:r>
            <a:endParaRPr lang="en-US" dirty="0" smtClean="0"/>
          </a:p>
        </p:txBody>
      </p:sp>
      <p:sp>
        <p:nvSpPr>
          <p:cNvPr id="36867" name="Rectangle 3"/>
          <p:cNvSpPr>
            <a:spLocks noGrp="1" noChangeArrowheads="1"/>
          </p:cNvSpPr>
          <p:nvPr>
            <p:ph type="body" idx="4294967295"/>
          </p:nvPr>
        </p:nvSpPr>
        <p:spPr>
          <a:xfrm>
            <a:off x="0" y="935038"/>
            <a:ext cx="8782050" cy="5553075"/>
          </a:xfrm>
        </p:spPr>
        <p:txBody>
          <a:bodyPr/>
          <a:lstStyle/>
          <a:p>
            <a:pPr algn="just" eaLnBrk="1" hangingPunct="1"/>
            <a:r>
              <a:rPr lang="en-GB" dirty="0" smtClean="0"/>
              <a:t>Select ‘Plots’ in the LHS menu</a:t>
            </a:r>
          </a:p>
          <a:p>
            <a:pPr algn="just" eaLnBrk="1" hangingPunct="1"/>
            <a:r>
              <a:rPr lang="en-GB" dirty="0" smtClean="0"/>
              <a:t>Plot Pressure Coefficient along the airfoil surface</a:t>
            </a:r>
          </a:p>
          <a:p>
            <a:pPr algn="just" eaLnBrk="1" hangingPunct="1"/>
            <a:endParaRPr lang="en-GB" dirty="0" smtClean="0"/>
          </a:p>
          <a:p>
            <a:pPr algn="just" eaLnBrk="1" hangingPunct="1"/>
            <a:endParaRPr lang="en-US" dirty="0" smtClean="0"/>
          </a:p>
        </p:txBody>
      </p:sp>
      <p:grpSp>
        <p:nvGrpSpPr>
          <p:cNvPr id="24" name="Group 23"/>
          <p:cNvGrpSpPr/>
          <p:nvPr/>
        </p:nvGrpSpPr>
        <p:grpSpPr>
          <a:xfrm>
            <a:off x="943884" y="1732548"/>
            <a:ext cx="7694788" cy="4764506"/>
            <a:chOff x="943884" y="1696452"/>
            <a:chExt cx="7694788" cy="4764506"/>
          </a:xfrm>
        </p:grpSpPr>
        <p:pic>
          <p:nvPicPr>
            <p:cNvPr id="28674" name="Picture 2"/>
            <p:cNvPicPr>
              <a:picLocks noChangeAspect="1" noChangeArrowheads="1"/>
            </p:cNvPicPr>
            <p:nvPr/>
          </p:nvPicPr>
          <p:blipFill>
            <a:blip r:embed="rId2" cstate="print"/>
            <a:srcRect l="3947" b="25657"/>
            <a:stretch>
              <a:fillRect/>
            </a:stretch>
          </p:blipFill>
          <p:spPr bwMode="auto">
            <a:xfrm>
              <a:off x="943884" y="1696452"/>
              <a:ext cx="7694788" cy="4764506"/>
            </a:xfrm>
            <a:prstGeom prst="rect">
              <a:avLst/>
            </a:prstGeom>
            <a:noFill/>
            <a:ln w="9525">
              <a:noFill/>
              <a:miter lim="800000"/>
              <a:headEnd/>
              <a:tailEnd/>
            </a:ln>
          </p:spPr>
        </p:pic>
        <p:sp>
          <p:nvSpPr>
            <p:cNvPr id="18" name="Rectangle 17"/>
            <p:cNvSpPr/>
            <p:nvPr/>
          </p:nvSpPr>
          <p:spPr bwMode="auto">
            <a:xfrm>
              <a:off x="962526" y="4102769"/>
              <a:ext cx="409074" cy="168442"/>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sp>
          <p:nvSpPr>
            <p:cNvPr id="19" name="Rectangle 18"/>
            <p:cNvSpPr/>
            <p:nvPr/>
          </p:nvSpPr>
          <p:spPr bwMode="auto">
            <a:xfrm>
              <a:off x="1840832" y="2430379"/>
              <a:ext cx="830179" cy="180474"/>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sp>
          <p:nvSpPr>
            <p:cNvPr id="20" name="Rectangle 19"/>
            <p:cNvSpPr/>
            <p:nvPr/>
          </p:nvSpPr>
          <p:spPr bwMode="auto">
            <a:xfrm>
              <a:off x="1864895" y="3958389"/>
              <a:ext cx="493294" cy="276727"/>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sp>
          <p:nvSpPr>
            <p:cNvPr id="22" name="Rectangle 21"/>
            <p:cNvSpPr/>
            <p:nvPr/>
          </p:nvSpPr>
          <p:spPr bwMode="auto">
            <a:xfrm>
              <a:off x="2875547" y="4391526"/>
              <a:ext cx="1756611" cy="902369"/>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sp>
          <p:nvSpPr>
            <p:cNvPr id="23" name="Rectangle 22"/>
            <p:cNvSpPr/>
            <p:nvPr/>
          </p:nvSpPr>
          <p:spPr bwMode="auto">
            <a:xfrm>
              <a:off x="1973179" y="6124074"/>
              <a:ext cx="469232" cy="192505"/>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Tree>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0" y="419100"/>
            <a:ext cx="6934200" cy="438150"/>
          </a:xfrm>
        </p:spPr>
        <p:txBody>
          <a:bodyPr/>
          <a:lstStyle/>
          <a:p>
            <a:pPr eaLnBrk="1" hangingPunct="1"/>
            <a:r>
              <a:rPr lang="en-GB" dirty="0" smtClean="0"/>
              <a:t>Post Processing [FLUENT]</a:t>
            </a:r>
            <a:endParaRPr lang="en-US" dirty="0" smtClean="0"/>
          </a:p>
        </p:txBody>
      </p:sp>
      <p:sp>
        <p:nvSpPr>
          <p:cNvPr id="38915" name="Rectangle 3"/>
          <p:cNvSpPr>
            <a:spLocks noGrp="1" noChangeArrowheads="1"/>
          </p:cNvSpPr>
          <p:nvPr>
            <p:ph type="body" idx="4294967295"/>
          </p:nvPr>
        </p:nvSpPr>
        <p:spPr>
          <a:xfrm>
            <a:off x="317241" y="897716"/>
            <a:ext cx="7455159" cy="5553075"/>
          </a:xfrm>
        </p:spPr>
        <p:txBody>
          <a:bodyPr/>
          <a:lstStyle/>
          <a:p>
            <a:pPr algn="just" eaLnBrk="1" hangingPunct="1"/>
            <a:endParaRPr lang="en-GB" sz="500" dirty="0" smtClean="0"/>
          </a:p>
          <a:p>
            <a:pPr algn="just" eaLnBrk="1" hangingPunct="1"/>
            <a:r>
              <a:rPr lang="en-GB" dirty="0" smtClean="0"/>
              <a:t>Once loaded, plot the CFD and experimental Cp (</a:t>
            </a:r>
            <a:r>
              <a:rPr lang="en-GB" dirty="0" err="1" smtClean="0"/>
              <a:t>experiment.xy</a:t>
            </a:r>
            <a:r>
              <a:rPr lang="en-GB" dirty="0" smtClean="0"/>
              <a:t>) plots together</a:t>
            </a:r>
          </a:p>
          <a:p>
            <a:pPr lvl="1" algn="just" eaLnBrk="1" hangingPunct="1"/>
            <a:r>
              <a:rPr lang="en-GB" sz="1600" b="0" dirty="0" smtClean="0">
                <a:solidFill>
                  <a:schemeClr val="accent6"/>
                </a:solidFill>
              </a:rPr>
              <a:t>A good agreement can be seen</a:t>
            </a:r>
            <a:endParaRPr lang="en-US" sz="1600" b="0" dirty="0" smtClean="0">
              <a:solidFill>
                <a:schemeClr val="accent6"/>
              </a:solidFill>
            </a:endParaRPr>
          </a:p>
        </p:txBody>
      </p:sp>
      <p:grpSp>
        <p:nvGrpSpPr>
          <p:cNvPr id="13" name="Group 12"/>
          <p:cNvGrpSpPr/>
          <p:nvPr/>
        </p:nvGrpSpPr>
        <p:grpSpPr>
          <a:xfrm>
            <a:off x="324853" y="2021304"/>
            <a:ext cx="8578516" cy="4415599"/>
            <a:chOff x="324853" y="2021304"/>
            <a:chExt cx="8578516" cy="4415599"/>
          </a:xfrm>
        </p:grpSpPr>
        <p:grpSp>
          <p:nvGrpSpPr>
            <p:cNvPr id="11" name="Group 10"/>
            <p:cNvGrpSpPr/>
            <p:nvPr/>
          </p:nvGrpSpPr>
          <p:grpSpPr>
            <a:xfrm>
              <a:off x="324853" y="2021304"/>
              <a:ext cx="8578516" cy="4415599"/>
              <a:chOff x="192505" y="1925061"/>
              <a:chExt cx="8795085" cy="4596064"/>
            </a:xfrm>
          </p:grpSpPr>
          <p:pic>
            <p:nvPicPr>
              <p:cNvPr id="27650" name="Picture 2"/>
              <p:cNvPicPr>
                <a:picLocks noChangeAspect="1" noChangeArrowheads="1"/>
              </p:cNvPicPr>
              <p:nvPr/>
            </p:nvPicPr>
            <p:blipFill>
              <a:blip r:embed="rId2" cstate="print"/>
              <a:srcRect l="4319" b="37500"/>
              <a:stretch>
                <a:fillRect/>
              </a:stretch>
            </p:blipFill>
            <p:spPr bwMode="auto">
              <a:xfrm>
                <a:off x="192505" y="1925061"/>
                <a:ext cx="8795085" cy="4596064"/>
              </a:xfrm>
              <a:prstGeom prst="rect">
                <a:avLst/>
              </a:prstGeom>
              <a:noFill/>
              <a:ln w="9525">
                <a:noFill/>
                <a:miter lim="800000"/>
                <a:headEnd/>
                <a:tailEnd/>
              </a:ln>
            </p:spPr>
          </p:pic>
          <p:sp>
            <p:nvSpPr>
              <p:cNvPr id="10" name="Rectangle 9"/>
              <p:cNvSpPr/>
              <p:nvPr/>
            </p:nvSpPr>
            <p:spPr bwMode="auto">
              <a:xfrm>
                <a:off x="1973179" y="5342027"/>
                <a:ext cx="577516" cy="240632"/>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
          <p:nvSpPr>
            <p:cNvPr id="12" name="Rectangle 11"/>
            <p:cNvSpPr/>
            <p:nvPr/>
          </p:nvSpPr>
          <p:spPr bwMode="auto">
            <a:xfrm>
              <a:off x="360947" y="4680284"/>
              <a:ext cx="360948" cy="192505"/>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Tree>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title"/>
          </p:nvPr>
        </p:nvSpPr>
        <p:spPr/>
        <p:txBody>
          <a:bodyPr/>
          <a:lstStyle/>
          <a:p>
            <a:pPr eaLnBrk="1" hangingPunct="1"/>
            <a:r>
              <a:rPr lang="en-GB" dirty="0" smtClean="0"/>
              <a:t>Post Processing [FLUENT]</a:t>
            </a:r>
            <a:endParaRPr lang="en-US" dirty="0" smtClean="0"/>
          </a:p>
        </p:txBody>
      </p:sp>
      <p:sp>
        <p:nvSpPr>
          <p:cNvPr id="40963" name="Rectangle 8"/>
          <p:cNvSpPr>
            <a:spLocks noGrp="1" noChangeArrowheads="1"/>
          </p:cNvSpPr>
          <p:nvPr>
            <p:ph idx="1"/>
          </p:nvPr>
        </p:nvSpPr>
        <p:spPr/>
        <p:txBody>
          <a:bodyPr/>
          <a:lstStyle/>
          <a:p>
            <a:pPr eaLnBrk="1" hangingPunct="1"/>
            <a:endParaRPr lang="en-GB" sz="1000" dirty="0" smtClean="0"/>
          </a:p>
          <a:p>
            <a:pPr eaLnBrk="1" hangingPunct="1"/>
            <a:r>
              <a:rPr lang="en-GB" dirty="0" smtClean="0"/>
              <a:t>Compare the predicted C</a:t>
            </a:r>
            <a:r>
              <a:rPr lang="en-GB" baseline="-25000" dirty="0" smtClean="0"/>
              <a:t>L</a:t>
            </a:r>
            <a:r>
              <a:rPr lang="en-GB" dirty="0" smtClean="0"/>
              <a:t> and C</a:t>
            </a:r>
            <a:r>
              <a:rPr lang="en-GB" baseline="-25000" dirty="0" smtClean="0"/>
              <a:t>D</a:t>
            </a:r>
            <a:r>
              <a:rPr lang="en-GB" dirty="0" smtClean="0"/>
              <a:t> against the experimental values.</a:t>
            </a:r>
          </a:p>
          <a:p>
            <a:pPr eaLnBrk="1" hangingPunct="1"/>
            <a:endParaRPr lang="en-GB" sz="1000" dirty="0" smtClean="0"/>
          </a:p>
          <a:p>
            <a:pPr eaLnBrk="1" hangingPunct="1"/>
            <a:r>
              <a:rPr lang="en-GB" dirty="0" smtClean="0"/>
              <a:t>From Reference</a:t>
            </a:r>
          </a:p>
          <a:p>
            <a:pPr lvl="1" eaLnBrk="1" hangingPunct="1"/>
            <a:r>
              <a:rPr lang="en-GB" b="0" dirty="0" smtClean="0"/>
              <a:t>C</a:t>
            </a:r>
            <a:r>
              <a:rPr lang="en-GB" b="0" baseline="-25000" dirty="0" smtClean="0"/>
              <a:t>L </a:t>
            </a:r>
            <a:r>
              <a:rPr lang="en-GB" sz="1800" b="0" dirty="0" smtClean="0"/>
              <a:t>= 0.733 and </a:t>
            </a:r>
            <a:r>
              <a:rPr lang="en-GB" b="0" dirty="0" smtClean="0"/>
              <a:t>C</a:t>
            </a:r>
            <a:r>
              <a:rPr lang="en-GB" b="0" baseline="-25000" dirty="0" smtClean="0"/>
              <a:t>D </a:t>
            </a:r>
            <a:r>
              <a:rPr lang="en-GB" sz="1800" b="0" dirty="0" smtClean="0"/>
              <a:t>= 0.018</a:t>
            </a:r>
            <a:endParaRPr lang="en-GB" b="0" dirty="0" smtClean="0"/>
          </a:p>
          <a:p>
            <a:pPr eaLnBrk="1" hangingPunct="1"/>
            <a:r>
              <a:rPr lang="en-GB" dirty="0" smtClean="0"/>
              <a:t>From the console window, we have predicted</a:t>
            </a:r>
          </a:p>
          <a:p>
            <a:pPr lvl="1" eaLnBrk="1" hangingPunct="1"/>
            <a:r>
              <a:rPr lang="en-GB" b="0" dirty="0" smtClean="0"/>
              <a:t>C</a:t>
            </a:r>
            <a:r>
              <a:rPr lang="en-GB" b="0" baseline="-25000" dirty="0" smtClean="0"/>
              <a:t>L</a:t>
            </a:r>
            <a:r>
              <a:rPr lang="en-GB" sz="1800" b="0" dirty="0" smtClean="0"/>
              <a:t> = 0.746 and </a:t>
            </a:r>
            <a:r>
              <a:rPr lang="en-GB" b="0" dirty="0" smtClean="0"/>
              <a:t>C</a:t>
            </a:r>
            <a:r>
              <a:rPr lang="en-GB" b="0" baseline="-25000" dirty="0" smtClean="0"/>
              <a:t>D </a:t>
            </a:r>
            <a:r>
              <a:rPr lang="en-GB" sz="1800" b="0" dirty="0" smtClean="0"/>
              <a:t>= 0.0287</a:t>
            </a:r>
          </a:p>
          <a:p>
            <a:pPr lvl="1" eaLnBrk="1" hangingPunct="1"/>
            <a:endParaRPr lang="en-GB" sz="1800" dirty="0" smtClean="0"/>
          </a:p>
          <a:p>
            <a:pPr lvl="1" eaLnBrk="1" hangingPunct="1"/>
            <a:endParaRPr lang="en-GB" sz="1800" dirty="0" smtClean="0"/>
          </a:p>
          <a:p>
            <a:pPr lvl="1" eaLnBrk="1" hangingPunct="1">
              <a:buNone/>
            </a:pPr>
            <a:endParaRPr lang="en-GB" sz="1800" dirty="0" smtClean="0"/>
          </a:p>
          <a:p>
            <a:pPr lvl="1" eaLnBrk="1" hangingPunct="1">
              <a:buNone/>
            </a:pPr>
            <a:endParaRPr lang="en-GB" sz="1800" dirty="0" smtClean="0"/>
          </a:p>
          <a:p>
            <a:pPr lvl="1" eaLnBrk="1" hangingPunct="1">
              <a:buNone/>
            </a:pPr>
            <a:endParaRPr lang="en-GB" sz="1800" dirty="0" smtClean="0"/>
          </a:p>
          <a:p>
            <a:pPr lvl="1" eaLnBrk="1" hangingPunct="1">
              <a:buNone/>
            </a:pPr>
            <a:endParaRPr lang="en-GB" sz="1800" dirty="0" smtClean="0"/>
          </a:p>
          <a:p>
            <a:pPr lvl="1" eaLnBrk="1" hangingPunct="1">
              <a:buNone/>
            </a:pPr>
            <a:endParaRPr lang="en-GB" sz="1800" dirty="0" smtClean="0"/>
          </a:p>
          <a:p>
            <a:pPr lvl="1" eaLnBrk="1" hangingPunct="1"/>
            <a:endParaRPr lang="en-GB" dirty="0" smtClean="0"/>
          </a:p>
          <a:p>
            <a:pPr lvl="1" eaLnBrk="1" hangingPunct="1"/>
            <a:r>
              <a:rPr lang="de-DE" sz="1800" dirty="0" err="1" smtClean="0"/>
              <a:t>Reason</a:t>
            </a:r>
            <a:r>
              <a:rPr lang="de-DE" sz="1800" dirty="0" smtClean="0"/>
              <a:t> </a:t>
            </a:r>
            <a:r>
              <a:rPr lang="de-DE" sz="1800" dirty="0" err="1" smtClean="0"/>
              <a:t>for</a:t>
            </a:r>
            <a:r>
              <a:rPr lang="de-DE" sz="1800" dirty="0" smtClean="0"/>
              <a:t> </a:t>
            </a:r>
            <a:r>
              <a:rPr lang="de-DE" sz="1800" dirty="0" err="1" smtClean="0"/>
              <a:t>Difference</a:t>
            </a:r>
            <a:r>
              <a:rPr lang="de-DE" sz="1800" dirty="0" smtClean="0"/>
              <a:t>?</a:t>
            </a:r>
          </a:p>
          <a:p>
            <a:pPr lvl="2" eaLnBrk="1" hangingPunct="1"/>
            <a:r>
              <a:rPr lang="de-DE" sz="1600" b="0" dirty="0" smtClean="0"/>
              <a:t>Wall </a:t>
            </a:r>
            <a:r>
              <a:rPr lang="de-DE" sz="1600" b="0" dirty="0" err="1" smtClean="0"/>
              <a:t>interference</a:t>
            </a:r>
            <a:r>
              <a:rPr lang="de-DE" sz="1600" b="0" dirty="0" smtClean="0"/>
              <a:t> &gt; </a:t>
            </a:r>
            <a:r>
              <a:rPr lang="de-DE" sz="1600" b="0" dirty="0" err="1" smtClean="0"/>
              <a:t>effective</a:t>
            </a:r>
            <a:r>
              <a:rPr lang="de-DE" sz="1600" b="0" dirty="0" smtClean="0"/>
              <a:t> angel </a:t>
            </a:r>
            <a:r>
              <a:rPr lang="de-DE" sz="1600" b="0" dirty="0" err="1" smtClean="0"/>
              <a:t>of</a:t>
            </a:r>
            <a:r>
              <a:rPr lang="de-DE" sz="1600" b="0" dirty="0" smtClean="0"/>
              <a:t> </a:t>
            </a:r>
            <a:r>
              <a:rPr lang="de-DE" sz="1600" b="0" dirty="0" err="1" smtClean="0"/>
              <a:t>attack</a:t>
            </a:r>
            <a:r>
              <a:rPr lang="de-DE" sz="1600" b="0" dirty="0" smtClean="0"/>
              <a:t> 2.82° </a:t>
            </a:r>
            <a:endParaRPr lang="en-US" sz="1600" b="0" dirty="0" smtClean="0"/>
          </a:p>
          <a:p>
            <a:pPr lvl="1" eaLnBrk="1" hangingPunct="1">
              <a:buNone/>
            </a:pPr>
            <a:endParaRPr lang="en-GB" dirty="0" smtClean="0"/>
          </a:p>
        </p:txBody>
      </p:sp>
      <p:grpSp>
        <p:nvGrpSpPr>
          <p:cNvPr id="8" name="Group 7"/>
          <p:cNvGrpSpPr/>
          <p:nvPr/>
        </p:nvGrpSpPr>
        <p:grpSpPr>
          <a:xfrm>
            <a:off x="465190" y="3128211"/>
            <a:ext cx="8138138" cy="2562726"/>
            <a:chOff x="537380" y="3441032"/>
            <a:chExt cx="8138138" cy="2562726"/>
          </a:xfrm>
        </p:grpSpPr>
        <p:pic>
          <p:nvPicPr>
            <p:cNvPr id="6" name="Picture 2"/>
            <p:cNvPicPr>
              <a:picLocks noChangeAspect="1" noChangeArrowheads="1"/>
            </p:cNvPicPr>
            <p:nvPr/>
          </p:nvPicPr>
          <p:blipFill>
            <a:blip r:embed="rId2" cstate="print"/>
            <a:srcRect l="34231" t="53653" r="7036" b="16755"/>
            <a:stretch>
              <a:fillRect/>
            </a:stretch>
          </p:blipFill>
          <p:spPr bwMode="auto">
            <a:xfrm>
              <a:off x="537380" y="3441032"/>
              <a:ext cx="8138138" cy="2562726"/>
            </a:xfrm>
            <a:prstGeom prst="rect">
              <a:avLst/>
            </a:prstGeom>
            <a:noFill/>
            <a:ln w="9525">
              <a:noFill/>
              <a:miter lim="800000"/>
              <a:headEnd/>
              <a:tailEnd/>
            </a:ln>
          </p:spPr>
        </p:pic>
        <p:sp>
          <p:nvSpPr>
            <p:cNvPr id="7" name="Rectangle 6"/>
            <p:cNvSpPr/>
            <p:nvPr/>
          </p:nvSpPr>
          <p:spPr bwMode="auto">
            <a:xfrm>
              <a:off x="6112042" y="5101389"/>
              <a:ext cx="1479884" cy="878306"/>
            </a:xfrm>
            <a:prstGeom prst="rect">
              <a:avLst/>
            </a:prstGeom>
            <a:noFill/>
            <a:ln w="28575" cap="flat" cmpd="sng" algn="ctr">
              <a:solidFill>
                <a:srgbClr val="CC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800" b="1" i="0" u="none" strike="noStrike" cap="none" normalizeH="0" baseline="0" smtClean="0">
                <a:ln>
                  <a:noFill/>
                </a:ln>
                <a:solidFill>
                  <a:schemeClr val="tx1"/>
                </a:solidFill>
                <a:effectLst/>
                <a:latin typeface="Arial" charset="0"/>
              </a:endParaRPr>
            </a:p>
          </p:txBody>
        </p:sp>
      </p:gr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Template_Fluent_Intro_12.0_Workshop_002601">
  <a:themeElements>
    <a:clrScheme name="Custom 17">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0066FF"/>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CC3300"/>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Arial" charset="0"/>
          </a:defRPr>
        </a:defPPr>
      </a:lstStyle>
    </a:spDef>
    <a:lnDef>
      <a:spPr bwMode="auto">
        <a:noFill/>
        <a:ln w="28575" cap="flat" cmpd="sng" algn="ctr">
          <a:solidFill>
            <a:srgbClr val="CC0000"/>
          </a:solidFill>
          <a:prstDash val="solid"/>
          <a:round/>
          <a:headEnd type="none" w="med" len="med"/>
          <a:tailEnd type="arrow"/>
        </a:ln>
        <a:effectLst/>
      </a:spPr>
      <a:body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Template_Fluent_Intro_12.0_Workshop_002601</Template>
  <TotalTime>0</TotalTime>
  <Words>2347</Words>
  <Application>Microsoft Office PowerPoint</Application>
  <PresentationFormat>Экран (4:3)</PresentationFormat>
  <Paragraphs>420</Paragraphs>
  <Slides>47</Slides>
  <Notes>2</Notes>
  <HiddenSlides>0</HiddenSlides>
  <MMClips>0</MMClips>
  <ScaleCrop>false</ScaleCrop>
  <HeadingPairs>
    <vt:vector size="8" baseType="variant">
      <vt:variant>
        <vt:lpstr>Использованные шрифты</vt:lpstr>
      </vt:variant>
      <vt:variant>
        <vt:i4>3</vt:i4>
      </vt:variant>
      <vt:variant>
        <vt:lpstr>Тема</vt:lpstr>
      </vt:variant>
      <vt:variant>
        <vt:i4>1</vt:i4>
      </vt:variant>
      <vt:variant>
        <vt:lpstr>Внедренные серверы OLE</vt:lpstr>
      </vt:variant>
      <vt:variant>
        <vt:i4>1</vt:i4>
      </vt:variant>
      <vt:variant>
        <vt:lpstr>Заголовки слайдов</vt:lpstr>
      </vt:variant>
      <vt:variant>
        <vt:i4>47</vt:i4>
      </vt:variant>
    </vt:vector>
  </HeadingPairs>
  <TitlesOfParts>
    <vt:vector size="52" baseType="lpstr">
      <vt:lpstr>Arial</vt:lpstr>
      <vt:lpstr>Symbol</vt:lpstr>
      <vt:lpstr>Times New Roman</vt:lpstr>
      <vt:lpstr>Template_Fluent_Intro_12.0_Workshop_002601</vt:lpstr>
      <vt:lpstr>Equation</vt:lpstr>
      <vt:lpstr>Workshop XX  Transonic Flow over a  RAE 2822 Airfoil</vt:lpstr>
      <vt:lpstr>Goals</vt:lpstr>
      <vt:lpstr>Task Description</vt:lpstr>
      <vt:lpstr>Start FLUENT Stand-alone</vt:lpstr>
      <vt:lpstr>Start FLUENT Stand-alone</vt:lpstr>
      <vt:lpstr>Import the mesh</vt:lpstr>
      <vt:lpstr>Mesh</vt:lpstr>
      <vt:lpstr>Mesh (2)</vt:lpstr>
      <vt:lpstr>Mesh (3)</vt:lpstr>
      <vt:lpstr>Solver</vt:lpstr>
      <vt:lpstr>Materials</vt:lpstr>
      <vt:lpstr>Operating Conditions</vt:lpstr>
      <vt:lpstr>Boundary Conditions - inlet</vt:lpstr>
      <vt:lpstr>Boundary Conditions - inlet</vt:lpstr>
      <vt:lpstr>Boundary Conditions - inlet</vt:lpstr>
      <vt:lpstr>Boundary Conditions – airfoil &amp; symmetry</vt:lpstr>
      <vt:lpstr>Reference Values</vt:lpstr>
      <vt:lpstr>Solution Methods</vt:lpstr>
      <vt:lpstr>Solution Methods</vt:lpstr>
      <vt:lpstr>Solution Controls</vt:lpstr>
      <vt:lpstr>Solution Monitors - Residuals</vt:lpstr>
      <vt:lpstr>Solution Monitors – Drag &amp; Lift</vt:lpstr>
      <vt:lpstr>Solution Initialization</vt:lpstr>
      <vt:lpstr>Solution Steering</vt:lpstr>
      <vt:lpstr>Case Check</vt:lpstr>
      <vt:lpstr>Save the Case File</vt:lpstr>
      <vt:lpstr>Run Calculation – FMG Initialization (1)</vt:lpstr>
      <vt:lpstr>Run Calculation – FMG Initialization (2)</vt:lpstr>
      <vt:lpstr>Run Calculation (1) </vt:lpstr>
      <vt:lpstr>Run Calculation (2)</vt:lpstr>
      <vt:lpstr>Save the Case&amp;Data Files</vt:lpstr>
      <vt:lpstr>Post Processing – Data Export</vt:lpstr>
      <vt:lpstr>CFD-Post</vt:lpstr>
      <vt:lpstr>CDF-Post</vt:lpstr>
      <vt:lpstr>CFD-Post</vt:lpstr>
      <vt:lpstr>CFD-Post</vt:lpstr>
      <vt:lpstr>CFD-Post</vt:lpstr>
      <vt:lpstr>CFD-Post</vt:lpstr>
      <vt:lpstr>CFD-Post</vt:lpstr>
      <vt:lpstr>Summary </vt:lpstr>
      <vt:lpstr>References</vt:lpstr>
      <vt:lpstr>Appendix: Post-Processing FLUENT</vt:lpstr>
      <vt:lpstr>Post Processing [FLUENT]</vt:lpstr>
      <vt:lpstr>Post Processing [FLUENT]</vt:lpstr>
      <vt:lpstr>Post Processing [FLUENT]</vt:lpstr>
      <vt:lpstr>Post Processing [FLUENT]</vt:lpstr>
      <vt:lpstr>Post Processing [FLUENT]</vt:lpstr>
    </vt:vector>
  </TitlesOfParts>
  <Company>ANSYS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dc:title>
  <dc:subject>NACA 0012 Airfoil</dc:subject>
  <dc:creator>Jeremy Edwards</dc:creator>
  <cp:lastModifiedBy>1</cp:lastModifiedBy>
  <cp:revision>719</cp:revision>
  <dcterms:created xsi:type="dcterms:W3CDTF">2009-03-02T14:41:56Z</dcterms:created>
  <dcterms:modified xsi:type="dcterms:W3CDTF">2024-02-20T19:56:53Z</dcterms:modified>
</cp:coreProperties>
</file>